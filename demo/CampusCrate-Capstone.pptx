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f009cf0a6e4000" /><Relationship Type="http://schemas.openxmlformats.org/officeDocument/2006/relationships/extended-properties" Target="/docProps/app.xml" Id="Ref7a850c5d1b49d4" /><Relationship Type="http://schemas.openxmlformats.org/officeDocument/2006/relationships/officeDocument" Target="/ppt/presentation.xml" Id="R9ce01b4a23554172" /></Relationships>
</file>

<file path=ppt/presentation.xml><?xml version="1.0" encoding="utf-8"?>
<p:presentation xmlns:p="http://schemas.openxmlformats.org/presentationml/2006/main">
  <p:sldMasterIdLst>
    <p:sldMasterId xmlns:r="http://schemas.openxmlformats.org/officeDocument/2006/relationships" id="2147483648" r:id="Rd8b1d69d1a814974"/>
  </p:sldMasterIdLst>
  <p:notesMasterIdLst>
    <p:notesMasterId xmlns:r="http://schemas.openxmlformats.org/officeDocument/2006/relationships" r:id="Ra3047d2c46a84ac4"/>
  </p:notesMasterIdLst>
  <p:sldIdLst>
    <p:sldId xmlns:r="http://schemas.openxmlformats.org/officeDocument/2006/relationships" id="256" r:id="Rb1b3b81ff8e04d2d"/>
    <p:sldId xmlns:r="http://schemas.openxmlformats.org/officeDocument/2006/relationships" id="257" r:id="R939e059a58c247a0"/>
    <p:sldId xmlns:r="http://schemas.openxmlformats.org/officeDocument/2006/relationships" id="258" r:id="Rabc4f3853cd84fa3"/>
    <p:sldId xmlns:r="http://schemas.openxmlformats.org/officeDocument/2006/relationships" id="259" r:id="R0150d9e63faa4461"/>
    <p:sldId xmlns:r="http://schemas.openxmlformats.org/officeDocument/2006/relationships" id="260" r:id="Rb4d7a264381a43f5"/>
    <p:sldId xmlns:r="http://schemas.openxmlformats.org/officeDocument/2006/relationships" id="261" r:id="R1d74c883545c490e"/>
    <p:sldId xmlns:r="http://schemas.openxmlformats.org/officeDocument/2006/relationships" id="262" r:id="Rdf72078765ea4a7e"/>
    <p:sldId xmlns:r="http://schemas.openxmlformats.org/officeDocument/2006/relationships" id="263" r:id="R9f326fe5f6814d53"/>
    <p:sldId xmlns:r="http://schemas.openxmlformats.org/officeDocument/2006/relationships" id="264" r:id="Rd790801675634b52"/>
    <p:sldId xmlns:r="http://schemas.openxmlformats.org/officeDocument/2006/relationships" id="265" r:id="Ra3ca6a4f62934a10"/>
    <p:sldId xmlns:r="http://schemas.openxmlformats.org/officeDocument/2006/relationships" id="266" r:id="Rd3f15e28103d48ee"/>
    <p:sldId xmlns:r="http://schemas.openxmlformats.org/officeDocument/2006/relationships" id="267" r:id="Rbd8b262b79414b97"/>
    <p:sldId xmlns:r="http://schemas.openxmlformats.org/officeDocument/2006/relationships" id="268" r:id="R83b2561d2ffa4ed7"/>
    <p:sldId xmlns:r="http://schemas.openxmlformats.org/officeDocument/2006/relationships" id="269" r:id="R289e2102b1ac4aa4"/>
    <p:sldId xmlns:r="http://schemas.openxmlformats.org/officeDocument/2006/relationships" id="270" r:id="Rc3c7de0a2b344f66"/>
    <p:sldId xmlns:r="http://schemas.openxmlformats.org/officeDocument/2006/relationships" id="271" r:id="R19d5f4d27ed041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89d6aa60e34716" /><Relationship Type="http://schemas.openxmlformats.org/officeDocument/2006/relationships/slideMaster" Target="/ppt/slideMasters/slideMaster1.xml" Id="Rd8b1d69d1a814974" /><Relationship Type="http://schemas.openxmlformats.org/officeDocument/2006/relationships/notesMaster" Target="/ppt/notesMasters/notesMaster1.xml" Id="Ra3047d2c46a84ac4" /><Relationship Type="http://schemas.openxmlformats.org/officeDocument/2006/relationships/presProps" Target="/ppt/presProps.xml" Id="Re5588b77d2bf4f56" /><Relationship Type="http://schemas.openxmlformats.org/officeDocument/2006/relationships/tableStyles" Target="/ppt/tableStyles.xml" Id="R5295917edb8346ac" /><Relationship Type="http://schemas.openxmlformats.org/officeDocument/2006/relationships/slide" Target="/ppt/slides/slide1.xml" Id="Rb1b3b81ff8e04d2d" /><Relationship Type="http://schemas.openxmlformats.org/officeDocument/2006/relationships/slide" Target="/ppt/slides/slide2.xml" Id="R939e059a58c247a0" /><Relationship Type="http://schemas.openxmlformats.org/officeDocument/2006/relationships/slide" Target="/ppt/slides/slide3.xml" Id="Rabc4f3853cd84fa3" /><Relationship Type="http://schemas.openxmlformats.org/officeDocument/2006/relationships/slide" Target="/ppt/slides/slide4.xml" Id="R0150d9e63faa4461" /><Relationship Type="http://schemas.openxmlformats.org/officeDocument/2006/relationships/slide" Target="/ppt/slides/slide5.xml" Id="Rb4d7a264381a43f5" /><Relationship Type="http://schemas.openxmlformats.org/officeDocument/2006/relationships/slide" Target="/ppt/slides/slide6.xml" Id="R1d74c883545c490e" /><Relationship Type="http://schemas.openxmlformats.org/officeDocument/2006/relationships/slide" Target="/ppt/slides/slide7.xml" Id="Rdf72078765ea4a7e" /><Relationship Type="http://schemas.openxmlformats.org/officeDocument/2006/relationships/slide" Target="/ppt/slides/slide8.xml" Id="R9f326fe5f6814d53" /><Relationship Type="http://schemas.openxmlformats.org/officeDocument/2006/relationships/slide" Target="/ppt/slides/slide9.xml" Id="Rd790801675634b52" /><Relationship Type="http://schemas.openxmlformats.org/officeDocument/2006/relationships/slide" Target="/ppt/slides/slide10.xml" Id="Ra3ca6a4f62934a10" /><Relationship Type="http://schemas.openxmlformats.org/officeDocument/2006/relationships/slide" Target="/ppt/slides/slide11.xml" Id="Rd3f15e28103d48ee" /><Relationship Type="http://schemas.openxmlformats.org/officeDocument/2006/relationships/slide" Target="/ppt/slides/slide12.xml" Id="Rbd8b262b79414b97" /><Relationship Type="http://schemas.openxmlformats.org/officeDocument/2006/relationships/slide" Target="/ppt/slides/slide13.xml" Id="R83b2561d2ffa4ed7" /><Relationship Type="http://schemas.openxmlformats.org/officeDocument/2006/relationships/slide" Target="/ppt/slides/slide14.xml" Id="R289e2102b1ac4aa4" /><Relationship Type="http://schemas.openxmlformats.org/officeDocument/2006/relationships/slide" Target="/ppt/slides/slide15.xml" Id="Rc3c7de0a2b344f66" /><Relationship Type="http://schemas.openxmlformats.org/officeDocument/2006/relationships/slide" Target="/ppt/slides/slide16.xml" Id="R19d5f4d27ed041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61ed9e5f754d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b43d56c63842fb" /><Relationship Type="http://schemas.openxmlformats.org/officeDocument/2006/relationships/notesMaster" Target="/ppt/notesMasters/notesMaster1.xml" Id="Rac0132c338654d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9dcd126b744db1" /><Relationship Type="http://schemas.openxmlformats.org/officeDocument/2006/relationships/notesMaster" Target="/ppt/notesMasters/notesMaster1.xml" Id="R9961cc0ec19342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ccdab238344296" /><Relationship Type="http://schemas.openxmlformats.org/officeDocument/2006/relationships/notesMaster" Target="/ppt/notesMasters/notesMaster1.xml" Id="R845619f2fd4e4f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054158c56b4b2e" /><Relationship Type="http://schemas.openxmlformats.org/officeDocument/2006/relationships/notesMaster" Target="/ppt/notesMasters/notesMaster1.xml" Id="Rcd15bf36208f44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992d873d644941" /><Relationship Type="http://schemas.openxmlformats.org/officeDocument/2006/relationships/notesMaster" Target="/ppt/notesMasters/notesMaster1.xml" Id="Rb3e1227d04c946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6b7fb06c414124" /><Relationship Type="http://schemas.openxmlformats.org/officeDocument/2006/relationships/notesMaster" Target="/ppt/notesMasters/notesMaster1.xml" Id="R7457169a7bc349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461f1137064a15" /><Relationship Type="http://schemas.openxmlformats.org/officeDocument/2006/relationships/notesMaster" Target="/ppt/notesMasters/notesMaster1.xml" Id="R5c6e0c0f15b840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fc2e4ae8404fd4" /><Relationship Type="http://schemas.openxmlformats.org/officeDocument/2006/relationships/notesMaster" Target="/ppt/notesMasters/notesMaster1.xml" Id="R92be227bf79143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585834837a4441" /><Relationship Type="http://schemas.openxmlformats.org/officeDocument/2006/relationships/notesMaster" Target="/ppt/notesMasters/notesMaster1.xml" Id="R18d14f34a01041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84f0044e854525" /><Relationship Type="http://schemas.openxmlformats.org/officeDocument/2006/relationships/notesMaster" Target="/ppt/notesMasters/notesMaster1.xml" Id="R24fd2a55747949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6472fccd874be3" /><Relationship Type="http://schemas.openxmlformats.org/officeDocument/2006/relationships/notesMaster" Target="/ppt/notesMasters/notesMaster1.xml" Id="Rf60158a4ec3f48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cf36a222a546da" /><Relationship Type="http://schemas.openxmlformats.org/officeDocument/2006/relationships/notesMaster" Target="/ppt/notesMasters/notesMaster1.xml" Id="R3a1bcc50c23c46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098a3205324656" /><Relationship Type="http://schemas.openxmlformats.org/officeDocument/2006/relationships/notesMaster" Target="/ppt/notesMasters/notesMaster1.xml" Id="Re83b4d48a6a34b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ae32e3252b4441" /><Relationship Type="http://schemas.openxmlformats.org/officeDocument/2006/relationships/notesMaster" Target="/ppt/notesMasters/notesMaster1.xml" Id="Ra5f20345e83e48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b52bc977d04433" /><Relationship Type="http://schemas.openxmlformats.org/officeDocument/2006/relationships/notesMaster" Target="/ppt/notesMasters/notesMaster1.xml" Id="Re78d51d0fcf64f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fa050c38af43ef" /><Relationship Type="http://schemas.openxmlformats.org/officeDocument/2006/relationships/notesMaster" Target="/ppt/notesMasters/notesMaster1.xml" Id="Raf7815934dd942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CampusCrate manages equipment inventory, lending, returns and overdue tracking. This presentation explains the application and the delivery system that tests, packages, deploys and observes it. The demonstrated infrastructure runs locally. Terraform describes an AWS deployment, but I did not provision AWS resources. Estimated presentation duration: eight minutes.</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https://github.com/praneethb7/CampusCrate/blob/main/README.md</a:t>
            </a:r>
          </a:p>
          <a:p xmlns:a="http://schemas.openxmlformats.org/drawingml/2006/main">
            <a:r>
              <a:t>https://github.com/praneethb7/CampusCrate/blob/main/docs/VALIDATION.md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inventory page shows total units, available units, active loans and overdue returns. Each equipment record has a category, location and quantity. Search and category filters help find resources. The screenshot is a recorded view through the Kubernetes Ingress, rather than a claim that the laptop cluster is running today.</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https://github.com/praneethb7/CampusCrate/blob/main/evidence/02-kubernetes-ingress.jpg</a:t>
            </a:r>
          </a:p>
          <a:p xmlns:a="http://schemas.openxmlformats.org/drawingml/2006/main">
            <a:r>
              <a:t>https://github.com/praneethb7/CampusCrate/blob/main/frontend/src/main.jsx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loan allocates one unit of equipment. The backend locks the equipment row so concurrent requests cannot both claim the last unit. A completed return increases availability once. Invalid requests receive validation errors, and conflicts use HTTP 409. The application retains the loan ledger. It also rejects inventory reductions below outstanding loans. The mobile capture shows the responsive interface.</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https://github.com/praneethb7/CampusCrate/blob/main/backend/app/main.py</a:t>
            </a:r>
          </a:p>
          <a:p xmlns:a="http://schemas.openxmlformats.org/drawingml/2006/main">
            <a:r>
              <a:t>https://github.com/praneethb7/CampusCrate/blob/main/backend/tests/test_concurrency.py</a:t>
            </a:r>
          </a:p>
          <a:p xmlns:a="http://schemas.openxmlformats.org/drawingml/2006/main">
            <a:r>
              <a:t>https://github.com/praneethb7/CampusCrate/blob/main/evidence/04-mobile-browser.jpg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renders the React application. NGINX Ingress routes the root path to the frontend and API paths to FastAPI. PostgreSQL persists the inventory and loan ledger, while Alembic versions the schema. The backend exposes application metrics for Prometheus and Grafana. The database is internal to the deployment.</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https://github.com/praneethb7/CampusCrate/blob/main/README.md</a:t>
            </a:r>
          </a:p>
          <a:p xmlns:a="http://schemas.openxmlformats.org/drawingml/2006/main">
            <a:r>
              <a:t>https://github.com/praneethb7/CampusCrate/blob/main/helm/campuscrate/templates/ingress.yaml</a:t>
            </a:r>
          </a:p>
          <a:p xmlns:a="http://schemas.openxmlformats.org/drawingml/2006/main">
            <a:r>
              <a:t>https://github.com/praneethb7/CampusCrate/blob/main/backend/app/models.py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a Node build stage and serves static assets from unprivileged NGINX. The backend separates build and runtime stages and runs as UID 10001. Compose gates startup on database health, migration completion and backend readiness. A named volume preserves PostgreSQL data between restarts. Removing that volume deletes the local data, so routine shutdown preserves it.</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https://github.com/praneethb7/CampusCrate/blob/main/docker-compose.yml</a:t>
            </a:r>
          </a:p>
          <a:p xmlns:a="http://schemas.openxmlformats.org/drawingml/2006/main">
            <a:r>
              <a:t>https://github.com/praneethb7/CampusCrate/blob/main/backend/Dockerfile</a:t>
            </a:r>
          </a:p>
          <a:p xmlns:a="http://schemas.openxmlformats.org/drawingml/2006/main">
            <a:r>
              <a:t>https://github.com/praneethb7/CampusCrate/blob/main/frontend/Dockerfile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test run passed all 18 tests against a separate PostgreSQL database with 90.22 percent overall statement coverage. The total includes the optional sample-data module. CI runs the tests on a disposable PostgreSQL service. Two tests exercise simultaneous borrowing and duplicate returns. Test setup requires a non-SQLite database name ending in _test to protect application data. CI also checks migration upgrade, schema drift, downgrade and upgrade again.</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https://github.com/praneethb7/CampusCrate/blob/main/evidence/pytest.txt</a:t>
            </a:r>
          </a:p>
          <a:p xmlns:a="http://schemas.openxmlformats.org/drawingml/2006/main">
            <a:r>
              <a:t>https://github.com/praneethb7/CampusCrate/blob/main/backend/tests/conftest.py</a:t>
            </a:r>
          </a:p>
          <a:p xmlns:a="http://schemas.openxmlformats.org/drawingml/2006/main">
            <a:r>
              <a:t>https://github.com/praneethb7/CampusCrate/blob/main/.github/workflows/campuscrate.yml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push to main runs the root GitHub Actions workflow. Validation gates the image builds. Both images must pass Trivy before publication. The main branch publishes commit-SHA tags to GHCR. A temporary kind cluster pulls those images, deploys the Helm chart and exercises the application through the frontend proxy. CI then removes its cluster. Laptop Minikube updates use an explicit local rollout script. The screenshot records the successful run linked in the repository evidence.</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https://github.com/praneethb7/CampusCrate/blob/main/.github/workflows/campuscrate.yml</a:t>
            </a:r>
          </a:p>
          <a:p xmlns:a="http://schemas.openxmlformats.org/drawingml/2006/main">
            <a:r>
              <a:t>https://github.com/praneethb7/CampusCrate/blob/main/evidence/pipeline.json</a:t>
            </a:r>
          </a:p>
          <a:p xmlns:a="http://schemas.openxmlformats.org/drawingml/2006/main">
            <a:r>
              <a:t>https://github.com/praneethb7/CampusCrate/blob/main/evidence/06-actions-success.jpg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earlier Debian backend build failed the gate with 44 HIGH or CRITICAL operating-system package findings. Rebuilding on Python Alpine produced clean recorded reports for the configured severities. I kept the same non-root runtime and tests. The workflow did not add a CVE allowlist or ignore unfixed findings. Zero findings describes the recorded scanner database, not a guarantee of ongoing or complete security.</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https://github.com/praneethb7/CampusCrate/blob/main/docs/SECURITY.md</a:t>
            </a:r>
          </a:p>
          <a:p xmlns:a="http://schemas.openxmlformats.org/drawingml/2006/main">
            <a:r>
              <a:t>https://github.com/praneethb7/CampusCrate/blob/main/evidence/security-backend/trivy-backend.txt</a:t>
            </a:r>
          </a:p>
          <a:p xmlns:a="http://schemas.openxmlformats.org/drawingml/2006/main">
            <a:r>
              <a:t>https://github.com/praneethb7/CampusCrate/blob/main/evidence/security-frontend/trivy-frontend.txt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Helm packages the application in the campuscrate namespace. The frontend runs two replicas. The backend starts at two and can scale to five. PostgreSQL uses a StatefulSet and persistent volume. A release-specific migration Job avoids having multiple API replicas change the schema at startup. Liveness checks the process, while readiness checks database and schema availability. A Helm rollback restores Kubernetes manifests and does not undo data changes.</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https://github.com/praneethb7/CampusCrate/blob/main/helm/campuscrate/templates</a:t>
            </a:r>
          </a:p>
          <a:p xmlns:a="http://schemas.openxmlformats.org/drawingml/2006/main">
            <a:r>
              <a:t>https://github.com/praneethb7/CampusCrate/blob/main/evidence/kubernetes.txt</a:t>
            </a:r>
          </a:p>
          <a:p xmlns:a="http://schemas.openxmlformats.org/drawingml/2006/main">
            <a:r>
              <a:t>https://github.com/praneethb7/CampusCrate/blob/main/evidence/helm.txt</a:t>
            </a:r>
          </a:p>
          <a:p xmlns:a="http://schemas.openxmlformats.org/drawingml/2006/main">
            <a:r>
              <a:t>https://github.com/praneethb7/CampusCrate/blob/main/docs/DEMO.md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HPA uses CPU utilization as a percentage of the configured CPU request. For a bounded laptop demonstration, the request was 20 millicores, while the chart default is 100 millicores. The recorded SuccessfulRescale event confirms a change to five replicas. The 180-second workload recorded 18,952 successful responses and four request errors. This demonstrates scaling behavior rather than establishing a production capacity or zero-error benchmark. Metrics Server supplies the HPA resource metrics.</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https://github.com/praneethb7/CampusCrate/blob/main/evidence/hpa-scale-up.txt</a:t>
            </a:r>
          </a:p>
          <a:p xmlns:a="http://schemas.openxmlformats.org/drawingml/2006/main">
            <a:r>
              <a:t>https://github.com/praneethb7/CampusCrate/blob/main/evidence/hpa-events.txt</a:t>
            </a:r>
          </a:p>
          <a:p xmlns:a="http://schemas.openxmlformats.org/drawingml/2006/main">
            <a:r>
              <a:t>https://github.com/praneethb7/CampusCrate/blob/main/docs/VALIDATION.md</a:t>
            </a:r>
          </a:p>
          <a:p xmlns:a="http://schemas.openxmlformats.org/drawingml/2006/main">
            <a:r>
              <a:t>https://github.com/praneethb7/CampusCrate/blob/main/helm/campuscrate/values-demo.yaml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exposes Prometheus metrics. ServiceMonitor selects the backend scrape targets, and Grafana shows request rate, p95 latency, HTTP errors and per-route traffic. The screenshot contains actual data from the recorded demonstration. Prometheus stores application time series, while Metrics Server provides the resource API for HPA. Demo monitoring storage is ephemeral.</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https://github.com/praneethb7/CampusCrate/blob/main/evidence/03-grafana-dashboard.jpg</a:t>
            </a:r>
          </a:p>
          <a:p xmlns:a="http://schemas.openxmlformats.org/drawingml/2006/main">
            <a:r>
              <a:t>https://github.com/praneethb7/CampusCrate/blob/main/evidence/05-prometheus-targets.jpg</a:t>
            </a:r>
          </a:p>
          <a:p xmlns:a="http://schemas.openxmlformats.org/drawingml/2006/main">
            <a:r>
              <a:t>https://github.com/praneethb7/CampusCrate/blob/main/monitoring/README.md</a:t>
            </a:r>
          </a:p>
          <a:p xmlns:a="http://schemas.openxmlformats.org/drawingml/2006/main">
            <a:r>
              <a:t>https://github.com/praneethb7/CampusCrate/blob/main/monitoring/dashboard.json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Terraform prepares the requested AWS network and EKS architecture. It includes public and private subnets, NAT, managed workers, restricted cluster API access and EBS CSI storage. Terraform initialized and validated, and mocked-provider plan tests passed. Those tests do not create AWS resources or prove a cloud deployment. I did not run a real AWS plan, apply or destroy, so I do not claim those grading items.</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https://github.com/praneethb7/CampusCrate/blob/main/terraform/README.md</a:t>
            </a:r>
          </a:p>
          <a:p xmlns:a="http://schemas.openxmlformats.org/drawingml/2006/main">
            <a:r>
              <a:t>https://github.com/praneethb7/CampusCrate/blob/main/evidence/terraform-validate.txt</a:t>
            </a:r>
          </a:p>
          <a:p xmlns:a="http://schemas.openxmlformats.org/drawingml/2006/main">
            <a:r>
              <a:t>https://github.com/praneethb7/CampusCrate/blob/main/evidence/terraform-mock-tests.txt</a:t>
            </a:r>
          </a:p>
          <a:p xmlns:a="http://schemas.openxmlformats.org/drawingml/2006/main">
            <a:r>
              <a:t>https://github.com/praneethb7/CampusCrate/blob/main/docs/RUBRIC-AUDIT.md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troubleshooting exercises used isolated objects. A missing image tag caused an image pull failure, visible in pod events. A wrong Service selector produced empty endpoints despite healthy pods. Comparing selectors to pod labels explained the failure and patching the selector restored endpoints. The lab objects were removed afterward. Readiness returns HTTP 503 when the database fails. Process liveness stays independent so a database outage does not cause repeated process restarts.</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https://github.com/praneethb7/CampusCrate/blob/main/troubleshooting/README.md</a:t>
            </a:r>
          </a:p>
          <a:p xmlns:a="http://schemas.openxmlformats.org/drawingml/2006/main">
            <a:r>
              <a:t>https://github.com/praneethb7/CampusCrate/blob/main/evidence/broken-image.txt</a:t>
            </a:r>
          </a:p>
          <a:p xmlns:a="http://schemas.openxmlformats.org/drawingml/2006/main">
            <a:r>
              <a:t>https://github.com/praneethb7/CampusCrate/blob/main/evidence/service-before.txt</a:t>
            </a:r>
          </a:p>
          <a:p xmlns:a="http://schemas.openxmlformats.org/drawingml/2006/main">
            <a:r>
              <a:t>https://github.com/praneethb7/CampusCrate/blob/main/evidence/service-after.txt</a:t>
            </a:r>
          </a:p>
          <a:p xmlns:a="http://schemas.openxmlformats.org/drawingml/2006/main">
            <a:r>
              <a:t>https://github.com/praneethb7/CampusCrate/blob/main/backend/tests/test_api.py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recorded walkthrough I will first demonstrate the user workflow. I will create an equipment record, borrow one unit, show the availability change, then return it. Next I will show the successful pipeline, image tags and Kubernetes resources. I will close with the recorded autoscaling event, Grafana dashboard, troubleshooting evidence and the Terraform code-only boundary. The presentation itself does not replace a recording of the working application.</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https://github.com/praneethb7/CampusCrate/blob/main/docs/DEMO.md</a:t>
            </a:r>
          </a:p>
          <a:p xmlns:a="http://schemas.openxmlformats.org/drawingml/2006/main">
            <a:r>
              <a:t>https://github.com/praneethb7/CampusCrate/blob/main/scripts/smoke.py</a:t>
            </a:r>
          </a:p>
          <a:p xmlns:a="http://schemas.openxmlformats.org/drawingml/2006/main">
            <a:r>
              <a:t>https://github.com/praneethb7/CampusCrate/blob/main/README.md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includes a working application, automated tests, container packaging, CI publication and Kubernetes smoke deployment. The local demonstration includes monitoring and autoscaling evidence. It is a classroom administrator application, with no authentication, public TLS or production backup policy. These are necessary before public production use. AWS execution and the video recording remain separate outstanding steps.</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https://github.com/praneethb7/CampusCrate/blob/main/docs/SECURITY.md</a:t>
            </a:r>
          </a:p>
          <a:p xmlns:a="http://schemas.openxmlformats.org/drawingml/2006/main">
            <a:r>
              <a:t>https://github.com/praneethb7/CampusCrate/blob/main/docs/VALIDATION.md</a:t>
            </a:r>
          </a:p>
          <a:p xmlns:a="http://schemas.openxmlformats.org/drawingml/2006/main">
            <a:r>
              <a:t>https://github.com/praneethb7/CampusCrate/blob/main/docs/SUBMISSION.md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repository contains application code, deployment configuration, monitoring setup and the supporting evidence. The demo folder contains this deck and its PDF. I can explain why row locking matters, how readiness differs from liveness, how an image maps to a source revision and which steps remain before production.</a:t>
            </a:r>
          </a:p>
          <a:p xmlns:a="http://schemas.openxmlformats.org/drawingml/2006/main">
            <a:r>
              <a:t/>
            </a:r>
          </a:p>
          <a:p xmlns:a="http://schemas.openxmlformats.org/drawingml/2006/main">
            <a:r>
              <a:t>Evidence recorded on 16 October 2026. Presentation prepared on 26 October 2026.</a:t>
            </a:r>
          </a:p>
          <a:p xmlns:a="http://schemas.openxmlformats.org/drawingml/2006/main">
            <a:r>
              <a:t>Sources:</a:t>
            </a:r>
          </a:p>
          <a:p xmlns:a="http://schemas.openxmlformats.org/drawingml/2006/main">
            <a:r>
              <a:t>https://github.com/praneethb7/CampusCrate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d2cdc8605047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61367d90d040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a19f0da82a46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3d35bf728f42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8e512094ea4a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2de62cdbaf41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B566D9-EF92-4364-A9D6-E89F6F9C0B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A17004-B5F1-4BF3-B13B-6553BC24D7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6571A5-9601-457B-A8C9-4625B2093D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3AAC39-42B8-4901-97C8-17DDD12066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3F8635-D7FE-4108-A54F-CAC9457E78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64FE18-026B-4FE2-A3A3-2ECB883747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4A6AE8-906A-45ED-AF22-59A084DBD8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F3AEBA-0B29-453E-BFD4-518D930330D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CB2CD0-8893-49B5-AF28-709BB3570D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05ADE2-900A-4F99-A367-CB034D91D5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d3feb7c4bf46de" /><Relationship Type="http://schemas.openxmlformats.org/officeDocument/2006/relationships/slideLayout" Target="/ppt/slideLayouts/slideLayout1.xml" Id="Ree645c0ba3d84f61" /><Relationship Type="http://schemas.openxmlformats.org/officeDocument/2006/relationships/slideLayout" Target="/ppt/slideLayouts/slideLayout2.xml" Id="R5b6f7b5751664442" /><Relationship Type="http://schemas.openxmlformats.org/officeDocument/2006/relationships/slideLayout" Target="/ppt/slideLayouts/slideLayout3.xml" Id="R4d16f23e1f46423b" /><Relationship Type="http://schemas.openxmlformats.org/officeDocument/2006/relationships/slideLayout" Target="/ppt/slideLayouts/slideLayout4.xml" Id="R62bf1b7770d746a3" /><Relationship Type="http://schemas.openxmlformats.org/officeDocument/2006/relationships/slideLayout" Target="/ppt/slideLayouts/slideLayout5.xml" Id="R8b9e5492bd7440db" /><Relationship Type="http://schemas.openxmlformats.org/officeDocument/2006/relationships/slideLayout" Target="/ppt/slideLayouts/slideLayout6.xml" Id="Rb12758112b5d43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645c0ba3d84f61"/>
    <p:sldLayoutId xmlns:r="http://schemas.openxmlformats.org/officeDocument/2006/relationships" id="2147483650" r:id="R5b6f7b5751664442"/>
    <p:sldLayoutId xmlns:r="http://schemas.openxmlformats.org/officeDocument/2006/relationships" id="2147483651" r:id="R4d16f23e1f46423b"/>
    <p:sldLayoutId xmlns:r="http://schemas.openxmlformats.org/officeDocument/2006/relationships" id="2147483652" r:id="R62bf1b7770d746a3"/>
    <p:sldLayoutId xmlns:r="http://schemas.openxmlformats.org/officeDocument/2006/relationships" id="2147483653" r:id="R8b9e5492bd7440db"/>
    <p:sldLayoutId xmlns:r="http://schemas.openxmlformats.org/officeDocument/2006/relationships" id="2147483654" r:id="Rb12758112b5d43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14cbd8789e40f6" /><Relationship Type="http://schemas.openxmlformats.org/officeDocument/2006/relationships/notesSlide" Target="/ppt/notesSlides/notesSlide1.xml" Id="R8a3d43cd38564f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44a3b6c3dc74ba8" /><Relationship Type="http://schemas.openxmlformats.org/officeDocument/2006/relationships/image" Target="/ppt/media/image.png" Id="R4b41ed4f849f4ab7" /><Relationship Type="http://schemas.openxmlformats.org/officeDocument/2006/relationships/notesSlide" Target="/ppt/notesSlides/notesSlide2.xml" Id="R3b3cb3b320d442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ec63ef089b4761" /><Relationship Type="http://schemas.openxmlformats.org/officeDocument/2006/relationships/image" Target="/ppt/media/image.jpeg" Id="Rb78584661e3f4ea8" /><Relationship Type="http://schemas.openxmlformats.org/officeDocument/2006/relationships/notesSlide" Target="/ppt/notesSlides/notesSlide3.xml" Id="R64c0c81fdec148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3e7347547a4361" /><Relationship Type="http://schemas.openxmlformats.org/officeDocument/2006/relationships/notesSlide" Target="/ppt/notesSlides/notesSlide4.xml" Id="R90aa8e8edb2b4b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1047bbc2ca40d8" /><Relationship Type="http://schemas.openxmlformats.org/officeDocument/2006/relationships/notesSlide" Target="/ppt/notesSlides/notesSlide5.xml" Id="R9569f392002d4e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b24cbc376342a3" /><Relationship Type="http://schemas.openxmlformats.org/officeDocument/2006/relationships/notesSlide" Target="/ppt/notesSlides/notesSlide6.xml" Id="R1e9a999b9b804c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e68dcd7613465f" /><Relationship Type="http://schemas.openxmlformats.org/officeDocument/2006/relationships/image" Target="/ppt/media/image2.jpeg" Id="R11b60254012244ab" /><Relationship Type="http://schemas.openxmlformats.org/officeDocument/2006/relationships/notesSlide" Target="/ppt/notesSlides/notesSlide7.xml" Id="R7aa46701b7454f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136e2943274814" /><Relationship Type="http://schemas.openxmlformats.org/officeDocument/2006/relationships/notesSlide" Target="/ppt/notesSlides/notesSlide8.xml" Id="R6a57b49777eb4d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534d684e404e34" /><Relationship Type="http://schemas.openxmlformats.org/officeDocument/2006/relationships/notesSlide" Target="/ppt/notesSlides/notesSlide9.xml" Id="R8723f74532504e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3c43ddc32024810" /><Relationship Type="http://schemas.openxmlformats.org/officeDocument/2006/relationships/notesSlide" Target="/ppt/notesSlides/notesSlide10.xml" Id="R81649457b64142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5c5f4c892094e4f" /><Relationship Type="http://schemas.openxmlformats.org/officeDocument/2006/relationships/image" Target="/ppt/media/image3.jpeg" Id="Raac4c364b3b04465" /><Relationship Type="http://schemas.openxmlformats.org/officeDocument/2006/relationships/notesSlide" Target="/ppt/notesSlides/notesSlide11.xml" Id="Re9f22450e1714e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5ffce74a2e493d" /><Relationship Type="http://schemas.openxmlformats.org/officeDocument/2006/relationships/notesSlide" Target="/ppt/notesSlides/notesSlide12.xml" Id="Ra6f8325d621043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8b794c039884273" /><Relationship Type="http://schemas.openxmlformats.org/officeDocument/2006/relationships/notesSlide" Target="/ppt/notesSlides/notesSlide13.xml" Id="R62add250991a46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460d55a71c146a5" /><Relationship Type="http://schemas.openxmlformats.org/officeDocument/2006/relationships/notesSlide" Target="/ppt/notesSlides/notesSlide14.xml" Id="R962cf5f1414347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7de1154e76644f2" /><Relationship Type="http://schemas.openxmlformats.org/officeDocument/2006/relationships/notesSlide" Target="/ppt/notesSlides/notesSlide15.xml" Id="R2b7a62e23c7844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7cdd51d89f6410e" /><Relationship Type="http://schemas.openxmlformats.org/officeDocument/2006/relationships/notesSlide" Target="/ppt/notesSlides/notesSlide16.xml" Id="Re7748357a1b0412e" /></Relationships>
</file>

<file path=ppt/slides/slide1.xml><?xml version="1.0" encoding="utf-8"?>
<p:sld xmlns:p="http://schemas.openxmlformats.org/presentationml/2006/main">
  <p:cSld>
    <p:bg>
      <p:bgPr>
        <a:solidFill xmlns:a="http://schemas.openxmlformats.org/drawingml/2006/main">
          <a:srgbClr val="17382F"/>
        </a:solidFill>
      </p:bgPr>
    </p:bg>
    <p:spTree>
      <p:nvGrpSpPr>
        <p:cNvPr id="1" name=""/>
        <p:cNvGrpSpPr/>
        <p:nvPr/>
      </p:nvGrpSpPr>
      <p:grpSpPr>
        <a:xfrm xmlns:a="http://schemas.openxmlformats.org/drawingml/2006/main"/>
      </p:grpSpPr>
      <p:sp>
        <p:nvSpPr>
          <p:cNvPr id="6" name="CampusCrate">
            <a:extLst xmlns:a="http://schemas.openxmlformats.org/drawingml/2006/main">
              <a:ext uri="{FF2B5EF4-FFF2-40B4-BE49-F238E27FC236}">
                <a16:creationId xmlns:a16="http://schemas.microsoft.com/office/drawing/2014/main" id="{CA73B760-AB2D-4949-9732-796B0647A814}"/>
              </a:ext>
            </a:extLst>
          </p:cNvPr>
          <p:cNvSpPr>
            <a:spLocks xmlns:a="http://schemas.openxmlformats.org/drawingml/2006/main" noGrp="1"/>
          </p:cNvSpPr>
          <p:nvPr/>
        </p:nvSpPr>
        <p:spPr>
          <a:xfrm xmlns:a="http://schemas.openxmlformats.org/drawingml/2006/main">
            <a:off x="609600" y="14859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6900" b="1">
                <a:solidFill>
                  <a:srgbClr val="FFFFFF"/>
                </a:solidFill>
                <a:latin typeface="Arial"/>
                <a:ea typeface="Arial"/>
                <a:cs typeface="Arial"/>
              </a:defRPr>
            </a:defPPr>
            <a:lvl1pPr>
              <a:defRPr sz="6900" b="1">
                <a:solidFill>
                  <a:srgbClr val="FFFFFF"/>
                </a:solidFill>
                <a:latin typeface="Arial"/>
                <a:ea typeface="Arial"/>
                <a:cs typeface="Arial"/>
              </a:defRPr>
            </a:lvl1pPr>
            <a:lvl2pPr>
              <a:defRPr sz="6900" b="1">
                <a:solidFill>
                  <a:srgbClr val="FFFFFF"/>
                </a:solidFill>
                <a:latin typeface="Arial"/>
                <a:ea typeface="Arial"/>
                <a:cs typeface="Arial"/>
              </a:defRPr>
            </a:lvl2pPr>
            <a:lvl3pPr>
              <a:defRPr sz="6900" b="1">
                <a:solidFill>
                  <a:srgbClr val="FFFFFF"/>
                </a:solidFill>
                <a:latin typeface="Arial"/>
                <a:ea typeface="Arial"/>
                <a:cs typeface="Arial"/>
              </a:defRPr>
            </a:lvl3pPr>
            <a:lvl4pPr>
              <a:defRPr sz="6900" b="1">
                <a:solidFill>
                  <a:srgbClr val="FFFFFF"/>
                </a:solidFill>
                <a:latin typeface="Arial"/>
                <a:ea typeface="Arial"/>
                <a:cs typeface="Arial"/>
              </a:defRPr>
            </a:lvl4pPr>
            <a:lvl5pPr>
              <a:defRPr sz="6900" b="1">
                <a:solidFill>
                  <a:srgbClr val="FFFFFF"/>
                </a:solidFill>
                <a:latin typeface="Arial"/>
                <a:ea typeface="Arial"/>
                <a:cs typeface="Arial"/>
              </a:defRPr>
            </a:lvl5pPr>
            <a:lvl6pPr>
              <a:defRPr sz="6900" b="1">
                <a:solidFill>
                  <a:srgbClr val="FFFFFF"/>
                </a:solidFill>
                <a:latin typeface="Arial"/>
                <a:ea typeface="Arial"/>
                <a:cs typeface="Arial"/>
              </a:defRPr>
            </a:lvl6pPr>
            <a:lvl7pPr>
              <a:defRPr sz="6900" b="1">
                <a:solidFill>
                  <a:srgbClr val="FFFFFF"/>
                </a:solidFill>
                <a:latin typeface="Arial"/>
                <a:ea typeface="Arial"/>
                <a:cs typeface="Arial"/>
              </a:defRPr>
            </a:lvl7pPr>
            <a:lvl8pPr>
              <a:defRPr sz="6900" b="1">
                <a:solidFill>
                  <a:srgbClr val="FFFFFF"/>
                </a:solidFill>
                <a:latin typeface="Arial"/>
                <a:ea typeface="Arial"/>
                <a:cs typeface="Arial"/>
              </a:defRPr>
            </a:lvl8pPr>
            <a:lvl9pPr>
              <a:defRPr sz="6900" b="1">
                <a:solidFill>
                  <a:srgbClr val="FFFFFF"/>
                </a:solidFill>
                <a:latin typeface="Arial"/>
                <a:ea typeface="Arial"/>
                <a:cs typeface="Arial"/>
              </a:defRPr>
            </a:lvl9pPr>
          </a:lstStyle>
          <a:p xmlns:a="http://schemas.openxmlformats.org/drawingml/2006/main">
            <a:pPr>
              <a:defRPr sz="6900" b="1">
                <a:solidFill>
                  <a:srgbClr val="FFFFFF"/>
                </a:solidFill>
                <a:latin typeface="Arial"/>
                <a:ea typeface="Arial"/>
                <a:cs typeface="Arial"/>
              </a:defRPr>
            </a:pPr>
            <a:r>
              <a:rPr sz="6900" b="1">
                <a:solidFill>
                  <a:srgbClr val="FFFFFF"/>
                </a:solidFill>
                <a:latin typeface="Arial"/>
                <a:ea typeface="Arial"/>
                <a:cs typeface="Arial"/>
              </a:rPr>
              <a:t>CampusCrate</a:t>
            </a:r>
          </a:p>
        </p:txBody>
      </p:sp>
      <p:sp>
        <p:nvSpPr>
          <p:cNvPr id="2" name="Campus equipment lending">
            <a:extLst xmlns:a="http://schemas.openxmlformats.org/drawingml/2006/main">
              <a:ext uri="{FF2B5EF4-FFF2-40B4-BE49-F238E27FC236}">
                <a16:creationId xmlns:a16="http://schemas.microsoft.com/office/drawing/2014/main" id="{DE9CEC98-5B0B-4321-AFBD-214D75420A1A}"/>
              </a:ext>
            </a:extLst>
          </p:cNvPr>
          <p:cNvSpPr>
            <a:spLocks xmlns:a="http://schemas.openxmlformats.org/drawingml/2006/main" noGrp="1"/>
          </p:cNvSpPr>
          <p:nvPr/>
        </p:nvSpPr>
        <p:spPr>
          <a:xfrm xmlns:a="http://schemas.openxmlformats.org/drawingml/2006/main">
            <a:off x="647700" y="2762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50" b="0">
                <a:solidFill>
                  <a:srgbClr val="DCEAA9"/>
                </a:solidFill>
                <a:latin typeface="Arial"/>
                <a:ea typeface="Arial"/>
                <a:cs typeface="Arial"/>
              </a:defRPr>
            </a:defPPr>
            <a:lvl1pPr>
              <a:defRPr sz="2850" b="0">
                <a:solidFill>
                  <a:srgbClr val="DCEAA9"/>
                </a:solidFill>
                <a:latin typeface="Arial"/>
                <a:ea typeface="Arial"/>
                <a:cs typeface="Arial"/>
              </a:defRPr>
            </a:lvl1pPr>
            <a:lvl2pPr>
              <a:defRPr sz="2850" b="0">
                <a:solidFill>
                  <a:srgbClr val="DCEAA9"/>
                </a:solidFill>
                <a:latin typeface="Arial"/>
                <a:ea typeface="Arial"/>
                <a:cs typeface="Arial"/>
              </a:defRPr>
            </a:lvl2pPr>
            <a:lvl3pPr>
              <a:defRPr sz="2850" b="0">
                <a:solidFill>
                  <a:srgbClr val="DCEAA9"/>
                </a:solidFill>
                <a:latin typeface="Arial"/>
                <a:ea typeface="Arial"/>
                <a:cs typeface="Arial"/>
              </a:defRPr>
            </a:lvl3pPr>
            <a:lvl4pPr>
              <a:defRPr sz="2850" b="0">
                <a:solidFill>
                  <a:srgbClr val="DCEAA9"/>
                </a:solidFill>
                <a:latin typeface="Arial"/>
                <a:ea typeface="Arial"/>
                <a:cs typeface="Arial"/>
              </a:defRPr>
            </a:lvl4pPr>
            <a:lvl5pPr>
              <a:defRPr sz="2850" b="0">
                <a:solidFill>
                  <a:srgbClr val="DCEAA9"/>
                </a:solidFill>
                <a:latin typeface="Arial"/>
                <a:ea typeface="Arial"/>
                <a:cs typeface="Arial"/>
              </a:defRPr>
            </a:lvl5pPr>
            <a:lvl6pPr>
              <a:defRPr sz="2850" b="0">
                <a:solidFill>
                  <a:srgbClr val="DCEAA9"/>
                </a:solidFill>
                <a:latin typeface="Arial"/>
                <a:ea typeface="Arial"/>
                <a:cs typeface="Arial"/>
              </a:defRPr>
            </a:lvl6pPr>
            <a:lvl7pPr>
              <a:defRPr sz="2850" b="0">
                <a:solidFill>
                  <a:srgbClr val="DCEAA9"/>
                </a:solidFill>
                <a:latin typeface="Arial"/>
                <a:ea typeface="Arial"/>
                <a:cs typeface="Arial"/>
              </a:defRPr>
            </a:lvl7pPr>
            <a:lvl8pPr>
              <a:defRPr sz="2850" b="0">
                <a:solidFill>
                  <a:srgbClr val="DCEAA9"/>
                </a:solidFill>
                <a:latin typeface="Arial"/>
                <a:ea typeface="Arial"/>
                <a:cs typeface="Arial"/>
              </a:defRPr>
            </a:lvl8pPr>
            <a:lvl9pPr>
              <a:defRPr sz="2850" b="0">
                <a:solidFill>
                  <a:srgbClr val="DCEAA9"/>
                </a:solidFill>
                <a:latin typeface="Arial"/>
                <a:ea typeface="Arial"/>
                <a:cs typeface="Arial"/>
              </a:defRPr>
            </a:lvl9pPr>
          </a:lstStyle>
          <a:p xmlns:a="http://schemas.openxmlformats.org/drawingml/2006/main">
            <a:pPr>
              <a:defRPr sz="2850" b="0">
                <a:solidFill>
                  <a:srgbClr val="DCEAA9"/>
                </a:solidFill>
                <a:latin typeface="Arial"/>
                <a:ea typeface="Arial"/>
                <a:cs typeface="Arial"/>
              </a:defRPr>
            </a:pPr>
            <a:r>
              <a:rPr sz="2850" b="0">
                <a:solidFill>
                  <a:srgbClr val="DCEAA9"/>
                </a:solidFill>
                <a:latin typeface="Arial"/>
                <a:ea typeface="Arial"/>
                <a:cs typeface="Arial"/>
              </a:rPr>
              <a:t>Campus equipment lending</a:t>
            </a:r>
          </a:p>
        </p:txBody>
      </p:sp>
      <p:sp>
        <p:nvSpPr>
          <p:cNvPr id="3" name="DevOps Final Capstone">
            <a:extLst xmlns:a="http://schemas.openxmlformats.org/drawingml/2006/main">
              <a:ext uri="{FF2B5EF4-FFF2-40B4-BE49-F238E27FC236}">
                <a16:creationId xmlns:a16="http://schemas.microsoft.com/office/drawing/2014/main" id="{3FA4E80B-B8AF-4747-9C7D-3906FFAB288A}"/>
              </a:ext>
            </a:extLst>
          </p:cNvPr>
          <p:cNvSpPr>
            <a:spLocks xmlns:a="http://schemas.openxmlformats.org/drawingml/2006/main" noGrp="1"/>
          </p:cNvSpPr>
          <p:nvPr/>
        </p:nvSpPr>
        <p:spPr>
          <a:xfrm xmlns:a="http://schemas.openxmlformats.org/drawingml/2006/main">
            <a:off x="647700" y="3714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DevOps Final Capstone</a:t>
            </a:r>
          </a:p>
        </p:txBody>
      </p:sp>
      <p:sp>
        <p:nvSpPr>
          <p:cNvPr id="4" name="Praneeth Budati">
            <a:extLst xmlns:a="http://schemas.openxmlformats.org/drawingml/2006/main">
              <a:ext uri="{FF2B5EF4-FFF2-40B4-BE49-F238E27FC236}">
                <a16:creationId xmlns:a16="http://schemas.microsoft.com/office/drawing/2014/main" id="{B4E22821-8EB4-4343-A85A-EC3560F3C4CD}"/>
              </a:ext>
            </a:extLst>
          </p:cNvPr>
          <p:cNvSpPr>
            <a:spLocks xmlns:a="http://schemas.openxmlformats.org/drawingml/2006/main" noGrp="1"/>
          </p:cNvSpPr>
          <p:nvPr/>
        </p:nvSpPr>
        <p:spPr>
          <a:xfrm xmlns:a="http://schemas.openxmlformats.org/drawingml/2006/main">
            <a:off x="647700" y="51911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Praneeth Budati</a:t>
            </a:r>
          </a:p>
        </p:txBody>
      </p:sp>
      <p:sp>
        <p:nvSpPr>
          <p:cNvPr id="5" name="praneethb7">
            <a:extLst xmlns:a="http://schemas.openxmlformats.org/drawingml/2006/main">
              <a:ext uri="{FF2B5EF4-FFF2-40B4-BE49-F238E27FC236}">
                <a16:creationId xmlns:a16="http://schemas.microsoft.com/office/drawing/2014/main" id="{85F35C8D-5C95-4945-90F5-05BC686C5075}"/>
              </a:ext>
            </a:extLst>
          </p:cNvPr>
          <p:cNvSpPr>
            <a:spLocks xmlns:a="http://schemas.openxmlformats.org/drawingml/2006/main" noGrp="1"/>
          </p:cNvSpPr>
          <p:nvPr/>
        </p:nvSpPr>
        <p:spPr>
          <a:xfrm xmlns:a="http://schemas.openxmlformats.org/drawingml/2006/main">
            <a:off x="647700" y="56673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DCEAA9"/>
                </a:solidFill>
                <a:latin typeface="Arial"/>
                <a:ea typeface="Arial"/>
                <a:cs typeface="Arial"/>
              </a:defRPr>
            </a:defPPr>
            <a:lvl1pPr>
              <a:defRPr sz="1725" b="0">
                <a:solidFill>
                  <a:srgbClr val="DCEAA9"/>
                </a:solidFill>
                <a:latin typeface="Arial"/>
                <a:ea typeface="Arial"/>
                <a:cs typeface="Arial"/>
              </a:defRPr>
            </a:lvl1pPr>
            <a:lvl2pPr>
              <a:defRPr sz="1725" b="0">
                <a:solidFill>
                  <a:srgbClr val="DCEAA9"/>
                </a:solidFill>
                <a:latin typeface="Arial"/>
                <a:ea typeface="Arial"/>
                <a:cs typeface="Arial"/>
              </a:defRPr>
            </a:lvl2pPr>
            <a:lvl3pPr>
              <a:defRPr sz="1725" b="0">
                <a:solidFill>
                  <a:srgbClr val="DCEAA9"/>
                </a:solidFill>
                <a:latin typeface="Arial"/>
                <a:ea typeface="Arial"/>
                <a:cs typeface="Arial"/>
              </a:defRPr>
            </a:lvl3pPr>
            <a:lvl4pPr>
              <a:defRPr sz="1725" b="0">
                <a:solidFill>
                  <a:srgbClr val="DCEAA9"/>
                </a:solidFill>
                <a:latin typeface="Arial"/>
                <a:ea typeface="Arial"/>
                <a:cs typeface="Arial"/>
              </a:defRPr>
            </a:lvl4pPr>
            <a:lvl5pPr>
              <a:defRPr sz="1725" b="0">
                <a:solidFill>
                  <a:srgbClr val="DCEAA9"/>
                </a:solidFill>
                <a:latin typeface="Arial"/>
                <a:ea typeface="Arial"/>
                <a:cs typeface="Arial"/>
              </a:defRPr>
            </a:lvl5pPr>
            <a:lvl6pPr>
              <a:defRPr sz="1725" b="0">
                <a:solidFill>
                  <a:srgbClr val="DCEAA9"/>
                </a:solidFill>
                <a:latin typeface="Arial"/>
                <a:ea typeface="Arial"/>
                <a:cs typeface="Arial"/>
              </a:defRPr>
            </a:lvl6pPr>
            <a:lvl7pPr>
              <a:defRPr sz="1725" b="0">
                <a:solidFill>
                  <a:srgbClr val="DCEAA9"/>
                </a:solidFill>
                <a:latin typeface="Arial"/>
                <a:ea typeface="Arial"/>
                <a:cs typeface="Arial"/>
              </a:defRPr>
            </a:lvl7pPr>
            <a:lvl8pPr>
              <a:defRPr sz="1725" b="0">
                <a:solidFill>
                  <a:srgbClr val="DCEAA9"/>
                </a:solidFill>
                <a:latin typeface="Arial"/>
                <a:ea typeface="Arial"/>
                <a:cs typeface="Arial"/>
              </a:defRPr>
            </a:lvl8pPr>
            <a:lvl9pPr>
              <a:defRPr sz="1725" b="0">
                <a:solidFill>
                  <a:srgbClr val="DCEAA9"/>
                </a:solidFill>
                <a:latin typeface="Arial"/>
                <a:ea typeface="Arial"/>
                <a:cs typeface="Arial"/>
              </a:defRPr>
            </a:lvl9pPr>
          </a:lstStyle>
          <a:p xmlns:a="http://schemas.openxmlformats.org/drawingml/2006/main">
            <a:pPr>
              <a:defRPr sz="1725" b="0">
                <a:solidFill>
                  <a:srgbClr val="DCEAA9"/>
                </a:solidFill>
                <a:latin typeface="Arial"/>
                <a:ea typeface="Arial"/>
                <a:cs typeface="Arial"/>
              </a:defRPr>
            </a:pPr>
            <a:r>
              <a:rPr sz="1725" b="0">
                <a:solidFill>
                  <a:srgbClr val="DCEAA9"/>
                </a:solidFill>
                <a:latin typeface="Arial"/>
                <a:ea typeface="Arial"/>
                <a:cs typeface="Arial"/>
              </a:rPr>
              <a:t>praneethb7</a:t>
            </a:r>
          </a:p>
        </p:txBody>
      </p:sp>
    </p:spTree>
    <p:extLst>
      <p:ext uri="{BB962C8B-B14F-4D97-AF65-F5344CB8AC3E}">
        <p14:creationId xmlns:p14="http://schemas.microsoft.com/office/powerpoint/2010/main" val="1214593925"/>
      </p:ext>
    </p:extLst>
  </p:cSld>
</p:sld>
</file>

<file path=ppt/slides/slide2.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1" name="Equipment inventory in one workspace">
            <a:extLst xmlns:a="http://schemas.openxmlformats.org/drawingml/2006/main">
              <a:ext uri="{FF2B5EF4-FFF2-40B4-BE49-F238E27FC236}">
                <a16:creationId xmlns:a16="http://schemas.microsoft.com/office/drawing/2014/main" id="{19ECE93F-FFEC-4FF2-B585-5C2D57E79FFD}"/>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Equipment inventory in one workspace</a:t>
            </a:r>
          </a:p>
        </p:txBody>
      </p:sp>
      <p:sp>
        <p:nvSpPr>
          <p:cNvPr id="2" name="Availability, loans and due dates stay connec">
            <a:extLst xmlns:a="http://schemas.openxmlformats.org/drawingml/2006/main">
              <a:ext uri="{FF2B5EF4-FFF2-40B4-BE49-F238E27FC236}">
                <a16:creationId xmlns:a16="http://schemas.microsoft.com/office/drawing/2014/main" id="{4E2B8BC8-3957-4A0B-942B-437A3EF7AA5D}"/>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Availability, loans and due dates stay connected</a:t>
            </a:r>
          </a:p>
        </p:txBody>
      </p:sp>
      <p:sp>
        <p:nvSpPr>
          <p:cNvPr id="3" name="CampusCrate">
            <a:extLst xmlns:a="http://schemas.openxmlformats.org/drawingml/2006/main">
              <a:ext uri="{FF2B5EF4-FFF2-40B4-BE49-F238E27FC236}">
                <a16:creationId xmlns:a16="http://schemas.microsoft.com/office/drawing/2014/main" id="{542E6FA6-2D96-44BD-BBBC-F2F0C2E873EC}"/>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02">
            <a:extLst xmlns:a="http://schemas.openxmlformats.org/drawingml/2006/main">
              <a:ext uri="{FF2B5EF4-FFF2-40B4-BE49-F238E27FC236}">
                <a16:creationId xmlns:a16="http://schemas.microsoft.com/office/drawing/2014/main" id="{FA0A5F3D-452F-42D4-AAA7-B5F281223781}"/>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02</a:t>
            </a:r>
          </a:p>
        </p:txBody>
      </p:sp>
      <p:pic>
        <p:nvPicPr>
          <p:cNvPr id="5" name="">
            <a:extLst xmlns:a="http://schemas.openxmlformats.org/drawingml/2006/main">
              <a:ext uri="{FF2B5EF4-FFF2-40B4-BE49-F238E27FC236}">
                <a16:creationId xmlns:a16="http://schemas.microsoft.com/office/drawing/2014/main" id="{53DEF643-5E75-46AB-ACFD-870422DB0E51}"/>
              </a:ext>
            </a:extLst>
          </p:cNvPr>
          <p:cNvPicPr>
            <a:picLocks xmlns:a="http://schemas.openxmlformats.org/drawingml/2006/main" noChangeAspect="1"/>
          </p:cNvPicPr>
          <p:nvPr/>
        </p:nvPicPr>
        <p:blipFill>
          <a:blip xmlns:r="http://schemas.openxmlformats.org/officeDocument/2006/relationships" xmlns:a="http://schemas.openxmlformats.org/drawingml/2006/main" r:embed="R4b41ed4f849f4ab7"/>
          <a:stretch xmlns:a="http://schemas.openxmlformats.org/drawingml/2006/main"/>
        </p:blipFill>
        <p:spPr>
          <a:xfrm xmlns:a="http://schemas.openxmlformats.org/drawingml/2006/main">
            <a:off x="611559" y="1809750"/>
            <a:ext cx="7616082" cy="4114800"/>
          </a:xfrm>
          <a:prstGeom xmlns:a="http://schemas.openxmlformats.org/drawingml/2006/main" prst="rect">
            <a:avLst/>
          </a:prstGeom>
        </p:spPr>
      </p:pic>
      <p:sp>
        <p:nvSpPr>
          <p:cNvPr id="6" name="Inventory">
            <a:extLst xmlns:a="http://schemas.openxmlformats.org/drawingml/2006/main">
              <a:ext uri="{FF2B5EF4-FFF2-40B4-BE49-F238E27FC236}">
                <a16:creationId xmlns:a16="http://schemas.microsoft.com/office/drawing/2014/main" id="{5070FC52-2056-4894-BE1B-767E95C13601}"/>
              </a:ext>
            </a:extLst>
          </p:cNvPr>
          <p:cNvSpPr>
            <a:spLocks xmlns:a="http://schemas.openxmlformats.org/drawingml/2006/main" noGrp="1"/>
          </p:cNvSpPr>
          <p:nvPr/>
        </p:nvSpPr>
        <p:spPr>
          <a:xfrm xmlns:a="http://schemas.openxmlformats.org/drawingml/2006/main">
            <a:off x="8572500" y="20002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83D33"/>
                </a:solidFill>
                <a:latin typeface="Arial"/>
                <a:ea typeface="Arial"/>
                <a:cs typeface="Arial"/>
              </a:defRPr>
            </a:defPPr>
            <a:lvl1pPr>
              <a:defRPr sz="2175" b="1">
                <a:solidFill>
                  <a:srgbClr val="183D33"/>
                </a:solidFill>
                <a:latin typeface="Arial"/>
                <a:ea typeface="Arial"/>
                <a:cs typeface="Arial"/>
              </a:defRPr>
            </a:lvl1pPr>
            <a:lvl2pPr>
              <a:defRPr sz="2175" b="1">
                <a:solidFill>
                  <a:srgbClr val="183D33"/>
                </a:solidFill>
                <a:latin typeface="Arial"/>
                <a:ea typeface="Arial"/>
                <a:cs typeface="Arial"/>
              </a:defRPr>
            </a:lvl2pPr>
            <a:lvl3pPr>
              <a:defRPr sz="2175" b="1">
                <a:solidFill>
                  <a:srgbClr val="183D33"/>
                </a:solidFill>
                <a:latin typeface="Arial"/>
                <a:ea typeface="Arial"/>
                <a:cs typeface="Arial"/>
              </a:defRPr>
            </a:lvl3pPr>
            <a:lvl4pPr>
              <a:defRPr sz="2175" b="1">
                <a:solidFill>
                  <a:srgbClr val="183D33"/>
                </a:solidFill>
                <a:latin typeface="Arial"/>
                <a:ea typeface="Arial"/>
                <a:cs typeface="Arial"/>
              </a:defRPr>
            </a:lvl4pPr>
            <a:lvl5pPr>
              <a:defRPr sz="2175" b="1">
                <a:solidFill>
                  <a:srgbClr val="183D33"/>
                </a:solidFill>
                <a:latin typeface="Arial"/>
                <a:ea typeface="Arial"/>
                <a:cs typeface="Arial"/>
              </a:defRPr>
            </a:lvl5pPr>
            <a:lvl6pPr>
              <a:defRPr sz="2175" b="1">
                <a:solidFill>
                  <a:srgbClr val="183D33"/>
                </a:solidFill>
                <a:latin typeface="Arial"/>
                <a:ea typeface="Arial"/>
                <a:cs typeface="Arial"/>
              </a:defRPr>
            </a:lvl6pPr>
            <a:lvl7pPr>
              <a:defRPr sz="2175" b="1">
                <a:solidFill>
                  <a:srgbClr val="183D33"/>
                </a:solidFill>
                <a:latin typeface="Arial"/>
                <a:ea typeface="Arial"/>
                <a:cs typeface="Arial"/>
              </a:defRPr>
            </a:lvl7pPr>
            <a:lvl8pPr>
              <a:defRPr sz="2175" b="1">
                <a:solidFill>
                  <a:srgbClr val="183D33"/>
                </a:solidFill>
                <a:latin typeface="Arial"/>
                <a:ea typeface="Arial"/>
                <a:cs typeface="Arial"/>
              </a:defRPr>
            </a:lvl8pPr>
            <a:lvl9pPr>
              <a:defRPr sz="2175" b="1">
                <a:solidFill>
                  <a:srgbClr val="183D33"/>
                </a:solidFill>
                <a:latin typeface="Arial"/>
                <a:ea typeface="Arial"/>
                <a:cs typeface="Arial"/>
              </a:defRPr>
            </a:lvl9pPr>
          </a:lstStyle>
          <a:p xmlns:a="http://schemas.openxmlformats.org/drawingml/2006/main">
            <a:pPr>
              <a:defRPr sz="2175" b="1">
                <a:solidFill>
                  <a:srgbClr val="183D33"/>
                </a:solidFill>
                <a:latin typeface="Arial"/>
                <a:ea typeface="Arial"/>
                <a:cs typeface="Arial"/>
              </a:defRPr>
            </a:pPr>
            <a:r>
              <a:rPr sz="2175" b="1">
                <a:solidFill>
                  <a:srgbClr val="183D33"/>
                </a:solidFill>
                <a:latin typeface="Arial"/>
                <a:ea typeface="Arial"/>
                <a:cs typeface="Arial"/>
              </a:rPr>
              <a:t>Inventory</a:t>
            </a:r>
          </a:p>
        </p:txBody>
      </p:sp>
      <p:sp>
        <p:nvSpPr>
          <p:cNvPr id="7" name="Search equipment and filter by category.">
            <a:extLst xmlns:a="http://schemas.openxmlformats.org/drawingml/2006/main">
              <a:ext uri="{FF2B5EF4-FFF2-40B4-BE49-F238E27FC236}">
                <a16:creationId xmlns:a16="http://schemas.microsoft.com/office/drawing/2014/main" id="{855F72A0-3E70-4E16-8B08-BB287F7AB810}"/>
              </a:ext>
            </a:extLst>
          </p:cNvPr>
          <p:cNvSpPr>
            <a:spLocks xmlns:a="http://schemas.openxmlformats.org/drawingml/2006/main" noGrp="1"/>
          </p:cNvSpPr>
          <p:nvPr/>
        </p:nvSpPr>
        <p:spPr>
          <a:xfrm xmlns:a="http://schemas.openxmlformats.org/drawingml/2006/main">
            <a:off x="8572500" y="25241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3665C"/>
                </a:solidFill>
                <a:latin typeface="Arial"/>
                <a:ea typeface="Arial"/>
                <a:cs typeface="Arial"/>
              </a:defRPr>
            </a:defPPr>
            <a:lvl1pPr>
              <a:defRPr sz="1950" b="0">
                <a:solidFill>
                  <a:srgbClr val="53665C"/>
                </a:solidFill>
                <a:latin typeface="Arial"/>
                <a:ea typeface="Arial"/>
                <a:cs typeface="Arial"/>
              </a:defRPr>
            </a:lvl1pPr>
            <a:lvl2pPr>
              <a:defRPr sz="1950" b="0">
                <a:solidFill>
                  <a:srgbClr val="53665C"/>
                </a:solidFill>
                <a:latin typeface="Arial"/>
                <a:ea typeface="Arial"/>
                <a:cs typeface="Arial"/>
              </a:defRPr>
            </a:lvl2pPr>
            <a:lvl3pPr>
              <a:defRPr sz="1950" b="0">
                <a:solidFill>
                  <a:srgbClr val="53665C"/>
                </a:solidFill>
                <a:latin typeface="Arial"/>
                <a:ea typeface="Arial"/>
                <a:cs typeface="Arial"/>
              </a:defRPr>
            </a:lvl3pPr>
            <a:lvl4pPr>
              <a:defRPr sz="1950" b="0">
                <a:solidFill>
                  <a:srgbClr val="53665C"/>
                </a:solidFill>
                <a:latin typeface="Arial"/>
                <a:ea typeface="Arial"/>
                <a:cs typeface="Arial"/>
              </a:defRPr>
            </a:lvl4pPr>
            <a:lvl5pPr>
              <a:defRPr sz="1950" b="0">
                <a:solidFill>
                  <a:srgbClr val="53665C"/>
                </a:solidFill>
                <a:latin typeface="Arial"/>
                <a:ea typeface="Arial"/>
                <a:cs typeface="Arial"/>
              </a:defRPr>
            </a:lvl5pPr>
            <a:lvl6pPr>
              <a:defRPr sz="1950" b="0">
                <a:solidFill>
                  <a:srgbClr val="53665C"/>
                </a:solidFill>
                <a:latin typeface="Arial"/>
                <a:ea typeface="Arial"/>
                <a:cs typeface="Arial"/>
              </a:defRPr>
            </a:lvl6pPr>
            <a:lvl7pPr>
              <a:defRPr sz="1950" b="0">
                <a:solidFill>
                  <a:srgbClr val="53665C"/>
                </a:solidFill>
                <a:latin typeface="Arial"/>
                <a:ea typeface="Arial"/>
                <a:cs typeface="Arial"/>
              </a:defRPr>
            </a:lvl7pPr>
            <a:lvl8pPr>
              <a:defRPr sz="1950" b="0">
                <a:solidFill>
                  <a:srgbClr val="53665C"/>
                </a:solidFill>
                <a:latin typeface="Arial"/>
                <a:ea typeface="Arial"/>
                <a:cs typeface="Arial"/>
              </a:defRPr>
            </a:lvl8pPr>
            <a:lvl9pPr>
              <a:defRPr sz="1950" b="0">
                <a:solidFill>
                  <a:srgbClr val="53665C"/>
                </a:solidFill>
                <a:latin typeface="Arial"/>
                <a:ea typeface="Arial"/>
                <a:cs typeface="Arial"/>
              </a:defRPr>
            </a:lvl9pPr>
          </a:lstStyle>
          <a:p xmlns:a="http://schemas.openxmlformats.org/drawingml/2006/main">
            <a:pPr>
              <a:defRPr sz="1950" b="0">
                <a:solidFill>
                  <a:srgbClr val="53665C"/>
                </a:solidFill>
                <a:latin typeface="Arial"/>
                <a:ea typeface="Arial"/>
                <a:cs typeface="Arial"/>
              </a:defRPr>
            </a:pPr>
            <a:r>
              <a:rPr sz="1950" b="0">
                <a:solidFill>
                  <a:srgbClr val="53665C"/>
                </a:solidFill>
                <a:latin typeface="Arial"/>
                <a:ea typeface="Arial"/>
                <a:cs typeface="Arial"/>
              </a:rPr>
              <a:t>Search equipment and filter by category.</a:t>
            </a:r>
          </a:p>
        </p:txBody>
      </p:sp>
      <p:sp>
        <p:nvSpPr>
          <p:cNvPr id="8" name="Loans and returns">
            <a:extLst xmlns:a="http://schemas.openxmlformats.org/drawingml/2006/main">
              <a:ext uri="{FF2B5EF4-FFF2-40B4-BE49-F238E27FC236}">
                <a16:creationId xmlns:a16="http://schemas.microsoft.com/office/drawing/2014/main" id="{B125D09C-535B-4DC3-802F-A8A4F1BE2E4A}"/>
              </a:ext>
            </a:extLst>
          </p:cNvPr>
          <p:cNvSpPr>
            <a:spLocks xmlns:a="http://schemas.openxmlformats.org/drawingml/2006/main" noGrp="1"/>
          </p:cNvSpPr>
          <p:nvPr/>
        </p:nvSpPr>
        <p:spPr>
          <a:xfrm xmlns:a="http://schemas.openxmlformats.org/drawingml/2006/main">
            <a:off x="8572500" y="36671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183D33"/>
                </a:solidFill>
                <a:latin typeface="Arial"/>
                <a:ea typeface="Arial"/>
                <a:cs typeface="Arial"/>
              </a:defRPr>
            </a:defPPr>
            <a:lvl1pPr>
              <a:defRPr sz="2175" b="1">
                <a:solidFill>
                  <a:srgbClr val="183D33"/>
                </a:solidFill>
                <a:latin typeface="Arial"/>
                <a:ea typeface="Arial"/>
                <a:cs typeface="Arial"/>
              </a:defRPr>
            </a:lvl1pPr>
            <a:lvl2pPr>
              <a:defRPr sz="2175" b="1">
                <a:solidFill>
                  <a:srgbClr val="183D33"/>
                </a:solidFill>
                <a:latin typeface="Arial"/>
                <a:ea typeface="Arial"/>
                <a:cs typeface="Arial"/>
              </a:defRPr>
            </a:lvl2pPr>
            <a:lvl3pPr>
              <a:defRPr sz="2175" b="1">
                <a:solidFill>
                  <a:srgbClr val="183D33"/>
                </a:solidFill>
                <a:latin typeface="Arial"/>
                <a:ea typeface="Arial"/>
                <a:cs typeface="Arial"/>
              </a:defRPr>
            </a:lvl3pPr>
            <a:lvl4pPr>
              <a:defRPr sz="2175" b="1">
                <a:solidFill>
                  <a:srgbClr val="183D33"/>
                </a:solidFill>
                <a:latin typeface="Arial"/>
                <a:ea typeface="Arial"/>
                <a:cs typeface="Arial"/>
              </a:defRPr>
            </a:lvl4pPr>
            <a:lvl5pPr>
              <a:defRPr sz="2175" b="1">
                <a:solidFill>
                  <a:srgbClr val="183D33"/>
                </a:solidFill>
                <a:latin typeface="Arial"/>
                <a:ea typeface="Arial"/>
                <a:cs typeface="Arial"/>
              </a:defRPr>
            </a:lvl5pPr>
            <a:lvl6pPr>
              <a:defRPr sz="2175" b="1">
                <a:solidFill>
                  <a:srgbClr val="183D33"/>
                </a:solidFill>
                <a:latin typeface="Arial"/>
                <a:ea typeface="Arial"/>
                <a:cs typeface="Arial"/>
              </a:defRPr>
            </a:lvl6pPr>
            <a:lvl7pPr>
              <a:defRPr sz="2175" b="1">
                <a:solidFill>
                  <a:srgbClr val="183D33"/>
                </a:solidFill>
                <a:latin typeface="Arial"/>
                <a:ea typeface="Arial"/>
                <a:cs typeface="Arial"/>
              </a:defRPr>
            </a:lvl7pPr>
            <a:lvl8pPr>
              <a:defRPr sz="2175" b="1">
                <a:solidFill>
                  <a:srgbClr val="183D33"/>
                </a:solidFill>
                <a:latin typeface="Arial"/>
                <a:ea typeface="Arial"/>
                <a:cs typeface="Arial"/>
              </a:defRPr>
            </a:lvl8pPr>
            <a:lvl9pPr>
              <a:defRPr sz="2175" b="1">
                <a:solidFill>
                  <a:srgbClr val="183D33"/>
                </a:solidFill>
                <a:latin typeface="Arial"/>
                <a:ea typeface="Arial"/>
                <a:cs typeface="Arial"/>
              </a:defRPr>
            </a:lvl9pPr>
          </a:lstStyle>
          <a:p xmlns:a="http://schemas.openxmlformats.org/drawingml/2006/main">
            <a:pPr>
              <a:defRPr sz="2175" b="1">
                <a:solidFill>
                  <a:srgbClr val="183D33"/>
                </a:solidFill>
                <a:latin typeface="Arial"/>
                <a:ea typeface="Arial"/>
                <a:cs typeface="Arial"/>
              </a:defRPr>
            </a:pPr>
            <a:r>
              <a:rPr sz="2175" b="1">
                <a:solidFill>
                  <a:srgbClr val="183D33"/>
                </a:solidFill>
                <a:latin typeface="Arial"/>
                <a:ea typeface="Arial"/>
                <a:cs typeface="Arial"/>
              </a:rPr>
              <a:t>Loans and returns</a:t>
            </a:r>
          </a:p>
        </p:txBody>
      </p:sp>
      <p:sp>
        <p:nvSpPr>
          <p:cNvPr id="9" name="Track who has an item and when it is due.">
            <a:extLst xmlns:a="http://schemas.openxmlformats.org/drawingml/2006/main">
              <a:ext uri="{FF2B5EF4-FFF2-40B4-BE49-F238E27FC236}">
                <a16:creationId xmlns:a16="http://schemas.microsoft.com/office/drawing/2014/main" id="{DDA0D985-4A1C-4C18-A7FE-F4A47F12B457}"/>
              </a:ext>
            </a:extLst>
          </p:cNvPr>
          <p:cNvSpPr>
            <a:spLocks xmlns:a="http://schemas.openxmlformats.org/drawingml/2006/main" noGrp="1"/>
          </p:cNvSpPr>
          <p:nvPr/>
        </p:nvSpPr>
        <p:spPr>
          <a:xfrm xmlns:a="http://schemas.openxmlformats.org/drawingml/2006/main">
            <a:off x="8572500" y="41910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3665C"/>
                </a:solidFill>
                <a:latin typeface="Arial"/>
                <a:ea typeface="Arial"/>
                <a:cs typeface="Arial"/>
              </a:defRPr>
            </a:defPPr>
            <a:lvl1pPr>
              <a:defRPr sz="1950" b="0">
                <a:solidFill>
                  <a:srgbClr val="53665C"/>
                </a:solidFill>
                <a:latin typeface="Arial"/>
                <a:ea typeface="Arial"/>
                <a:cs typeface="Arial"/>
              </a:defRPr>
            </a:lvl1pPr>
            <a:lvl2pPr>
              <a:defRPr sz="1950" b="0">
                <a:solidFill>
                  <a:srgbClr val="53665C"/>
                </a:solidFill>
                <a:latin typeface="Arial"/>
                <a:ea typeface="Arial"/>
                <a:cs typeface="Arial"/>
              </a:defRPr>
            </a:lvl2pPr>
            <a:lvl3pPr>
              <a:defRPr sz="1950" b="0">
                <a:solidFill>
                  <a:srgbClr val="53665C"/>
                </a:solidFill>
                <a:latin typeface="Arial"/>
                <a:ea typeface="Arial"/>
                <a:cs typeface="Arial"/>
              </a:defRPr>
            </a:lvl3pPr>
            <a:lvl4pPr>
              <a:defRPr sz="1950" b="0">
                <a:solidFill>
                  <a:srgbClr val="53665C"/>
                </a:solidFill>
                <a:latin typeface="Arial"/>
                <a:ea typeface="Arial"/>
                <a:cs typeface="Arial"/>
              </a:defRPr>
            </a:lvl4pPr>
            <a:lvl5pPr>
              <a:defRPr sz="1950" b="0">
                <a:solidFill>
                  <a:srgbClr val="53665C"/>
                </a:solidFill>
                <a:latin typeface="Arial"/>
                <a:ea typeface="Arial"/>
                <a:cs typeface="Arial"/>
              </a:defRPr>
            </a:lvl5pPr>
            <a:lvl6pPr>
              <a:defRPr sz="1950" b="0">
                <a:solidFill>
                  <a:srgbClr val="53665C"/>
                </a:solidFill>
                <a:latin typeface="Arial"/>
                <a:ea typeface="Arial"/>
                <a:cs typeface="Arial"/>
              </a:defRPr>
            </a:lvl6pPr>
            <a:lvl7pPr>
              <a:defRPr sz="1950" b="0">
                <a:solidFill>
                  <a:srgbClr val="53665C"/>
                </a:solidFill>
                <a:latin typeface="Arial"/>
                <a:ea typeface="Arial"/>
                <a:cs typeface="Arial"/>
              </a:defRPr>
            </a:lvl7pPr>
            <a:lvl8pPr>
              <a:defRPr sz="1950" b="0">
                <a:solidFill>
                  <a:srgbClr val="53665C"/>
                </a:solidFill>
                <a:latin typeface="Arial"/>
                <a:ea typeface="Arial"/>
                <a:cs typeface="Arial"/>
              </a:defRPr>
            </a:lvl8pPr>
            <a:lvl9pPr>
              <a:defRPr sz="1950" b="0">
                <a:solidFill>
                  <a:srgbClr val="53665C"/>
                </a:solidFill>
                <a:latin typeface="Arial"/>
                <a:ea typeface="Arial"/>
                <a:cs typeface="Arial"/>
              </a:defRPr>
            </a:lvl9pPr>
          </a:lstStyle>
          <a:p xmlns:a="http://schemas.openxmlformats.org/drawingml/2006/main">
            <a:pPr>
              <a:defRPr sz="1950" b="0">
                <a:solidFill>
                  <a:srgbClr val="53665C"/>
                </a:solidFill>
                <a:latin typeface="Arial"/>
                <a:ea typeface="Arial"/>
                <a:cs typeface="Arial"/>
              </a:defRPr>
            </a:pPr>
            <a:r>
              <a:rPr sz="1950" b="0">
                <a:solidFill>
                  <a:srgbClr val="53665C"/>
                </a:solidFill>
                <a:latin typeface="Arial"/>
                <a:ea typeface="Arial"/>
                <a:cs typeface="Arial"/>
              </a:rPr>
              <a:t>Track who has an item and when it is due.</a:t>
            </a:r>
          </a:p>
        </p:txBody>
      </p:sp>
      <p:sp>
        <p:nvSpPr>
          <p:cNvPr id="10" name="Recorded Kubernetes view, overview detail">
            <a:extLst xmlns:a="http://schemas.openxmlformats.org/drawingml/2006/main">
              <a:ext uri="{FF2B5EF4-FFF2-40B4-BE49-F238E27FC236}">
                <a16:creationId xmlns:a16="http://schemas.microsoft.com/office/drawing/2014/main" id="{428F92B6-6D15-4DDD-AEBF-938B78A8FDCD}"/>
              </a:ext>
            </a:extLst>
          </p:cNvPr>
          <p:cNvSpPr>
            <a:spLocks xmlns:a="http://schemas.openxmlformats.org/drawingml/2006/main" noGrp="1"/>
          </p:cNvSpPr>
          <p:nvPr/>
        </p:nvSpPr>
        <p:spPr>
          <a:xfrm xmlns:a="http://schemas.openxmlformats.org/drawingml/2006/main">
            <a:off x="609600" y="6029325"/>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3665C"/>
                </a:solidFill>
                <a:latin typeface="Arial"/>
                <a:ea typeface="Arial"/>
                <a:cs typeface="Arial"/>
              </a:defRPr>
            </a:defPPr>
            <a:lvl1pPr>
              <a:defRPr sz="1350" b="0">
                <a:solidFill>
                  <a:srgbClr val="53665C"/>
                </a:solidFill>
                <a:latin typeface="Arial"/>
                <a:ea typeface="Arial"/>
                <a:cs typeface="Arial"/>
              </a:defRPr>
            </a:lvl1pPr>
            <a:lvl2pPr>
              <a:defRPr sz="1350" b="0">
                <a:solidFill>
                  <a:srgbClr val="53665C"/>
                </a:solidFill>
                <a:latin typeface="Arial"/>
                <a:ea typeface="Arial"/>
                <a:cs typeface="Arial"/>
              </a:defRPr>
            </a:lvl2pPr>
            <a:lvl3pPr>
              <a:defRPr sz="1350" b="0">
                <a:solidFill>
                  <a:srgbClr val="53665C"/>
                </a:solidFill>
                <a:latin typeface="Arial"/>
                <a:ea typeface="Arial"/>
                <a:cs typeface="Arial"/>
              </a:defRPr>
            </a:lvl3pPr>
            <a:lvl4pPr>
              <a:defRPr sz="1350" b="0">
                <a:solidFill>
                  <a:srgbClr val="53665C"/>
                </a:solidFill>
                <a:latin typeface="Arial"/>
                <a:ea typeface="Arial"/>
                <a:cs typeface="Arial"/>
              </a:defRPr>
            </a:lvl4pPr>
            <a:lvl5pPr>
              <a:defRPr sz="1350" b="0">
                <a:solidFill>
                  <a:srgbClr val="53665C"/>
                </a:solidFill>
                <a:latin typeface="Arial"/>
                <a:ea typeface="Arial"/>
                <a:cs typeface="Arial"/>
              </a:defRPr>
            </a:lvl5pPr>
            <a:lvl6pPr>
              <a:defRPr sz="1350" b="0">
                <a:solidFill>
                  <a:srgbClr val="53665C"/>
                </a:solidFill>
                <a:latin typeface="Arial"/>
                <a:ea typeface="Arial"/>
                <a:cs typeface="Arial"/>
              </a:defRPr>
            </a:lvl6pPr>
            <a:lvl7pPr>
              <a:defRPr sz="1350" b="0">
                <a:solidFill>
                  <a:srgbClr val="53665C"/>
                </a:solidFill>
                <a:latin typeface="Arial"/>
                <a:ea typeface="Arial"/>
                <a:cs typeface="Arial"/>
              </a:defRPr>
            </a:lvl7pPr>
            <a:lvl8pPr>
              <a:defRPr sz="1350" b="0">
                <a:solidFill>
                  <a:srgbClr val="53665C"/>
                </a:solidFill>
                <a:latin typeface="Arial"/>
                <a:ea typeface="Arial"/>
                <a:cs typeface="Arial"/>
              </a:defRPr>
            </a:lvl8pPr>
            <a:lvl9pPr>
              <a:defRPr sz="1350" b="0">
                <a:solidFill>
                  <a:srgbClr val="53665C"/>
                </a:solidFill>
                <a:latin typeface="Arial"/>
                <a:ea typeface="Arial"/>
                <a:cs typeface="Arial"/>
              </a:defRPr>
            </a:lvl9pPr>
          </a:lstStyle>
          <a:p xmlns:a="http://schemas.openxmlformats.org/drawingml/2006/main">
            <a:pPr>
              <a:defRPr sz="1350" b="0">
                <a:solidFill>
                  <a:srgbClr val="53665C"/>
                </a:solidFill>
                <a:latin typeface="Arial"/>
                <a:ea typeface="Arial"/>
                <a:cs typeface="Arial"/>
              </a:defRPr>
            </a:pPr>
            <a:r>
              <a:rPr sz="1350" b="0">
                <a:solidFill>
                  <a:srgbClr val="53665C"/>
                </a:solidFill>
                <a:latin typeface="Arial"/>
                <a:ea typeface="Arial"/>
                <a:cs typeface="Arial"/>
              </a:rPr>
              <a:t>Recorded Kubernetes view, overview detail</a:t>
            </a:r>
          </a:p>
        </p:txBody>
      </p:sp>
    </p:spTree>
    <p:extLst>
      <p:ext uri="{BB962C8B-B14F-4D97-AF65-F5344CB8AC3E}">
        <p14:creationId xmlns:p14="http://schemas.microsoft.com/office/powerpoint/2010/main" val="1677761438"/>
      </p:ext>
    </p:extLst>
  </p:cSld>
</p:sld>
</file>

<file path=ppt/slides/slide3.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5" name="Loan lifecycle and stock protection">
            <a:extLst xmlns:a="http://schemas.openxmlformats.org/drawingml/2006/main">
              <a:ext uri="{FF2B5EF4-FFF2-40B4-BE49-F238E27FC236}">
                <a16:creationId xmlns:a16="http://schemas.microsoft.com/office/drawing/2014/main" id="{ECC6300D-14F2-40CE-96C6-CBC5F6760BF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Loan lifecycle and stock protection</a:t>
            </a:r>
          </a:p>
        </p:txBody>
      </p:sp>
      <p:sp>
        <p:nvSpPr>
          <p:cNvPr id="2" name="The database enforces availability inside a t">
            <a:extLst xmlns:a="http://schemas.openxmlformats.org/drawingml/2006/main">
              <a:ext uri="{FF2B5EF4-FFF2-40B4-BE49-F238E27FC236}">
                <a16:creationId xmlns:a16="http://schemas.microsoft.com/office/drawing/2014/main" id="{5B94E3D8-2182-477C-A18C-42D5C03EAA65}"/>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The database enforces availability inside a transaction</a:t>
            </a:r>
          </a:p>
        </p:txBody>
      </p:sp>
      <p:sp>
        <p:nvSpPr>
          <p:cNvPr id="3" name="CampusCrate">
            <a:extLst xmlns:a="http://schemas.openxmlformats.org/drawingml/2006/main">
              <a:ext uri="{FF2B5EF4-FFF2-40B4-BE49-F238E27FC236}">
                <a16:creationId xmlns:a16="http://schemas.microsoft.com/office/drawing/2014/main" id="{50640DDA-C768-407D-A5C5-5DECC05C6E8F}"/>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03">
            <a:extLst xmlns:a="http://schemas.openxmlformats.org/drawingml/2006/main">
              <a:ext uri="{FF2B5EF4-FFF2-40B4-BE49-F238E27FC236}">
                <a16:creationId xmlns:a16="http://schemas.microsoft.com/office/drawing/2014/main" id="{99733797-7D61-4C8D-B92D-E0DC80CE4AA2}"/>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03</a:t>
            </a:r>
          </a:p>
        </p:txBody>
      </p:sp>
      <p:sp>
        <p:nvSpPr>
          <p:cNvPr id="5" name="01">
            <a:extLst xmlns:a="http://schemas.openxmlformats.org/drawingml/2006/main">
              <a:ext uri="{FF2B5EF4-FFF2-40B4-BE49-F238E27FC236}">
                <a16:creationId xmlns:a16="http://schemas.microsoft.com/office/drawing/2014/main" id="{91EF47F2-E3EC-4EA2-BB2C-1D6C77699459}"/>
              </a:ext>
            </a:extLst>
          </p:cNvPr>
          <p:cNvSpPr>
            <a:spLocks xmlns:a="http://schemas.openxmlformats.org/drawingml/2006/main" noGrp="1"/>
          </p:cNvSpPr>
          <p:nvPr/>
        </p:nvSpPr>
        <p:spPr>
          <a:xfrm xmlns:a="http://schemas.openxmlformats.org/drawingml/2006/main">
            <a:off x="628650" y="20002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01</a:t>
            </a:r>
          </a:p>
        </p:txBody>
      </p:sp>
      <p:sp>
        <p:nvSpPr>
          <p:cNvPr id="6" name="Borrow">
            <a:extLst xmlns:a="http://schemas.openxmlformats.org/drawingml/2006/main">
              <a:ext uri="{FF2B5EF4-FFF2-40B4-BE49-F238E27FC236}">
                <a16:creationId xmlns:a16="http://schemas.microsoft.com/office/drawing/2014/main" id="{A9A5D00C-82BD-4012-BAB4-88C1314D7197}"/>
              </a:ext>
            </a:extLst>
          </p:cNvPr>
          <p:cNvSpPr>
            <a:spLocks xmlns:a="http://schemas.openxmlformats.org/drawingml/2006/main" noGrp="1"/>
          </p:cNvSpPr>
          <p:nvPr/>
        </p:nvSpPr>
        <p:spPr>
          <a:xfrm xmlns:a="http://schemas.openxmlformats.org/drawingml/2006/main">
            <a:off x="1485900" y="2000250"/>
            <a:ext cx="633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Borrow</a:t>
            </a:r>
          </a:p>
        </p:txBody>
      </p:sp>
      <p:sp>
        <p:nvSpPr>
          <p:cNvPr id="7" name="Lock the equipment row, check stock, then rec">
            <a:extLst xmlns:a="http://schemas.openxmlformats.org/drawingml/2006/main">
              <a:ext uri="{FF2B5EF4-FFF2-40B4-BE49-F238E27FC236}">
                <a16:creationId xmlns:a16="http://schemas.microsoft.com/office/drawing/2014/main" id="{D0FB3B3C-9A13-4DDA-8F3A-29440141404A}"/>
              </a:ext>
            </a:extLst>
          </p:cNvPr>
          <p:cNvSpPr>
            <a:spLocks xmlns:a="http://schemas.openxmlformats.org/drawingml/2006/main" noGrp="1"/>
          </p:cNvSpPr>
          <p:nvPr/>
        </p:nvSpPr>
        <p:spPr>
          <a:xfrm xmlns:a="http://schemas.openxmlformats.org/drawingml/2006/main">
            <a:off x="1485900" y="2428875"/>
            <a:ext cx="633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Lock the equipment row, check stock, then record one loan.</a:t>
            </a:r>
          </a:p>
        </p:txBody>
      </p:sp>
      <p:sp>
        <p:nvSpPr>
          <p:cNvPr id="8" name="02">
            <a:extLst xmlns:a="http://schemas.openxmlformats.org/drawingml/2006/main">
              <a:ext uri="{FF2B5EF4-FFF2-40B4-BE49-F238E27FC236}">
                <a16:creationId xmlns:a16="http://schemas.microsoft.com/office/drawing/2014/main" id="{85014F4B-703A-4CD0-A446-446E8755B017}"/>
              </a:ext>
            </a:extLst>
          </p:cNvPr>
          <p:cNvSpPr>
            <a:spLocks xmlns:a="http://schemas.openxmlformats.org/drawingml/2006/main" noGrp="1"/>
          </p:cNvSpPr>
          <p:nvPr/>
        </p:nvSpPr>
        <p:spPr>
          <a:xfrm xmlns:a="http://schemas.openxmlformats.org/drawingml/2006/main">
            <a:off x="628650" y="3333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02</a:t>
            </a:r>
          </a:p>
        </p:txBody>
      </p:sp>
      <p:sp>
        <p:nvSpPr>
          <p:cNvPr id="9" name="Return">
            <a:extLst xmlns:a="http://schemas.openxmlformats.org/drawingml/2006/main">
              <a:ext uri="{FF2B5EF4-FFF2-40B4-BE49-F238E27FC236}">
                <a16:creationId xmlns:a16="http://schemas.microsoft.com/office/drawing/2014/main" id="{DBE58B11-AD5C-4242-9037-8AC66237C3D8}"/>
              </a:ext>
            </a:extLst>
          </p:cNvPr>
          <p:cNvSpPr>
            <a:spLocks xmlns:a="http://schemas.openxmlformats.org/drawingml/2006/main" noGrp="1"/>
          </p:cNvSpPr>
          <p:nvPr/>
        </p:nvSpPr>
        <p:spPr>
          <a:xfrm xmlns:a="http://schemas.openxmlformats.org/drawingml/2006/main">
            <a:off x="1485900" y="3333750"/>
            <a:ext cx="633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Return</a:t>
            </a:r>
          </a:p>
        </p:txBody>
      </p:sp>
      <p:sp>
        <p:nvSpPr>
          <p:cNvPr id="10" name="Mark the loan returned once and restore avail">
            <a:extLst xmlns:a="http://schemas.openxmlformats.org/drawingml/2006/main">
              <a:ext uri="{FF2B5EF4-FFF2-40B4-BE49-F238E27FC236}">
                <a16:creationId xmlns:a16="http://schemas.microsoft.com/office/drawing/2014/main" id="{1CBC2E5B-B465-404B-B64F-984DB5F828B0}"/>
              </a:ext>
            </a:extLst>
          </p:cNvPr>
          <p:cNvSpPr>
            <a:spLocks xmlns:a="http://schemas.openxmlformats.org/drawingml/2006/main" noGrp="1"/>
          </p:cNvSpPr>
          <p:nvPr/>
        </p:nvSpPr>
        <p:spPr>
          <a:xfrm xmlns:a="http://schemas.openxmlformats.org/drawingml/2006/main">
            <a:off x="1485900" y="3762375"/>
            <a:ext cx="633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Mark the loan returned once and restore availability.</a:t>
            </a:r>
          </a:p>
        </p:txBody>
      </p:sp>
      <p:sp>
        <p:nvSpPr>
          <p:cNvPr id="11" name="03">
            <a:extLst xmlns:a="http://schemas.openxmlformats.org/drawingml/2006/main">
              <a:ext uri="{FF2B5EF4-FFF2-40B4-BE49-F238E27FC236}">
                <a16:creationId xmlns:a16="http://schemas.microsoft.com/office/drawing/2014/main" id="{BFE92BCF-CDBA-477F-A08E-29829871A42B}"/>
              </a:ext>
            </a:extLst>
          </p:cNvPr>
          <p:cNvSpPr>
            <a:spLocks xmlns:a="http://schemas.openxmlformats.org/drawingml/2006/main" noGrp="1"/>
          </p:cNvSpPr>
          <p:nvPr/>
        </p:nvSpPr>
        <p:spPr>
          <a:xfrm xmlns:a="http://schemas.openxmlformats.org/drawingml/2006/main">
            <a:off x="628650" y="46672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03</a:t>
            </a:r>
          </a:p>
        </p:txBody>
      </p:sp>
      <p:sp>
        <p:nvSpPr>
          <p:cNvPr id="12" name="Preserve history">
            <a:extLst xmlns:a="http://schemas.openxmlformats.org/drawingml/2006/main">
              <a:ext uri="{FF2B5EF4-FFF2-40B4-BE49-F238E27FC236}">
                <a16:creationId xmlns:a16="http://schemas.microsoft.com/office/drawing/2014/main" id="{2ADB6EC7-6D1B-4B5C-AF08-3E831BA93AD8}"/>
              </a:ext>
            </a:extLst>
          </p:cNvPr>
          <p:cNvSpPr>
            <a:spLocks xmlns:a="http://schemas.openxmlformats.org/drawingml/2006/main" noGrp="1"/>
          </p:cNvSpPr>
          <p:nvPr/>
        </p:nvSpPr>
        <p:spPr>
          <a:xfrm xmlns:a="http://schemas.openxmlformats.org/drawingml/2006/main">
            <a:off x="1485900" y="4667250"/>
            <a:ext cx="633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Preserve history</a:t>
            </a:r>
          </a:p>
        </p:txBody>
      </p:sp>
      <p:sp>
        <p:nvSpPr>
          <p:cNvPr id="13" name="Reject duplicate returns and preserve equipme">
            <a:extLst xmlns:a="http://schemas.openxmlformats.org/drawingml/2006/main">
              <a:ext uri="{FF2B5EF4-FFF2-40B4-BE49-F238E27FC236}">
                <a16:creationId xmlns:a16="http://schemas.microsoft.com/office/drawing/2014/main" id="{93A0B78A-4745-47D6-891D-185159DCBD4A}"/>
              </a:ext>
            </a:extLst>
          </p:cNvPr>
          <p:cNvSpPr>
            <a:spLocks xmlns:a="http://schemas.openxmlformats.org/drawingml/2006/main" noGrp="1"/>
          </p:cNvSpPr>
          <p:nvPr/>
        </p:nvSpPr>
        <p:spPr>
          <a:xfrm xmlns:a="http://schemas.openxmlformats.org/drawingml/2006/main">
            <a:off x="1485900" y="5095875"/>
            <a:ext cx="633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Reject duplicate returns and preserve equipment loan history.</a:t>
            </a:r>
          </a:p>
        </p:txBody>
      </p:sp>
      <p:pic>
        <p:nvPicPr>
          <p:cNvPr id="14" name="">
            <a:extLst xmlns:a="http://schemas.openxmlformats.org/drawingml/2006/main">
              <a:ext uri="{FF2B5EF4-FFF2-40B4-BE49-F238E27FC236}">
                <a16:creationId xmlns:a16="http://schemas.microsoft.com/office/drawing/2014/main" id="{2DF8A5AB-B28C-49A3-B4A0-B81900F60127}"/>
              </a:ext>
            </a:extLst>
          </p:cNvPr>
          <p:cNvPicPr>
            <a:picLocks xmlns:a="http://schemas.openxmlformats.org/drawingml/2006/main" noChangeAspect="1"/>
          </p:cNvPicPr>
          <p:nvPr/>
        </p:nvPicPr>
        <p:blipFill>
          <a:blip xmlns:r="http://schemas.openxmlformats.org/officeDocument/2006/relationships" xmlns:a="http://schemas.openxmlformats.org/drawingml/2006/main" r:embed="Rb78584661e3f4ea8"/>
          <a:stretch xmlns:a="http://schemas.openxmlformats.org/drawingml/2006/main"/>
        </p:blipFill>
        <p:spPr>
          <a:xfrm xmlns:a="http://schemas.openxmlformats.org/drawingml/2006/main">
            <a:off x="8898088" y="1809750"/>
            <a:ext cx="2015824" cy="4362450"/>
          </a:xfrm>
          <a:prstGeom xmlns:a="http://schemas.openxmlformats.org/drawingml/2006/main" prst="rect">
            <a:avLst/>
          </a:prstGeom>
        </p:spPr>
      </p:pic>
    </p:spTree>
    <p:extLst>
      <p:ext uri="{BB962C8B-B14F-4D97-AF65-F5344CB8AC3E}">
        <p14:creationId xmlns:p14="http://schemas.microsoft.com/office/powerpoint/2010/main" val="1002188335"/>
      </p:ext>
    </p:extLst>
  </p:cSld>
</p:sld>
</file>

<file path=ppt/slides/slide4.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6" name="Application architecture">
            <a:extLst xmlns:a="http://schemas.openxmlformats.org/drawingml/2006/main">
              <a:ext uri="{FF2B5EF4-FFF2-40B4-BE49-F238E27FC236}">
                <a16:creationId xmlns:a16="http://schemas.microsoft.com/office/drawing/2014/main" id="{00CE2FCD-7836-42BD-9678-4B9AAB4AC9A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Application architecture</a:t>
            </a:r>
          </a:p>
        </p:txBody>
      </p:sp>
      <p:sp>
        <p:nvSpPr>
          <p:cNvPr id="2" name="Same-origin API routing keeps the browser and">
            <a:extLst xmlns:a="http://schemas.openxmlformats.org/drawingml/2006/main">
              <a:ext uri="{FF2B5EF4-FFF2-40B4-BE49-F238E27FC236}">
                <a16:creationId xmlns:a16="http://schemas.microsoft.com/office/drawing/2014/main" id="{45F74129-0EEC-4877-91A4-47653296DE64}"/>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Same-origin API routing keeps the browser and backend connected</a:t>
            </a:r>
          </a:p>
        </p:txBody>
      </p:sp>
      <p:sp>
        <p:nvSpPr>
          <p:cNvPr id="3" name="CampusCrate">
            <a:extLst xmlns:a="http://schemas.openxmlformats.org/drawingml/2006/main">
              <a:ext uri="{FF2B5EF4-FFF2-40B4-BE49-F238E27FC236}">
                <a16:creationId xmlns:a16="http://schemas.microsoft.com/office/drawing/2014/main" id="{D6100685-15F2-4718-A616-0BEC8C7B50E7}"/>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04">
            <a:extLst xmlns:a="http://schemas.openxmlformats.org/drawingml/2006/main">
              <a:ext uri="{FF2B5EF4-FFF2-40B4-BE49-F238E27FC236}">
                <a16:creationId xmlns:a16="http://schemas.microsoft.com/office/drawing/2014/main" id="{0E99607E-8240-4EBD-BE57-1A64C7A5B59C}"/>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B064F995-0819-47D0-A1C4-0BE903157D3A}"/>
              </a:ext>
            </a:extLst>
          </p:cNvPr>
          <p:cNvGraphicFramePr/>
          <p:nvPr/>
        </p:nvGraphicFramePr>
        <p:xfrm>
          <a:off xmlns:a="http://schemas.openxmlformats.org/drawingml/2006/main" x="609600" y="1924050"/>
          <a:ext xmlns:a="http://schemas.openxmlformats.org/drawingml/2006/main" cx="10972800" cy="3714750"/>
        </p:xfrm>
        <a:graphic xmlns:a="http://schemas.openxmlformats.org/drawingml/2006/main">
          <a:graphicData uri="http://schemas.openxmlformats.org/drawingml/2006/table">
            <a:tbl>
              <a:tblPr/>
              <a:tblGrid>
                <a:gridCol w="2095500"/>
                <a:gridCol w="3333750"/>
                <a:gridCol w="5543550"/>
              </a:tblGrid>
              <a:tr h="619125">
                <a:tc>
                  <a:txBody>
                    <a:bodyPr/>
                    <a:lstStyle/>
                    <a:p>
                      <a:r>
                        <a:rPr sz="1800" b="1">
                          <a:solidFill>
                            <a:srgbClr val="FFFFFF"/>
                          </a:solidFill>
                          <a:latin typeface="Arial"/>
                          <a:ea typeface="Arial"/>
                          <a:cs typeface="Arial"/>
                        </a:rPr>
                        <a:t>Layer</a:t>
                      </a:r>
                    </a:p>
                  </a:txBody>
                  <a:tcPr marL="91440" marR="91440" marT="45720" marB="45720">
                    <a:lnL w="9525">
                      <a:solidFill>
                        <a:srgbClr val="D6DFD3"/>
                      </a:solidFill>
                      <a:prstDash val="solid"/>
                    </a:lnL>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800" b="1">
                          <a:solidFill>
                            <a:srgbClr val="FFFFFF"/>
                          </a:solidFill>
                          <a:latin typeface="Arial"/>
                          <a:ea typeface="Arial"/>
                          <a:cs typeface="Arial"/>
                        </a:rPr>
                        <a:t>Technology</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800" b="1">
                          <a:solidFill>
                            <a:srgbClr val="FFFFFF"/>
                          </a:solidFill>
                          <a:latin typeface="Arial"/>
                          <a:ea typeface="Arial"/>
                          <a:cs typeface="Arial"/>
                        </a:rPr>
                        <a:t>Responsibility</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r>
              <a:tr h="619125">
                <a:tc>
                  <a:txBody>
                    <a:bodyPr/>
                    <a:lstStyle/>
                    <a:p>
                      <a:r>
                        <a:rPr sz="1800" b="0">
                          <a:solidFill>
                            <a:srgbClr val="183D33"/>
                          </a:solidFill>
                          <a:latin typeface="Arial"/>
                          <a:ea typeface="Arial"/>
                          <a:cs typeface="Arial"/>
                        </a:rPr>
                        <a:t>Browser</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React and Vite</a:t>
                      </a:r>
                    </a:p>
                  </a:txBody>
                  <a:tcPr marL="91440" marR="91440" marT="45720" marB="45720">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Inventory and loan interface</a:t>
                      </a:r>
                    </a:p>
                  </a:txBody>
                  <a:tcPr marL="91440" marR="91440" marT="45720" marB="45720">
                    <a:lnR w="9525">
                      <a:solidFill>
                        <a:srgbClr val="D6DFD3"/>
                      </a:solidFill>
                      <a:prstDash val="solid"/>
                    </a:lnR>
                    <a:lnB w="9525">
                      <a:solidFill>
                        <a:srgbClr val="D6DFD3"/>
                      </a:solidFill>
                      <a:prstDash val="solid"/>
                    </a:lnB>
                    <a:solidFill>
                      <a:srgbClr val="FFFFFF"/>
                    </a:solidFill>
                  </a:tcPr>
                </a:tc>
              </a:tr>
              <a:tr h="619125">
                <a:tc>
                  <a:txBody>
                    <a:bodyPr/>
                    <a:lstStyle/>
                    <a:p>
                      <a:r>
                        <a:rPr sz="1800" b="0">
                          <a:solidFill>
                            <a:srgbClr val="183D33"/>
                          </a:solidFill>
                          <a:latin typeface="Arial"/>
                          <a:ea typeface="Arial"/>
                          <a:cs typeface="Arial"/>
                        </a:rPr>
                        <a:t>Routing</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800" b="0">
                          <a:solidFill>
                            <a:srgbClr val="183D33"/>
                          </a:solidFill>
                          <a:latin typeface="Arial"/>
                          <a:ea typeface="Arial"/>
                          <a:cs typeface="Arial"/>
                        </a:rPr>
                        <a:t>NGINX Ingress</a:t>
                      </a:r>
                    </a:p>
                  </a:txBody>
                  <a:tcPr marL="91440" marR="91440" marT="45720" marB="45720">
                    <a:lnR w="9525">
                      <a:solidFill>
                        <a:srgbClr val="D6DFD3"/>
                      </a:solidFill>
                      <a:prstDash val="solid"/>
                    </a:lnR>
                    <a:lnB w="9525">
                      <a:solidFill>
                        <a:srgbClr val="D6DFD3"/>
                      </a:solidFill>
                      <a:prstDash val="solid"/>
                    </a:lnB>
                    <a:solidFill>
                      <a:srgbClr val="EAF0E2"/>
                    </a:solidFill>
                  </a:tcPr>
                </a:tc>
                <a:tc>
                  <a:txBody>
                    <a:bodyPr/>
                    <a:lstStyle/>
                    <a:p>
                      <a:r>
                        <a:rPr sz="1800" b="0">
                          <a:solidFill>
                            <a:srgbClr val="183D33"/>
                          </a:solidFill>
                          <a:latin typeface="Arial"/>
                          <a:ea typeface="Arial"/>
                          <a:cs typeface="Arial"/>
                        </a:rPr>
                        <a:t>/ to frontend, /api to backend</a:t>
                      </a:r>
                    </a:p>
                  </a:txBody>
                  <a:tcPr marL="91440" marR="91440" marT="45720" marB="45720">
                    <a:lnR w="9525">
                      <a:solidFill>
                        <a:srgbClr val="D6DFD3"/>
                      </a:solidFill>
                      <a:prstDash val="solid"/>
                    </a:lnR>
                    <a:lnB w="9525">
                      <a:solidFill>
                        <a:srgbClr val="D6DFD3"/>
                      </a:solidFill>
                      <a:prstDash val="solid"/>
                    </a:lnB>
                    <a:solidFill>
                      <a:srgbClr val="EAF0E2"/>
                    </a:solidFill>
                  </a:tcPr>
                </a:tc>
              </a:tr>
              <a:tr h="619125">
                <a:tc>
                  <a:txBody>
                    <a:bodyPr/>
                    <a:lstStyle/>
                    <a:p>
                      <a:r>
                        <a:rPr sz="1800" b="0">
                          <a:solidFill>
                            <a:srgbClr val="183D33"/>
                          </a:solidFill>
                          <a:latin typeface="Arial"/>
                          <a:ea typeface="Arial"/>
                          <a:cs typeface="Arial"/>
                        </a:rPr>
                        <a:t>Application</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FastAPI and SQLAlchemy</a:t>
                      </a:r>
                    </a:p>
                  </a:txBody>
                  <a:tcPr marL="91440" marR="91440" marT="45720" marB="45720">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REST APIs and stock transactions</a:t>
                      </a:r>
                    </a:p>
                  </a:txBody>
                  <a:tcPr marL="91440" marR="91440" marT="45720" marB="45720">
                    <a:lnR w="9525">
                      <a:solidFill>
                        <a:srgbClr val="D6DFD3"/>
                      </a:solidFill>
                      <a:prstDash val="solid"/>
                    </a:lnR>
                    <a:lnB w="9525">
                      <a:solidFill>
                        <a:srgbClr val="D6DFD3"/>
                      </a:solidFill>
                      <a:prstDash val="solid"/>
                    </a:lnB>
                    <a:solidFill>
                      <a:srgbClr val="FFFFFF"/>
                    </a:solidFill>
                  </a:tcPr>
                </a:tc>
              </a:tr>
              <a:tr h="619125">
                <a:tc>
                  <a:txBody>
                    <a:bodyPr/>
                    <a:lstStyle/>
                    <a:p>
                      <a:r>
                        <a:rPr sz="1800" b="0">
                          <a:solidFill>
                            <a:srgbClr val="183D33"/>
                          </a:solidFill>
                          <a:latin typeface="Arial"/>
                          <a:ea typeface="Arial"/>
                          <a:cs typeface="Arial"/>
                        </a:rPr>
                        <a:t>Persistence</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800" b="0">
                          <a:solidFill>
                            <a:srgbClr val="183D33"/>
                          </a:solidFill>
                          <a:latin typeface="Arial"/>
                          <a:ea typeface="Arial"/>
                          <a:cs typeface="Arial"/>
                        </a:rPr>
                        <a:t>PostgreSQL and Alembic</a:t>
                      </a:r>
                    </a:p>
                  </a:txBody>
                  <a:tcPr marL="91440" marR="91440" marT="45720" marB="45720">
                    <a:lnR w="9525">
                      <a:solidFill>
                        <a:srgbClr val="D6DFD3"/>
                      </a:solidFill>
                      <a:prstDash val="solid"/>
                    </a:lnR>
                    <a:lnB w="9525">
                      <a:solidFill>
                        <a:srgbClr val="D6DFD3"/>
                      </a:solidFill>
                      <a:prstDash val="solid"/>
                    </a:lnB>
                    <a:solidFill>
                      <a:srgbClr val="EAF0E2"/>
                    </a:solidFill>
                  </a:tcPr>
                </a:tc>
                <a:tc>
                  <a:txBody>
                    <a:bodyPr/>
                    <a:lstStyle/>
                    <a:p>
                      <a:r>
                        <a:rPr sz="1800" b="0">
                          <a:solidFill>
                            <a:srgbClr val="183D33"/>
                          </a:solidFill>
                          <a:latin typeface="Arial"/>
                          <a:ea typeface="Arial"/>
                          <a:cs typeface="Arial"/>
                        </a:rPr>
                        <a:t>Loan ledger and versioned schema</a:t>
                      </a:r>
                    </a:p>
                  </a:txBody>
                  <a:tcPr marL="91440" marR="91440" marT="45720" marB="45720">
                    <a:lnR w="9525">
                      <a:solidFill>
                        <a:srgbClr val="D6DFD3"/>
                      </a:solidFill>
                      <a:prstDash val="solid"/>
                    </a:lnR>
                    <a:lnB w="9525">
                      <a:solidFill>
                        <a:srgbClr val="D6DFD3"/>
                      </a:solidFill>
                      <a:prstDash val="solid"/>
                    </a:lnB>
                    <a:solidFill>
                      <a:srgbClr val="EAF0E2"/>
                    </a:solidFill>
                  </a:tcPr>
                </a:tc>
              </a:tr>
              <a:tr h="619125">
                <a:tc>
                  <a:txBody>
                    <a:bodyPr/>
                    <a:lstStyle/>
                    <a:p>
                      <a:r>
                        <a:rPr sz="1800" b="0">
                          <a:solidFill>
                            <a:srgbClr val="183D33"/>
                          </a:solidFill>
                          <a:latin typeface="Arial"/>
                          <a:ea typeface="Arial"/>
                          <a:cs typeface="Arial"/>
                        </a:rPr>
                        <a:t>Telemetry</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Prometheus and Grafana</a:t>
                      </a:r>
                    </a:p>
                  </a:txBody>
                  <a:tcPr marL="91440" marR="91440" marT="45720" marB="45720">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Scraping, dashboards and alerts</a:t>
                      </a:r>
                    </a:p>
                  </a:txBody>
                  <a:tcPr marL="91440" marR="91440" marT="45720" marB="45720">
                    <a:lnR w="9525">
                      <a:solidFill>
                        <a:srgbClr val="D6DFD3"/>
                      </a:solidFill>
                      <a:prstDash val="solid"/>
                    </a:lnR>
                    <a:lnB w="9525">
                      <a:solidFill>
                        <a:srgbClr val="D6DFD3"/>
                      </a:solidFill>
                      <a:prstDash val="solid"/>
                    </a:lnB>
                    <a:solidFill>
                      <a:srgbClr val="FFFFFF"/>
                    </a:solidFill>
                  </a:tcPr>
                </a:tc>
              </a:tr>
            </a:tbl>
          </a:graphicData>
        </a:graphic>
      </p:graphicFrame>
    </p:spTree>
    <p:extLst>
      <p:ext uri="{BB962C8B-B14F-4D97-AF65-F5344CB8AC3E}">
        <p14:creationId xmlns:p14="http://schemas.microsoft.com/office/powerpoint/2010/main" val="547051774"/>
      </p:ext>
    </p:extLst>
  </p:cSld>
</p:sld>
</file>

<file path=ppt/slides/slide5.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5" name="Docker packaging and startup">
            <a:extLst xmlns:a="http://schemas.openxmlformats.org/drawingml/2006/main">
              <a:ext uri="{FF2B5EF4-FFF2-40B4-BE49-F238E27FC236}">
                <a16:creationId xmlns:a16="http://schemas.microsoft.com/office/drawing/2014/main" id="{BCDBF195-12DA-4B57-BF31-D497E9DF5D5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Docker packaging and startup</a:t>
            </a:r>
          </a:p>
        </p:txBody>
      </p:sp>
      <p:sp>
        <p:nvSpPr>
          <p:cNvPr id="2" name="One Compose command starts the application an">
            <a:extLst xmlns:a="http://schemas.openxmlformats.org/drawingml/2006/main">
              <a:ext uri="{FF2B5EF4-FFF2-40B4-BE49-F238E27FC236}">
                <a16:creationId xmlns:a16="http://schemas.microsoft.com/office/drawing/2014/main" id="{BF1379FD-731F-4F4C-90D9-151EAE5F404D}"/>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One Compose command starts the application and its database</a:t>
            </a:r>
          </a:p>
        </p:txBody>
      </p:sp>
      <p:sp>
        <p:nvSpPr>
          <p:cNvPr id="3" name="CampusCrate">
            <a:extLst xmlns:a="http://schemas.openxmlformats.org/drawingml/2006/main">
              <a:ext uri="{FF2B5EF4-FFF2-40B4-BE49-F238E27FC236}">
                <a16:creationId xmlns:a16="http://schemas.microsoft.com/office/drawing/2014/main" id="{B4642F03-C3D3-48EB-8BB3-B8E0E96A5DB5}"/>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05">
            <a:extLst xmlns:a="http://schemas.openxmlformats.org/drawingml/2006/main">
              <a:ext uri="{FF2B5EF4-FFF2-40B4-BE49-F238E27FC236}">
                <a16:creationId xmlns:a16="http://schemas.microsoft.com/office/drawing/2014/main" id="{C2C64828-81BF-4E2C-8A7E-84D78799745B}"/>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05</a:t>
            </a:r>
          </a:p>
        </p:txBody>
      </p:sp>
      <p:sp>
        <p:nvSpPr>
          <p:cNvPr id="5" name="docker compose up -d --build">
            <a:extLst xmlns:a="http://schemas.openxmlformats.org/drawingml/2006/main">
              <a:ext uri="{FF2B5EF4-FFF2-40B4-BE49-F238E27FC236}">
                <a16:creationId xmlns:a16="http://schemas.microsoft.com/office/drawing/2014/main" id="{BFAEE78D-B5B9-4722-8127-9DAEA9A70BEF}"/>
              </a:ext>
            </a:extLst>
          </p:cNvPr>
          <p:cNvSpPr>
            <a:spLocks xmlns:a="http://schemas.openxmlformats.org/drawingml/2006/main" noGrp="1"/>
          </p:cNvSpPr>
          <p:nvPr/>
        </p:nvSpPr>
        <p:spPr>
          <a:xfrm xmlns:a="http://schemas.openxmlformats.org/drawingml/2006/main">
            <a:off x="628650" y="19526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1">
                <a:solidFill>
                  <a:srgbClr val="28624B"/>
                </a:solidFill>
                <a:latin typeface="Arial"/>
                <a:ea typeface="Arial"/>
                <a:cs typeface="Arial"/>
              </a:defRPr>
            </a:defPPr>
            <a:lvl1pPr>
              <a:defRPr sz="2625" b="1">
                <a:solidFill>
                  <a:srgbClr val="28624B"/>
                </a:solidFill>
                <a:latin typeface="Arial"/>
                <a:ea typeface="Arial"/>
                <a:cs typeface="Arial"/>
              </a:defRPr>
            </a:lvl1pPr>
            <a:lvl2pPr>
              <a:defRPr sz="2625" b="1">
                <a:solidFill>
                  <a:srgbClr val="28624B"/>
                </a:solidFill>
                <a:latin typeface="Arial"/>
                <a:ea typeface="Arial"/>
                <a:cs typeface="Arial"/>
              </a:defRPr>
            </a:lvl2pPr>
            <a:lvl3pPr>
              <a:defRPr sz="2625" b="1">
                <a:solidFill>
                  <a:srgbClr val="28624B"/>
                </a:solidFill>
                <a:latin typeface="Arial"/>
                <a:ea typeface="Arial"/>
                <a:cs typeface="Arial"/>
              </a:defRPr>
            </a:lvl3pPr>
            <a:lvl4pPr>
              <a:defRPr sz="2625" b="1">
                <a:solidFill>
                  <a:srgbClr val="28624B"/>
                </a:solidFill>
                <a:latin typeface="Arial"/>
                <a:ea typeface="Arial"/>
                <a:cs typeface="Arial"/>
              </a:defRPr>
            </a:lvl4pPr>
            <a:lvl5pPr>
              <a:defRPr sz="2625" b="1">
                <a:solidFill>
                  <a:srgbClr val="28624B"/>
                </a:solidFill>
                <a:latin typeface="Arial"/>
                <a:ea typeface="Arial"/>
                <a:cs typeface="Arial"/>
              </a:defRPr>
            </a:lvl5pPr>
            <a:lvl6pPr>
              <a:defRPr sz="2625" b="1">
                <a:solidFill>
                  <a:srgbClr val="28624B"/>
                </a:solidFill>
                <a:latin typeface="Arial"/>
                <a:ea typeface="Arial"/>
                <a:cs typeface="Arial"/>
              </a:defRPr>
            </a:lvl6pPr>
            <a:lvl7pPr>
              <a:defRPr sz="2625" b="1">
                <a:solidFill>
                  <a:srgbClr val="28624B"/>
                </a:solidFill>
                <a:latin typeface="Arial"/>
                <a:ea typeface="Arial"/>
                <a:cs typeface="Arial"/>
              </a:defRPr>
            </a:lvl7pPr>
            <a:lvl8pPr>
              <a:defRPr sz="2625" b="1">
                <a:solidFill>
                  <a:srgbClr val="28624B"/>
                </a:solidFill>
                <a:latin typeface="Arial"/>
                <a:ea typeface="Arial"/>
                <a:cs typeface="Arial"/>
              </a:defRPr>
            </a:lvl8pPr>
            <a:lvl9pPr>
              <a:defRPr sz="2625" b="1">
                <a:solidFill>
                  <a:srgbClr val="28624B"/>
                </a:solidFill>
                <a:latin typeface="Arial"/>
                <a:ea typeface="Arial"/>
                <a:cs typeface="Arial"/>
              </a:defRPr>
            </a:lvl9pPr>
          </a:lstStyle>
          <a:p xmlns:a="http://schemas.openxmlformats.org/drawingml/2006/main">
            <a:pPr>
              <a:defRPr sz="2625" b="1">
                <a:solidFill>
                  <a:srgbClr val="28624B"/>
                </a:solidFill>
                <a:latin typeface="Arial"/>
                <a:ea typeface="Arial"/>
                <a:cs typeface="Arial"/>
              </a:defRPr>
            </a:pPr>
            <a:r>
              <a:rPr sz="2625" b="1">
                <a:solidFill>
                  <a:srgbClr val="28624B"/>
                </a:solidFill>
                <a:latin typeface="Arial"/>
                <a:ea typeface="Arial"/>
                <a:cs typeface="Arial"/>
              </a:rPr>
              <a:t>docker compose up -d --build</a:t>
            </a:r>
          </a:p>
        </p:txBody>
      </p:sp>
      <p:sp>
        <p:nvSpPr>
          <p:cNvPr id="6" name="01">
            <a:extLst xmlns:a="http://schemas.openxmlformats.org/drawingml/2006/main">
              <a:ext uri="{FF2B5EF4-FFF2-40B4-BE49-F238E27FC236}">
                <a16:creationId xmlns:a16="http://schemas.microsoft.com/office/drawing/2014/main" id="{9CF5C9E0-9B38-4474-80C3-6051E685AD3D}"/>
              </a:ext>
            </a:extLst>
          </p:cNvPr>
          <p:cNvSpPr>
            <a:spLocks xmlns:a="http://schemas.openxmlformats.org/drawingml/2006/main" noGrp="1"/>
          </p:cNvSpPr>
          <p:nvPr/>
        </p:nvSpPr>
        <p:spPr>
          <a:xfrm xmlns:a="http://schemas.openxmlformats.org/drawingml/2006/main">
            <a:off x="628650" y="2952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01</a:t>
            </a:r>
          </a:p>
        </p:txBody>
      </p:sp>
      <p:sp>
        <p:nvSpPr>
          <p:cNvPr id="7" name="Database becomes healthy">
            <a:extLst xmlns:a="http://schemas.openxmlformats.org/drawingml/2006/main">
              <a:ext uri="{FF2B5EF4-FFF2-40B4-BE49-F238E27FC236}">
                <a16:creationId xmlns:a16="http://schemas.microsoft.com/office/drawing/2014/main" id="{9D18444F-A14C-4E50-92BC-80C2E98C8273}"/>
              </a:ext>
            </a:extLst>
          </p:cNvPr>
          <p:cNvSpPr>
            <a:spLocks xmlns:a="http://schemas.openxmlformats.org/drawingml/2006/main" noGrp="1"/>
          </p:cNvSpPr>
          <p:nvPr/>
        </p:nvSpPr>
        <p:spPr>
          <a:xfrm xmlns:a="http://schemas.openxmlformats.org/drawingml/2006/main">
            <a:off x="1485900" y="29527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Database becomes healthy</a:t>
            </a:r>
          </a:p>
        </p:txBody>
      </p:sp>
      <p:sp>
        <p:nvSpPr>
          <p:cNvPr id="8" name="PostgreSQL passes its readiness check before ">
            <a:extLst xmlns:a="http://schemas.openxmlformats.org/drawingml/2006/main">
              <a:ext uri="{FF2B5EF4-FFF2-40B4-BE49-F238E27FC236}">
                <a16:creationId xmlns:a16="http://schemas.microsoft.com/office/drawing/2014/main" id="{A20DEC6B-3402-49F0-9D56-448436F2CB77}"/>
              </a:ext>
            </a:extLst>
          </p:cNvPr>
          <p:cNvSpPr>
            <a:spLocks xmlns:a="http://schemas.openxmlformats.org/drawingml/2006/main" noGrp="1"/>
          </p:cNvSpPr>
          <p:nvPr/>
        </p:nvSpPr>
        <p:spPr>
          <a:xfrm xmlns:a="http://schemas.openxmlformats.org/drawingml/2006/main">
            <a:off x="1485900" y="338137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PostgreSQL passes its readiness check before migration.</a:t>
            </a:r>
          </a:p>
        </p:txBody>
      </p:sp>
      <p:sp>
        <p:nvSpPr>
          <p:cNvPr id="9" name="02">
            <a:extLst xmlns:a="http://schemas.openxmlformats.org/drawingml/2006/main">
              <a:ext uri="{FF2B5EF4-FFF2-40B4-BE49-F238E27FC236}">
                <a16:creationId xmlns:a16="http://schemas.microsoft.com/office/drawing/2014/main" id="{5794A8C4-D31F-4E27-BECB-CD4611D17166}"/>
              </a:ext>
            </a:extLst>
          </p:cNvPr>
          <p:cNvSpPr>
            <a:spLocks xmlns:a="http://schemas.openxmlformats.org/drawingml/2006/main" noGrp="1"/>
          </p:cNvSpPr>
          <p:nvPr/>
        </p:nvSpPr>
        <p:spPr>
          <a:xfrm xmlns:a="http://schemas.openxmlformats.org/drawingml/2006/main">
            <a:off x="628650" y="4095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02</a:t>
            </a:r>
          </a:p>
        </p:txBody>
      </p:sp>
      <p:sp>
        <p:nvSpPr>
          <p:cNvPr id="10" name="Migration completes">
            <a:extLst xmlns:a="http://schemas.openxmlformats.org/drawingml/2006/main">
              <a:ext uri="{FF2B5EF4-FFF2-40B4-BE49-F238E27FC236}">
                <a16:creationId xmlns:a16="http://schemas.microsoft.com/office/drawing/2014/main" id="{BB4549D4-B1B4-4E3B-A04A-85F9955F6078}"/>
              </a:ext>
            </a:extLst>
          </p:cNvPr>
          <p:cNvSpPr>
            <a:spLocks xmlns:a="http://schemas.openxmlformats.org/drawingml/2006/main" noGrp="1"/>
          </p:cNvSpPr>
          <p:nvPr/>
        </p:nvSpPr>
        <p:spPr>
          <a:xfrm xmlns:a="http://schemas.openxmlformats.org/drawingml/2006/main">
            <a:off x="1485900" y="40957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Migration completes</a:t>
            </a:r>
          </a:p>
        </p:txBody>
      </p:sp>
      <p:sp>
        <p:nvSpPr>
          <p:cNvPr id="11" name="Alembic upgrades the schema before the API st">
            <a:extLst xmlns:a="http://schemas.openxmlformats.org/drawingml/2006/main">
              <a:ext uri="{FF2B5EF4-FFF2-40B4-BE49-F238E27FC236}">
                <a16:creationId xmlns:a16="http://schemas.microsoft.com/office/drawing/2014/main" id="{C6345E38-9A84-4DEE-9524-D61DE7A8D27F}"/>
              </a:ext>
            </a:extLst>
          </p:cNvPr>
          <p:cNvSpPr>
            <a:spLocks xmlns:a="http://schemas.openxmlformats.org/drawingml/2006/main" noGrp="1"/>
          </p:cNvSpPr>
          <p:nvPr/>
        </p:nvSpPr>
        <p:spPr>
          <a:xfrm xmlns:a="http://schemas.openxmlformats.org/drawingml/2006/main">
            <a:off x="1485900" y="452437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Alembic upgrades the schema before the API starts.</a:t>
            </a:r>
          </a:p>
        </p:txBody>
      </p:sp>
      <p:sp>
        <p:nvSpPr>
          <p:cNvPr id="12" name="03">
            <a:extLst xmlns:a="http://schemas.openxmlformats.org/drawingml/2006/main">
              <a:ext uri="{FF2B5EF4-FFF2-40B4-BE49-F238E27FC236}">
                <a16:creationId xmlns:a16="http://schemas.microsoft.com/office/drawing/2014/main" id="{9033B636-AFC5-4527-80F8-79F4B9C4FAF6}"/>
              </a:ext>
            </a:extLst>
          </p:cNvPr>
          <p:cNvSpPr>
            <a:spLocks xmlns:a="http://schemas.openxmlformats.org/drawingml/2006/main" noGrp="1"/>
          </p:cNvSpPr>
          <p:nvPr/>
        </p:nvSpPr>
        <p:spPr>
          <a:xfrm xmlns:a="http://schemas.openxmlformats.org/drawingml/2006/main">
            <a:off x="628650" y="5238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03</a:t>
            </a:r>
          </a:p>
        </p:txBody>
      </p:sp>
      <p:sp>
        <p:nvSpPr>
          <p:cNvPr id="13" name="Application becomes ready">
            <a:extLst xmlns:a="http://schemas.openxmlformats.org/drawingml/2006/main">
              <a:ext uri="{FF2B5EF4-FFF2-40B4-BE49-F238E27FC236}">
                <a16:creationId xmlns:a16="http://schemas.microsoft.com/office/drawing/2014/main" id="{44FDC417-30A1-4C56-9C75-A4AC9F703078}"/>
              </a:ext>
            </a:extLst>
          </p:cNvPr>
          <p:cNvSpPr>
            <a:spLocks xmlns:a="http://schemas.openxmlformats.org/drawingml/2006/main" noGrp="1"/>
          </p:cNvSpPr>
          <p:nvPr/>
        </p:nvSpPr>
        <p:spPr>
          <a:xfrm xmlns:a="http://schemas.openxmlformats.org/drawingml/2006/main">
            <a:off x="1485900" y="52387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Application becomes ready</a:t>
            </a:r>
          </a:p>
        </p:txBody>
      </p:sp>
      <p:sp>
        <p:nvSpPr>
          <p:cNvPr id="14" name="The frontend waits for the backend readiness ">
            <a:extLst xmlns:a="http://schemas.openxmlformats.org/drawingml/2006/main">
              <a:ext uri="{FF2B5EF4-FFF2-40B4-BE49-F238E27FC236}">
                <a16:creationId xmlns:a16="http://schemas.microsoft.com/office/drawing/2014/main" id="{09F0A4BD-AFF2-44F9-B2FB-57B3FEBDCADB}"/>
              </a:ext>
            </a:extLst>
          </p:cNvPr>
          <p:cNvSpPr>
            <a:spLocks xmlns:a="http://schemas.openxmlformats.org/drawingml/2006/main" noGrp="1"/>
          </p:cNvSpPr>
          <p:nvPr/>
        </p:nvSpPr>
        <p:spPr>
          <a:xfrm xmlns:a="http://schemas.openxmlformats.org/drawingml/2006/main">
            <a:off x="1485900" y="566737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The frontend waits for the backend readiness check.</a:t>
            </a:r>
          </a:p>
        </p:txBody>
      </p:sp>
    </p:spTree>
    <p:extLst>
      <p:ext uri="{BB962C8B-B14F-4D97-AF65-F5344CB8AC3E}">
        <p14:creationId xmlns:p14="http://schemas.microsoft.com/office/powerpoint/2010/main" val="1029388364"/>
      </p:ext>
    </p:extLst>
  </p:cSld>
</p:sld>
</file>

<file path=ppt/slides/slide6.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3" name="Tests include database concurrency">
            <a:extLst xmlns:a="http://schemas.openxmlformats.org/drawingml/2006/main">
              <a:ext uri="{FF2B5EF4-FFF2-40B4-BE49-F238E27FC236}">
                <a16:creationId xmlns:a16="http://schemas.microsoft.com/office/drawing/2014/main" id="{B1AEFD11-856D-4ADC-AD39-FE94845B45CE}"/>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Tests include database concurrency</a:t>
            </a:r>
          </a:p>
        </p:txBody>
      </p:sp>
      <p:sp>
        <p:nvSpPr>
          <p:cNvPr id="2" name="Recorded isolated PostgreSQL run">
            <a:extLst xmlns:a="http://schemas.openxmlformats.org/drawingml/2006/main">
              <a:ext uri="{FF2B5EF4-FFF2-40B4-BE49-F238E27FC236}">
                <a16:creationId xmlns:a16="http://schemas.microsoft.com/office/drawing/2014/main" id="{81491D78-79B0-4DBA-985F-7A4AA285F4D9}"/>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Recorded isolated PostgreSQL run</a:t>
            </a:r>
          </a:p>
        </p:txBody>
      </p:sp>
      <p:sp>
        <p:nvSpPr>
          <p:cNvPr id="3" name="CampusCrate">
            <a:extLst xmlns:a="http://schemas.openxmlformats.org/drawingml/2006/main">
              <a:ext uri="{FF2B5EF4-FFF2-40B4-BE49-F238E27FC236}">
                <a16:creationId xmlns:a16="http://schemas.microsoft.com/office/drawing/2014/main" id="{A687AA1B-8087-4FFB-A779-60B8FD86B761}"/>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06">
            <a:extLst xmlns:a="http://schemas.openxmlformats.org/drawingml/2006/main">
              <a:ext uri="{FF2B5EF4-FFF2-40B4-BE49-F238E27FC236}">
                <a16:creationId xmlns:a16="http://schemas.microsoft.com/office/drawing/2014/main" id="{8E809E5D-A2EF-4B29-81FC-7CA70A5CA525}"/>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06</a:t>
            </a:r>
          </a:p>
        </p:txBody>
      </p:sp>
      <p:sp>
        <p:nvSpPr>
          <p:cNvPr id="5" name="18">
            <a:extLst xmlns:a="http://schemas.openxmlformats.org/drawingml/2006/main">
              <a:ext uri="{FF2B5EF4-FFF2-40B4-BE49-F238E27FC236}">
                <a16:creationId xmlns:a16="http://schemas.microsoft.com/office/drawing/2014/main" id="{AB579E71-145B-48A5-BDAB-DBD02E0CF1CB}"/>
              </a:ext>
            </a:extLst>
          </p:cNvPr>
          <p:cNvSpPr>
            <a:spLocks xmlns:a="http://schemas.openxmlformats.org/drawingml/2006/main" noGrp="1"/>
          </p:cNvSpPr>
          <p:nvPr/>
        </p:nvSpPr>
        <p:spPr>
          <a:xfrm xmlns:a="http://schemas.openxmlformats.org/drawingml/2006/main">
            <a:off x="609600" y="1905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8100" b="1">
                <a:solidFill>
                  <a:srgbClr val="28624B"/>
                </a:solidFill>
                <a:latin typeface="Arial"/>
                <a:ea typeface="Arial"/>
                <a:cs typeface="Arial"/>
              </a:defRPr>
            </a:defPPr>
            <a:lvl1pPr>
              <a:defRPr sz="8100" b="1">
                <a:solidFill>
                  <a:srgbClr val="28624B"/>
                </a:solidFill>
                <a:latin typeface="Arial"/>
                <a:ea typeface="Arial"/>
                <a:cs typeface="Arial"/>
              </a:defRPr>
            </a:lvl1pPr>
            <a:lvl2pPr>
              <a:defRPr sz="8100" b="1">
                <a:solidFill>
                  <a:srgbClr val="28624B"/>
                </a:solidFill>
                <a:latin typeface="Arial"/>
                <a:ea typeface="Arial"/>
                <a:cs typeface="Arial"/>
              </a:defRPr>
            </a:lvl2pPr>
            <a:lvl3pPr>
              <a:defRPr sz="8100" b="1">
                <a:solidFill>
                  <a:srgbClr val="28624B"/>
                </a:solidFill>
                <a:latin typeface="Arial"/>
                <a:ea typeface="Arial"/>
                <a:cs typeface="Arial"/>
              </a:defRPr>
            </a:lvl3pPr>
            <a:lvl4pPr>
              <a:defRPr sz="8100" b="1">
                <a:solidFill>
                  <a:srgbClr val="28624B"/>
                </a:solidFill>
                <a:latin typeface="Arial"/>
                <a:ea typeface="Arial"/>
                <a:cs typeface="Arial"/>
              </a:defRPr>
            </a:lvl4pPr>
            <a:lvl5pPr>
              <a:defRPr sz="8100" b="1">
                <a:solidFill>
                  <a:srgbClr val="28624B"/>
                </a:solidFill>
                <a:latin typeface="Arial"/>
                <a:ea typeface="Arial"/>
                <a:cs typeface="Arial"/>
              </a:defRPr>
            </a:lvl5pPr>
            <a:lvl6pPr>
              <a:defRPr sz="8100" b="1">
                <a:solidFill>
                  <a:srgbClr val="28624B"/>
                </a:solidFill>
                <a:latin typeface="Arial"/>
                <a:ea typeface="Arial"/>
                <a:cs typeface="Arial"/>
              </a:defRPr>
            </a:lvl6pPr>
            <a:lvl7pPr>
              <a:defRPr sz="8100" b="1">
                <a:solidFill>
                  <a:srgbClr val="28624B"/>
                </a:solidFill>
                <a:latin typeface="Arial"/>
                <a:ea typeface="Arial"/>
                <a:cs typeface="Arial"/>
              </a:defRPr>
            </a:lvl7pPr>
            <a:lvl8pPr>
              <a:defRPr sz="8100" b="1">
                <a:solidFill>
                  <a:srgbClr val="28624B"/>
                </a:solidFill>
                <a:latin typeface="Arial"/>
                <a:ea typeface="Arial"/>
                <a:cs typeface="Arial"/>
              </a:defRPr>
            </a:lvl8pPr>
            <a:lvl9pPr>
              <a:defRPr sz="8100" b="1">
                <a:solidFill>
                  <a:srgbClr val="28624B"/>
                </a:solidFill>
                <a:latin typeface="Arial"/>
                <a:ea typeface="Arial"/>
                <a:cs typeface="Arial"/>
              </a:defRPr>
            </a:lvl9pPr>
          </a:lstStyle>
          <a:p xmlns:a="http://schemas.openxmlformats.org/drawingml/2006/main">
            <a:pPr>
              <a:defRPr sz="8100" b="1">
                <a:solidFill>
                  <a:srgbClr val="28624B"/>
                </a:solidFill>
                <a:latin typeface="Arial"/>
                <a:ea typeface="Arial"/>
                <a:cs typeface="Arial"/>
              </a:defRPr>
            </a:pPr>
            <a:r>
              <a:rPr sz="8100" b="1">
                <a:solidFill>
                  <a:srgbClr val="28624B"/>
                </a:solidFill>
                <a:latin typeface="Arial"/>
                <a:ea typeface="Arial"/>
                <a:cs typeface="Arial"/>
              </a:rPr>
              <a:t>18</a:t>
            </a:r>
          </a:p>
        </p:txBody>
      </p:sp>
      <p:sp>
        <p:nvSpPr>
          <p:cNvPr id="6" name="tests passed">
            <a:extLst xmlns:a="http://schemas.openxmlformats.org/drawingml/2006/main">
              <a:ext uri="{FF2B5EF4-FFF2-40B4-BE49-F238E27FC236}">
                <a16:creationId xmlns:a16="http://schemas.microsoft.com/office/drawing/2014/main" id="{58AE306D-ACF0-4F0B-9F37-6ED617EE06C1}"/>
              </a:ext>
            </a:extLst>
          </p:cNvPr>
          <p:cNvSpPr>
            <a:spLocks xmlns:a="http://schemas.openxmlformats.org/drawingml/2006/main" noGrp="1"/>
          </p:cNvSpPr>
          <p:nvPr/>
        </p:nvSpPr>
        <p:spPr>
          <a:xfrm xmlns:a="http://schemas.openxmlformats.org/drawingml/2006/main">
            <a:off x="666750" y="31718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83D33"/>
                </a:solidFill>
                <a:latin typeface="Arial"/>
                <a:ea typeface="Arial"/>
                <a:cs typeface="Arial"/>
              </a:defRPr>
            </a:defPPr>
            <a:lvl1pPr>
              <a:defRPr sz="2400" b="0">
                <a:solidFill>
                  <a:srgbClr val="183D33"/>
                </a:solidFill>
                <a:latin typeface="Arial"/>
                <a:ea typeface="Arial"/>
                <a:cs typeface="Arial"/>
              </a:defRPr>
            </a:lvl1pPr>
            <a:lvl2pPr>
              <a:defRPr sz="2400" b="0">
                <a:solidFill>
                  <a:srgbClr val="183D33"/>
                </a:solidFill>
                <a:latin typeface="Arial"/>
                <a:ea typeface="Arial"/>
                <a:cs typeface="Arial"/>
              </a:defRPr>
            </a:lvl2pPr>
            <a:lvl3pPr>
              <a:defRPr sz="2400" b="0">
                <a:solidFill>
                  <a:srgbClr val="183D33"/>
                </a:solidFill>
                <a:latin typeface="Arial"/>
                <a:ea typeface="Arial"/>
                <a:cs typeface="Arial"/>
              </a:defRPr>
            </a:lvl3pPr>
            <a:lvl4pPr>
              <a:defRPr sz="2400" b="0">
                <a:solidFill>
                  <a:srgbClr val="183D33"/>
                </a:solidFill>
                <a:latin typeface="Arial"/>
                <a:ea typeface="Arial"/>
                <a:cs typeface="Arial"/>
              </a:defRPr>
            </a:lvl4pPr>
            <a:lvl5pPr>
              <a:defRPr sz="2400" b="0">
                <a:solidFill>
                  <a:srgbClr val="183D33"/>
                </a:solidFill>
                <a:latin typeface="Arial"/>
                <a:ea typeface="Arial"/>
                <a:cs typeface="Arial"/>
              </a:defRPr>
            </a:lvl5pPr>
            <a:lvl6pPr>
              <a:defRPr sz="2400" b="0">
                <a:solidFill>
                  <a:srgbClr val="183D33"/>
                </a:solidFill>
                <a:latin typeface="Arial"/>
                <a:ea typeface="Arial"/>
                <a:cs typeface="Arial"/>
              </a:defRPr>
            </a:lvl6pPr>
            <a:lvl7pPr>
              <a:defRPr sz="2400" b="0">
                <a:solidFill>
                  <a:srgbClr val="183D33"/>
                </a:solidFill>
                <a:latin typeface="Arial"/>
                <a:ea typeface="Arial"/>
                <a:cs typeface="Arial"/>
              </a:defRPr>
            </a:lvl7pPr>
            <a:lvl8pPr>
              <a:defRPr sz="2400" b="0">
                <a:solidFill>
                  <a:srgbClr val="183D33"/>
                </a:solidFill>
                <a:latin typeface="Arial"/>
                <a:ea typeface="Arial"/>
                <a:cs typeface="Arial"/>
              </a:defRPr>
            </a:lvl8pPr>
            <a:lvl9pPr>
              <a:defRPr sz="2400" b="0">
                <a:solidFill>
                  <a:srgbClr val="183D33"/>
                </a:solidFill>
                <a:latin typeface="Arial"/>
                <a:ea typeface="Arial"/>
                <a:cs typeface="Arial"/>
              </a:defRPr>
            </a:lvl9pPr>
          </a:lstStyle>
          <a:p xmlns:a="http://schemas.openxmlformats.org/drawingml/2006/main">
            <a:pPr>
              <a:defRPr sz="2400" b="0">
                <a:solidFill>
                  <a:srgbClr val="183D33"/>
                </a:solidFill>
                <a:latin typeface="Arial"/>
                <a:ea typeface="Arial"/>
                <a:cs typeface="Arial"/>
              </a:defRPr>
            </a:pPr>
            <a:r>
              <a:rPr sz="2400" b="0">
                <a:solidFill>
                  <a:srgbClr val="183D33"/>
                </a:solidFill>
                <a:latin typeface="Arial"/>
                <a:ea typeface="Arial"/>
                <a:cs typeface="Arial"/>
              </a:rPr>
              <a:t>tests passed</a:t>
            </a:r>
          </a:p>
        </p:txBody>
      </p:sp>
      <p:sp>
        <p:nvSpPr>
          <p:cNvPr id="7" name="90.22%">
            <a:extLst xmlns:a="http://schemas.openxmlformats.org/drawingml/2006/main">
              <a:ext uri="{FF2B5EF4-FFF2-40B4-BE49-F238E27FC236}">
                <a16:creationId xmlns:a16="http://schemas.microsoft.com/office/drawing/2014/main" id="{0985F3AC-6E8D-42E1-880E-A441946D46F0}"/>
              </a:ext>
            </a:extLst>
          </p:cNvPr>
          <p:cNvSpPr>
            <a:spLocks xmlns:a="http://schemas.openxmlformats.org/drawingml/2006/main" noGrp="1"/>
          </p:cNvSpPr>
          <p:nvPr/>
        </p:nvSpPr>
        <p:spPr>
          <a:xfrm xmlns:a="http://schemas.openxmlformats.org/drawingml/2006/main">
            <a:off x="609600" y="419100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5700" b="1">
                <a:solidFill>
                  <a:srgbClr val="28624B"/>
                </a:solidFill>
                <a:latin typeface="Arial"/>
                <a:ea typeface="Arial"/>
                <a:cs typeface="Arial"/>
              </a:defRPr>
            </a:defPPr>
            <a:lvl1pPr>
              <a:defRPr sz="5700" b="1">
                <a:solidFill>
                  <a:srgbClr val="28624B"/>
                </a:solidFill>
                <a:latin typeface="Arial"/>
                <a:ea typeface="Arial"/>
                <a:cs typeface="Arial"/>
              </a:defRPr>
            </a:lvl1pPr>
            <a:lvl2pPr>
              <a:defRPr sz="5700" b="1">
                <a:solidFill>
                  <a:srgbClr val="28624B"/>
                </a:solidFill>
                <a:latin typeface="Arial"/>
                <a:ea typeface="Arial"/>
                <a:cs typeface="Arial"/>
              </a:defRPr>
            </a:lvl2pPr>
            <a:lvl3pPr>
              <a:defRPr sz="5700" b="1">
                <a:solidFill>
                  <a:srgbClr val="28624B"/>
                </a:solidFill>
                <a:latin typeface="Arial"/>
                <a:ea typeface="Arial"/>
                <a:cs typeface="Arial"/>
              </a:defRPr>
            </a:lvl3pPr>
            <a:lvl4pPr>
              <a:defRPr sz="5700" b="1">
                <a:solidFill>
                  <a:srgbClr val="28624B"/>
                </a:solidFill>
                <a:latin typeface="Arial"/>
                <a:ea typeface="Arial"/>
                <a:cs typeface="Arial"/>
              </a:defRPr>
            </a:lvl4pPr>
            <a:lvl5pPr>
              <a:defRPr sz="5700" b="1">
                <a:solidFill>
                  <a:srgbClr val="28624B"/>
                </a:solidFill>
                <a:latin typeface="Arial"/>
                <a:ea typeface="Arial"/>
                <a:cs typeface="Arial"/>
              </a:defRPr>
            </a:lvl5pPr>
            <a:lvl6pPr>
              <a:defRPr sz="5700" b="1">
                <a:solidFill>
                  <a:srgbClr val="28624B"/>
                </a:solidFill>
                <a:latin typeface="Arial"/>
                <a:ea typeface="Arial"/>
                <a:cs typeface="Arial"/>
              </a:defRPr>
            </a:lvl6pPr>
            <a:lvl7pPr>
              <a:defRPr sz="5700" b="1">
                <a:solidFill>
                  <a:srgbClr val="28624B"/>
                </a:solidFill>
                <a:latin typeface="Arial"/>
                <a:ea typeface="Arial"/>
                <a:cs typeface="Arial"/>
              </a:defRPr>
            </a:lvl7pPr>
            <a:lvl8pPr>
              <a:defRPr sz="5700" b="1">
                <a:solidFill>
                  <a:srgbClr val="28624B"/>
                </a:solidFill>
                <a:latin typeface="Arial"/>
                <a:ea typeface="Arial"/>
                <a:cs typeface="Arial"/>
              </a:defRPr>
            </a:lvl8pPr>
            <a:lvl9pPr>
              <a:defRPr sz="5700" b="1">
                <a:solidFill>
                  <a:srgbClr val="28624B"/>
                </a:solidFill>
                <a:latin typeface="Arial"/>
                <a:ea typeface="Arial"/>
                <a:cs typeface="Arial"/>
              </a:defRPr>
            </a:lvl9pPr>
          </a:lstStyle>
          <a:p xmlns:a="http://schemas.openxmlformats.org/drawingml/2006/main">
            <a:pPr>
              <a:defRPr sz="5700" b="1">
                <a:solidFill>
                  <a:srgbClr val="28624B"/>
                </a:solidFill>
                <a:latin typeface="Arial"/>
                <a:ea typeface="Arial"/>
                <a:cs typeface="Arial"/>
              </a:defRPr>
            </a:pPr>
            <a:r>
              <a:rPr sz="5700" b="1">
                <a:solidFill>
                  <a:srgbClr val="28624B"/>
                </a:solidFill>
                <a:latin typeface="Arial"/>
                <a:ea typeface="Arial"/>
                <a:cs typeface="Arial"/>
              </a:rPr>
              <a:t>90.22%</a:t>
            </a:r>
          </a:p>
        </p:txBody>
      </p:sp>
      <p:sp>
        <p:nvSpPr>
          <p:cNvPr id="8" name="overall statement coverage">
            <a:extLst xmlns:a="http://schemas.openxmlformats.org/drawingml/2006/main">
              <a:ext uri="{FF2B5EF4-FFF2-40B4-BE49-F238E27FC236}">
                <a16:creationId xmlns:a16="http://schemas.microsoft.com/office/drawing/2014/main" id="{B1A3A9FC-3BE6-468A-9E77-A506B788524D}"/>
              </a:ext>
            </a:extLst>
          </p:cNvPr>
          <p:cNvSpPr>
            <a:spLocks xmlns:a="http://schemas.openxmlformats.org/drawingml/2006/main" noGrp="1"/>
          </p:cNvSpPr>
          <p:nvPr/>
        </p:nvSpPr>
        <p:spPr>
          <a:xfrm xmlns:a="http://schemas.openxmlformats.org/drawingml/2006/main">
            <a:off x="666750" y="52387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3665C"/>
                </a:solidFill>
                <a:latin typeface="Arial"/>
                <a:ea typeface="Arial"/>
                <a:cs typeface="Arial"/>
              </a:defRPr>
            </a:defPPr>
            <a:lvl1pPr>
              <a:defRPr sz="2025" b="0">
                <a:solidFill>
                  <a:srgbClr val="53665C"/>
                </a:solidFill>
                <a:latin typeface="Arial"/>
                <a:ea typeface="Arial"/>
                <a:cs typeface="Arial"/>
              </a:defRPr>
            </a:lvl1pPr>
            <a:lvl2pPr>
              <a:defRPr sz="2025" b="0">
                <a:solidFill>
                  <a:srgbClr val="53665C"/>
                </a:solidFill>
                <a:latin typeface="Arial"/>
                <a:ea typeface="Arial"/>
                <a:cs typeface="Arial"/>
              </a:defRPr>
            </a:lvl2pPr>
            <a:lvl3pPr>
              <a:defRPr sz="2025" b="0">
                <a:solidFill>
                  <a:srgbClr val="53665C"/>
                </a:solidFill>
                <a:latin typeface="Arial"/>
                <a:ea typeface="Arial"/>
                <a:cs typeface="Arial"/>
              </a:defRPr>
            </a:lvl3pPr>
            <a:lvl4pPr>
              <a:defRPr sz="2025" b="0">
                <a:solidFill>
                  <a:srgbClr val="53665C"/>
                </a:solidFill>
                <a:latin typeface="Arial"/>
                <a:ea typeface="Arial"/>
                <a:cs typeface="Arial"/>
              </a:defRPr>
            </a:lvl4pPr>
            <a:lvl5pPr>
              <a:defRPr sz="2025" b="0">
                <a:solidFill>
                  <a:srgbClr val="53665C"/>
                </a:solidFill>
                <a:latin typeface="Arial"/>
                <a:ea typeface="Arial"/>
                <a:cs typeface="Arial"/>
              </a:defRPr>
            </a:lvl5pPr>
            <a:lvl6pPr>
              <a:defRPr sz="2025" b="0">
                <a:solidFill>
                  <a:srgbClr val="53665C"/>
                </a:solidFill>
                <a:latin typeface="Arial"/>
                <a:ea typeface="Arial"/>
                <a:cs typeface="Arial"/>
              </a:defRPr>
            </a:lvl6pPr>
            <a:lvl7pPr>
              <a:defRPr sz="2025" b="0">
                <a:solidFill>
                  <a:srgbClr val="53665C"/>
                </a:solidFill>
                <a:latin typeface="Arial"/>
                <a:ea typeface="Arial"/>
                <a:cs typeface="Arial"/>
              </a:defRPr>
            </a:lvl7pPr>
            <a:lvl8pPr>
              <a:defRPr sz="2025" b="0">
                <a:solidFill>
                  <a:srgbClr val="53665C"/>
                </a:solidFill>
                <a:latin typeface="Arial"/>
                <a:ea typeface="Arial"/>
                <a:cs typeface="Arial"/>
              </a:defRPr>
            </a:lvl8pPr>
            <a:lvl9pPr>
              <a:defRPr sz="2025" b="0">
                <a:solidFill>
                  <a:srgbClr val="53665C"/>
                </a:solidFill>
                <a:latin typeface="Arial"/>
                <a:ea typeface="Arial"/>
                <a:cs typeface="Arial"/>
              </a:defRPr>
            </a:lvl9pPr>
          </a:lstStyle>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overall statement coverage</a:t>
            </a:r>
          </a:p>
        </p:txBody>
      </p:sp>
      <p:sp>
        <p:nvSpPr>
          <p:cNvPr id="9" name="Business rules">
            <a:extLst xmlns:a="http://schemas.openxmlformats.org/drawingml/2006/main">
              <a:ext uri="{FF2B5EF4-FFF2-40B4-BE49-F238E27FC236}">
                <a16:creationId xmlns:a16="http://schemas.microsoft.com/office/drawing/2014/main" id="{97F26E55-9102-4B57-83BA-0B2B7C5A5263}"/>
              </a:ext>
            </a:extLst>
          </p:cNvPr>
          <p:cNvSpPr>
            <a:spLocks xmlns:a="http://schemas.openxmlformats.org/drawingml/2006/main" noGrp="1"/>
          </p:cNvSpPr>
          <p:nvPr/>
        </p:nvSpPr>
        <p:spPr>
          <a:xfrm xmlns:a="http://schemas.openxmlformats.org/drawingml/2006/main">
            <a:off x="6191250" y="20002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83D33"/>
                </a:solidFill>
                <a:latin typeface="Arial"/>
                <a:ea typeface="Arial"/>
                <a:cs typeface="Arial"/>
              </a:defRPr>
            </a:defPPr>
            <a:lvl1pPr>
              <a:defRPr sz="2250" b="1">
                <a:solidFill>
                  <a:srgbClr val="183D33"/>
                </a:solidFill>
                <a:latin typeface="Arial"/>
                <a:ea typeface="Arial"/>
                <a:cs typeface="Arial"/>
              </a:defRPr>
            </a:lvl1pPr>
            <a:lvl2pPr>
              <a:defRPr sz="2250" b="1">
                <a:solidFill>
                  <a:srgbClr val="183D33"/>
                </a:solidFill>
                <a:latin typeface="Arial"/>
                <a:ea typeface="Arial"/>
                <a:cs typeface="Arial"/>
              </a:defRPr>
            </a:lvl2pPr>
            <a:lvl3pPr>
              <a:defRPr sz="2250" b="1">
                <a:solidFill>
                  <a:srgbClr val="183D33"/>
                </a:solidFill>
                <a:latin typeface="Arial"/>
                <a:ea typeface="Arial"/>
                <a:cs typeface="Arial"/>
              </a:defRPr>
            </a:lvl3pPr>
            <a:lvl4pPr>
              <a:defRPr sz="2250" b="1">
                <a:solidFill>
                  <a:srgbClr val="183D33"/>
                </a:solidFill>
                <a:latin typeface="Arial"/>
                <a:ea typeface="Arial"/>
                <a:cs typeface="Arial"/>
              </a:defRPr>
            </a:lvl4pPr>
            <a:lvl5pPr>
              <a:defRPr sz="2250" b="1">
                <a:solidFill>
                  <a:srgbClr val="183D33"/>
                </a:solidFill>
                <a:latin typeface="Arial"/>
                <a:ea typeface="Arial"/>
                <a:cs typeface="Arial"/>
              </a:defRPr>
            </a:lvl5pPr>
            <a:lvl6pPr>
              <a:defRPr sz="2250" b="1">
                <a:solidFill>
                  <a:srgbClr val="183D33"/>
                </a:solidFill>
                <a:latin typeface="Arial"/>
                <a:ea typeface="Arial"/>
                <a:cs typeface="Arial"/>
              </a:defRPr>
            </a:lvl6pPr>
            <a:lvl7pPr>
              <a:defRPr sz="2250" b="1">
                <a:solidFill>
                  <a:srgbClr val="183D33"/>
                </a:solidFill>
                <a:latin typeface="Arial"/>
                <a:ea typeface="Arial"/>
                <a:cs typeface="Arial"/>
              </a:defRPr>
            </a:lvl7pPr>
            <a:lvl8pPr>
              <a:defRPr sz="2250" b="1">
                <a:solidFill>
                  <a:srgbClr val="183D33"/>
                </a:solidFill>
                <a:latin typeface="Arial"/>
                <a:ea typeface="Arial"/>
                <a:cs typeface="Arial"/>
              </a:defRPr>
            </a:lvl8pPr>
            <a:lvl9pPr>
              <a:defRPr sz="2250" b="1">
                <a:solidFill>
                  <a:srgbClr val="183D33"/>
                </a:solidFill>
                <a:latin typeface="Arial"/>
                <a:ea typeface="Arial"/>
                <a:cs typeface="Arial"/>
              </a:defRPr>
            </a:lvl9pPr>
          </a:lstStyle>
          <a:p xmlns:a="http://schemas.openxmlformats.org/drawingml/2006/main">
            <a:pPr>
              <a:defRPr sz="2250" b="1">
                <a:solidFill>
                  <a:srgbClr val="183D33"/>
                </a:solidFill>
                <a:latin typeface="Arial"/>
                <a:ea typeface="Arial"/>
                <a:cs typeface="Arial"/>
              </a:defRPr>
            </a:pPr>
            <a:r>
              <a:rPr sz="2250" b="1">
                <a:solidFill>
                  <a:srgbClr val="183D33"/>
                </a:solidFill>
                <a:latin typeface="Arial"/>
                <a:ea typeface="Arial"/>
                <a:cs typeface="Arial"/>
              </a:rPr>
              <a:t>Business rules</a:t>
            </a:r>
          </a:p>
        </p:txBody>
      </p:sp>
      <p:sp>
        <p:nvSpPr>
          <p:cNvPr id="10" name="CRUD, validation, overdue status,&#10;loan histor">
            <a:extLst xmlns:a="http://schemas.openxmlformats.org/drawingml/2006/main">
              <a:ext uri="{FF2B5EF4-FFF2-40B4-BE49-F238E27FC236}">
                <a16:creationId xmlns:a16="http://schemas.microsoft.com/office/drawing/2014/main" id="{91FF0181-E6DC-447A-830A-1DF3D434A4CC}"/>
              </a:ext>
            </a:extLst>
          </p:cNvPr>
          <p:cNvSpPr>
            <a:spLocks xmlns:a="http://schemas.openxmlformats.org/drawingml/2006/main" noGrp="1"/>
          </p:cNvSpPr>
          <p:nvPr/>
        </p:nvSpPr>
        <p:spPr>
          <a:xfrm xmlns:a="http://schemas.openxmlformats.org/drawingml/2006/main">
            <a:off x="6191250" y="25908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3665C"/>
                </a:solidFill>
                <a:latin typeface="Arial"/>
                <a:ea typeface="Arial"/>
                <a:cs typeface="Arial"/>
              </a:defRPr>
            </a:defPPr>
            <a:lvl1pPr>
              <a:defRPr sz="2025" b="0">
                <a:solidFill>
                  <a:srgbClr val="53665C"/>
                </a:solidFill>
                <a:latin typeface="Arial"/>
                <a:ea typeface="Arial"/>
                <a:cs typeface="Arial"/>
              </a:defRPr>
            </a:lvl1pPr>
            <a:lvl2pPr>
              <a:defRPr sz="2025" b="0">
                <a:solidFill>
                  <a:srgbClr val="53665C"/>
                </a:solidFill>
                <a:latin typeface="Arial"/>
                <a:ea typeface="Arial"/>
                <a:cs typeface="Arial"/>
              </a:defRPr>
            </a:lvl2pPr>
            <a:lvl3pPr>
              <a:defRPr sz="2025" b="0">
                <a:solidFill>
                  <a:srgbClr val="53665C"/>
                </a:solidFill>
                <a:latin typeface="Arial"/>
                <a:ea typeface="Arial"/>
                <a:cs typeface="Arial"/>
              </a:defRPr>
            </a:lvl3pPr>
            <a:lvl4pPr>
              <a:defRPr sz="2025" b="0">
                <a:solidFill>
                  <a:srgbClr val="53665C"/>
                </a:solidFill>
                <a:latin typeface="Arial"/>
                <a:ea typeface="Arial"/>
                <a:cs typeface="Arial"/>
              </a:defRPr>
            </a:lvl4pPr>
            <a:lvl5pPr>
              <a:defRPr sz="2025" b="0">
                <a:solidFill>
                  <a:srgbClr val="53665C"/>
                </a:solidFill>
                <a:latin typeface="Arial"/>
                <a:ea typeface="Arial"/>
                <a:cs typeface="Arial"/>
              </a:defRPr>
            </a:lvl5pPr>
            <a:lvl6pPr>
              <a:defRPr sz="2025" b="0">
                <a:solidFill>
                  <a:srgbClr val="53665C"/>
                </a:solidFill>
                <a:latin typeface="Arial"/>
                <a:ea typeface="Arial"/>
                <a:cs typeface="Arial"/>
              </a:defRPr>
            </a:lvl6pPr>
            <a:lvl7pPr>
              <a:defRPr sz="2025" b="0">
                <a:solidFill>
                  <a:srgbClr val="53665C"/>
                </a:solidFill>
                <a:latin typeface="Arial"/>
                <a:ea typeface="Arial"/>
                <a:cs typeface="Arial"/>
              </a:defRPr>
            </a:lvl7pPr>
            <a:lvl8pPr>
              <a:defRPr sz="2025" b="0">
                <a:solidFill>
                  <a:srgbClr val="53665C"/>
                </a:solidFill>
                <a:latin typeface="Arial"/>
                <a:ea typeface="Arial"/>
                <a:cs typeface="Arial"/>
              </a:defRPr>
            </a:lvl8pPr>
            <a:lvl9pPr>
              <a:defRPr sz="2025" b="0">
                <a:solidFill>
                  <a:srgbClr val="53665C"/>
                </a:solidFill>
                <a:latin typeface="Arial"/>
                <a:ea typeface="Arial"/>
                <a:cs typeface="Arial"/>
              </a:defRPr>
            </a:lvl9pPr>
          </a:lstStyle>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CRUD, validation, overdue status,</a:t>
            </a:r>
          </a:p>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loan history and readiness failure</a:t>
            </a:r>
          </a:p>
        </p:txBody>
      </p:sp>
      <p:sp>
        <p:nvSpPr>
          <p:cNvPr id="11" name="Race conditions">
            <a:extLst xmlns:a="http://schemas.openxmlformats.org/drawingml/2006/main">
              <a:ext uri="{FF2B5EF4-FFF2-40B4-BE49-F238E27FC236}">
                <a16:creationId xmlns:a16="http://schemas.microsoft.com/office/drawing/2014/main" id="{B9D1150E-047D-45D7-BC97-B890517CD457}"/>
              </a:ext>
            </a:extLst>
          </p:cNvPr>
          <p:cNvSpPr>
            <a:spLocks xmlns:a="http://schemas.openxmlformats.org/drawingml/2006/main" noGrp="1"/>
          </p:cNvSpPr>
          <p:nvPr/>
        </p:nvSpPr>
        <p:spPr>
          <a:xfrm xmlns:a="http://schemas.openxmlformats.org/drawingml/2006/main">
            <a:off x="6191250" y="39338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83D33"/>
                </a:solidFill>
                <a:latin typeface="Arial"/>
                <a:ea typeface="Arial"/>
                <a:cs typeface="Arial"/>
              </a:defRPr>
            </a:defPPr>
            <a:lvl1pPr>
              <a:defRPr sz="2250" b="1">
                <a:solidFill>
                  <a:srgbClr val="183D33"/>
                </a:solidFill>
                <a:latin typeface="Arial"/>
                <a:ea typeface="Arial"/>
                <a:cs typeface="Arial"/>
              </a:defRPr>
            </a:lvl1pPr>
            <a:lvl2pPr>
              <a:defRPr sz="2250" b="1">
                <a:solidFill>
                  <a:srgbClr val="183D33"/>
                </a:solidFill>
                <a:latin typeface="Arial"/>
                <a:ea typeface="Arial"/>
                <a:cs typeface="Arial"/>
              </a:defRPr>
            </a:lvl2pPr>
            <a:lvl3pPr>
              <a:defRPr sz="2250" b="1">
                <a:solidFill>
                  <a:srgbClr val="183D33"/>
                </a:solidFill>
                <a:latin typeface="Arial"/>
                <a:ea typeface="Arial"/>
                <a:cs typeface="Arial"/>
              </a:defRPr>
            </a:lvl3pPr>
            <a:lvl4pPr>
              <a:defRPr sz="2250" b="1">
                <a:solidFill>
                  <a:srgbClr val="183D33"/>
                </a:solidFill>
                <a:latin typeface="Arial"/>
                <a:ea typeface="Arial"/>
                <a:cs typeface="Arial"/>
              </a:defRPr>
            </a:lvl4pPr>
            <a:lvl5pPr>
              <a:defRPr sz="2250" b="1">
                <a:solidFill>
                  <a:srgbClr val="183D33"/>
                </a:solidFill>
                <a:latin typeface="Arial"/>
                <a:ea typeface="Arial"/>
                <a:cs typeface="Arial"/>
              </a:defRPr>
            </a:lvl5pPr>
            <a:lvl6pPr>
              <a:defRPr sz="2250" b="1">
                <a:solidFill>
                  <a:srgbClr val="183D33"/>
                </a:solidFill>
                <a:latin typeface="Arial"/>
                <a:ea typeface="Arial"/>
                <a:cs typeface="Arial"/>
              </a:defRPr>
            </a:lvl6pPr>
            <a:lvl7pPr>
              <a:defRPr sz="2250" b="1">
                <a:solidFill>
                  <a:srgbClr val="183D33"/>
                </a:solidFill>
                <a:latin typeface="Arial"/>
                <a:ea typeface="Arial"/>
                <a:cs typeface="Arial"/>
              </a:defRPr>
            </a:lvl7pPr>
            <a:lvl8pPr>
              <a:defRPr sz="2250" b="1">
                <a:solidFill>
                  <a:srgbClr val="183D33"/>
                </a:solidFill>
                <a:latin typeface="Arial"/>
                <a:ea typeface="Arial"/>
                <a:cs typeface="Arial"/>
              </a:defRPr>
            </a:lvl8pPr>
            <a:lvl9pPr>
              <a:defRPr sz="2250" b="1">
                <a:solidFill>
                  <a:srgbClr val="183D33"/>
                </a:solidFill>
                <a:latin typeface="Arial"/>
                <a:ea typeface="Arial"/>
                <a:cs typeface="Arial"/>
              </a:defRPr>
            </a:lvl9pPr>
          </a:lstStyle>
          <a:p xmlns:a="http://schemas.openxmlformats.org/drawingml/2006/main">
            <a:pPr>
              <a:defRPr sz="2250" b="1">
                <a:solidFill>
                  <a:srgbClr val="183D33"/>
                </a:solidFill>
                <a:latin typeface="Arial"/>
                <a:ea typeface="Arial"/>
                <a:cs typeface="Arial"/>
              </a:defRPr>
            </a:pPr>
            <a:r>
              <a:rPr sz="2250" b="1">
                <a:solidFill>
                  <a:srgbClr val="183D33"/>
                </a:solidFill>
                <a:latin typeface="Arial"/>
                <a:ea typeface="Arial"/>
                <a:cs typeface="Arial"/>
              </a:rPr>
              <a:t>Race conditions</a:t>
            </a:r>
          </a:p>
        </p:txBody>
      </p:sp>
      <p:sp>
        <p:nvSpPr>
          <p:cNvPr id="12" name="Six borrowers compete for two units.&#10;Two requ">
            <a:extLst xmlns:a="http://schemas.openxmlformats.org/drawingml/2006/main">
              <a:ext uri="{FF2B5EF4-FFF2-40B4-BE49-F238E27FC236}">
                <a16:creationId xmlns:a16="http://schemas.microsoft.com/office/drawing/2014/main" id="{21971422-9C18-4434-8A0B-12AE13FF514C}"/>
              </a:ext>
            </a:extLst>
          </p:cNvPr>
          <p:cNvSpPr>
            <a:spLocks xmlns:a="http://schemas.openxmlformats.org/drawingml/2006/main" noGrp="1"/>
          </p:cNvSpPr>
          <p:nvPr/>
        </p:nvSpPr>
        <p:spPr>
          <a:xfrm xmlns:a="http://schemas.openxmlformats.org/drawingml/2006/main">
            <a:off x="6191250" y="45243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3665C"/>
                </a:solidFill>
                <a:latin typeface="Arial"/>
                <a:ea typeface="Arial"/>
                <a:cs typeface="Arial"/>
              </a:defRPr>
            </a:defPPr>
            <a:lvl1pPr>
              <a:defRPr sz="2025" b="0">
                <a:solidFill>
                  <a:srgbClr val="53665C"/>
                </a:solidFill>
                <a:latin typeface="Arial"/>
                <a:ea typeface="Arial"/>
                <a:cs typeface="Arial"/>
              </a:defRPr>
            </a:lvl1pPr>
            <a:lvl2pPr>
              <a:defRPr sz="2025" b="0">
                <a:solidFill>
                  <a:srgbClr val="53665C"/>
                </a:solidFill>
                <a:latin typeface="Arial"/>
                <a:ea typeface="Arial"/>
                <a:cs typeface="Arial"/>
              </a:defRPr>
            </a:lvl2pPr>
            <a:lvl3pPr>
              <a:defRPr sz="2025" b="0">
                <a:solidFill>
                  <a:srgbClr val="53665C"/>
                </a:solidFill>
                <a:latin typeface="Arial"/>
                <a:ea typeface="Arial"/>
                <a:cs typeface="Arial"/>
              </a:defRPr>
            </a:lvl3pPr>
            <a:lvl4pPr>
              <a:defRPr sz="2025" b="0">
                <a:solidFill>
                  <a:srgbClr val="53665C"/>
                </a:solidFill>
                <a:latin typeface="Arial"/>
                <a:ea typeface="Arial"/>
                <a:cs typeface="Arial"/>
              </a:defRPr>
            </a:lvl4pPr>
            <a:lvl5pPr>
              <a:defRPr sz="2025" b="0">
                <a:solidFill>
                  <a:srgbClr val="53665C"/>
                </a:solidFill>
                <a:latin typeface="Arial"/>
                <a:ea typeface="Arial"/>
                <a:cs typeface="Arial"/>
              </a:defRPr>
            </a:lvl5pPr>
            <a:lvl6pPr>
              <a:defRPr sz="2025" b="0">
                <a:solidFill>
                  <a:srgbClr val="53665C"/>
                </a:solidFill>
                <a:latin typeface="Arial"/>
                <a:ea typeface="Arial"/>
                <a:cs typeface="Arial"/>
              </a:defRPr>
            </a:lvl6pPr>
            <a:lvl7pPr>
              <a:defRPr sz="2025" b="0">
                <a:solidFill>
                  <a:srgbClr val="53665C"/>
                </a:solidFill>
                <a:latin typeface="Arial"/>
                <a:ea typeface="Arial"/>
                <a:cs typeface="Arial"/>
              </a:defRPr>
            </a:lvl7pPr>
            <a:lvl8pPr>
              <a:defRPr sz="2025" b="0">
                <a:solidFill>
                  <a:srgbClr val="53665C"/>
                </a:solidFill>
                <a:latin typeface="Arial"/>
                <a:ea typeface="Arial"/>
                <a:cs typeface="Arial"/>
              </a:defRPr>
            </a:lvl8pPr>
            <a:lvl9pPr>
              <a:defRPr sz="2025" b="0">
                <a:solidFill>
                  <a:srgbClr val="53665C"/>
                </a:solidFill>
                <a:latin typeface="Arial"/>
                <a:ea typeface="Arial"/>
                <a:cs typeface="Arial"/>
              </a:defRPr>
            </a:lvl9pPr>
          </a:lstStyle>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Six borrowers compete for two units.</a:t>
            </a:r>
          </a:p>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Two requests return the same loan.</a:t>
            </a:r>
          </a:p>
        </p:txBody>
      </p:sp>
    </p:spTree>
    <p:extLst>
      <p:ext uri="{BB962C8B-B14F-4D97-AF65-F5344CB8AC3E}">
        <p14:creationId xmlns:p14="http://schemas.microsoft.com/office/powerpoint/2010/main" val="1101307832"/>
      </p:ext>
    </p:extLst>
  </p:cSld>
</p:sld>
</file>

<file path=ppt/slides/slide7.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5" name="GitHub Actions delivery">
            <a:extLst xmlns:a="http://schemas.openxmlformats.org/drawingml/2006/main">
              <a:ext uri="{FF2B5EF4-FFF2-40B4-BE49-F238E27FC236}">
                <a16:creationId xmlns:a16="http://schemas.microsoft.com/office/drawing/2014/main" id="{678AA5B6-0935-4F88-A6BB-2D31A9B035AE}"/>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GitHub Actions delivery</a:t>
            </a:r>
          </a:p>
        </p:txBody>
      </p:sp>
      <p:sp>
        <p:nvSpPr>
          <p:cNvPr id="2" name="Source revisions identify the published and d">
            <a:extLst xmlns:a="http://schemas.openxmlformats.org/drawingml/2006/main">
              <a:ext uri="{FF2B5EF4-FFF2-40B4-BE49-F238E27FC236}">
                <a16:creationId xmlns:a16="http://schemas.microsoft.com/office/drawing/2014/main" id="{5653EF08-5BB7-42B5-9F64-BA4C0975BF2C}"/>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Source revisions identify the published and deployed images</a:t>
            </a:r>
          </a:p>
        </p:txBody>
      </p:sp>
      <p:sp>
        <p:nvSpPr>
          <p:cNvPr id="3" name="CampusCrate">
            <a:extLst xmlns:a="http://schemas.openxmlformats.org/drawingml/2006/main">
              <a:ext uri="{FF2B5EF4-FFF2-40B4-BE49-F238E27FC236}">
                <a16:creationId xmlns:a16="http://schemas.microsoft.com/office/drawing/2014/main" id="{E3AA20BE-6FD5-4EBA-8C35-57AE223948CC}"/>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07">
            <a:extLst xmlns:a="http://schemas.openxmlformats.org/drawingml/2006/main">
              <a:ext uri="{FF2B5EF4-FFF2-40B4-BE49-F238E27FC236}">
                <a16:creationId xmlns:a16="http://schemas.microsoft.com/office/drawing/2014/main" id="{B49CAFB7-5F37-4E16-BF37-7DB1520D807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4F4C395B-8384-4961-8643-B5B30BE85B07}"/>
              </a:ext>
            </a:extLst>
          </p:cNvPr>
          <p:cNvPicPr>
            <a:picLocks xmlns:a="http://schemas.openxmlformats.org/drawingml/2006/main" noChangeAspect="1"/>
          </p:cNvPicPr>
          <p:nvPr/>
        </p:nvPicPr>
        <p:blipFill>
          <a:blip xmlns:r="http://schemas.openxmlformats.org/officeDocument/2006/relationships" xmlns:a="http://schemas.openxmlformats.org/drawingml/2006/main" r:embed="R11b60254012244ab"/>
          <a:stretch xmlns:a="http://schemas.openxmlformats.org/drawingml/2006/main"/>
        </p:blipFill>
        <p:spPr>
          <a:xfrm xmlns:a="http://schemas.openxmlformats.org/drawingml/2006/main">
            <a:off x="4667250" y="1902023"/>
            <a:ext cx="6953250" cy="3911203"/>
          </a:xfrm>
          <a:prstGeom xmlns:a="http://schemas.openxmlformats.org/drawingml/2006/main" prst="rect">
            <a:avLst/>
          </a:prstGeom>
        </p:spPr>
      </p:pic>
      <p:sp>
        <p:nvSpPr>
          <p:cNvPr id="6" name="01">
            <a:extLst xmlns:a="http://schemas.openxmlformats.org/drawingml/2006/main">
              <a:ext uri="{FF2B5EF4-FFF2-40B4-BE49-F238E27FC236}">
                <a16:creationId xmlns:a16="http://schemas.microsoft.com/office/drawing/2014/main" id="{0C2D2FB1-4246-4B54-BD98-8E1EDD97384C}"/>
              </a:ext>
            </a:extLst>
          </p:cNvPr>
          <p:cNvSpPr>
            <a:spLocks xmlns:a="http://schemas.openxmlformats.org/drawingml/2006/main" noGrp="1"/>
          </p:cNvSpPr>
          <p:nvPr/>
        </p:nvSpPr>
        <p:spPr>
          <a:xfrm xmlns:a="http://schemas.openxmlformats.org/drawingml/2006/main">
            <a:off x="628650" y="1952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01</a:t>
            </a:r>
          </a:p>
        </p:txBody>
      </p:sp>
      <p:sp>
        <p:nvSpPr>
          <p:cNvPr id="7" name="Validate">
            <a:extLst xmlns:a="http://schemas.openxmlformats.org/drawingml/2006/main">
              <a:ext uri="{FF2B5EF4-FFF2-40B4-BE49-F238E27FC236}">
                <a16:creationId xmlns:a16="http://schemas.microsoft.com/office/drawing/2014/main" id="{F545FCED-60A9-418E-8212-4F46D1277A1D}"/>
              </a:ext>
            </a:extLst>
          </p:cNvPr>
          <p:cNvSpPr>
            <a:spLocks xmlns:a="http://schemas.openxmlformats.org/drawingml/2006/main" noGrp="1"/>
          </p:cNvSpPr>
          <p:nvPr/>
        </p:nvSpPr>
        <p:spPr>
          <a:xfrm xmlns:a="http://schemas.openxmlformats.org/drawingml/2006/main">
            <a:off x="1485900" y="1952625"/>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Validate</a:t>
            </a:r>
          </a:p>
        </p:txBody>
      </p:sp>
      <p:sp>
        <p:nvSpPr>
          <p:cNvPr id="8" name="Lint, tests and migration checks">
            <a:extLst xmlns:a="http://schemas.openxmlformats.org/drawingml/2006/main">
              <a:ext uri="{FF2B5EF4-FFF2-40B4-BE49-F238E27FC236}">
                <a16:creationId xmlns:a16="http://schemas.microsoft.com/office/drawing/2014/main" id="{C7285F2D-D5D6-4A84-8AF0-D6B8774CF505}"/>
              </a:ext>
            </a:extLst>
          </p:cNvPr>
          <p:cNvSpPr>
            <a:spLocks xmlns:a="http://schemas.openxmlformats.org/drawingml/2006/main" noGrp="1"/>
          </p:cNvSpPr>
          <p:nvPr/>
        </p:nvSpPr>
        <p:spPr>
          <a:xfrm xmlns:a="http://schemas.openxmlformats.org/drawingml/2006/main">
            <a:off x="1485900" y="2381250"/>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Lint, tests and migration checks</a:t>
            </a:r>
          </a:p>
        </p:txBody>
      </p:sp>
      <p:sp>
        <p:nvSpPr>
          <p:cNvPr id="9" name="02">
            <a:extLst xmlns:a="http://schemas.openxmlformats.org/drawingml/2006/main">
              <a:ext uri="{FF2B5EF4-FFF2-40B4-BE49-F238E27FC236}">
                <a16:creationId xmlns:a16="http://schemas.microsoft.com/office/drawing/2014/main" id="{73EA1CFE-4734-45B3-88D1-C63C2EC77DA2}"/>
              </a:ext>
            </a:extLst>
          </p:cNvPr>
          <p:cNvSpPr>
            <a:spLocks xmlns:a="http://schemas.openxmlformats.org/drawingml/2006/main" noGrp="1"/>
          </p:cNvSpPr>
          <p:nvPr/>
        </p:nvSpPr>
        <p:spPr>
          <a:xfrm xmlns:a="http://schemas.openxmlformats.org/drawingml/2006/main">
            <a:off x="628650" y="32861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02</a:t>
            </a:r>
          </a:p>
        </p:txBody>
      </p:sp>
      <p:sp>
        <p:nvSpPr>
          <p:cNvPr id="10" name="Build and scan">
            <a:extLst xmlns:a="http://schemas.openxmlformats.org/drawingml/2006/main">
              <a:ext uri="{FF2B5EF4-FFF2-40B4-BE49-F238E27FC236}">
                <a16:creationId xmlns:a16="http://schemas.microsoft.com/office/drawing/2014/main" id="{287CCB49-3C49-4EFF-A46A-5DE22FEEB187}"/>
              </a:ext>
            </a:extLst>
          </p:cNvPr>
          <p:cNvSpPr>
            <a:spLocks xmlns:a="http://schemas.openxmlformats.org/drawingml/2006/main" noGrp="1"/>
          </p:cNvSpPr>
          <p:nvPr/>
        </p:nvSpPr>
        <p:spPr>
          <a:xfrm xmlns:a="http://schemas.openxmlformats.org/drawingml/2006/main">
            <a:off x="1485900" y="3286125"/>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Build and scan</a:t>
            </a:r>
          </a:p>
        </p:txBody>
      </p:sp>
      <p:sp>
        <p:nvSpPr>
          <p:cNvPr id="11" name="Both images pass the Trivy gate">
            <a:extLst xmlns:a="http://schemas.openxmlformats.org/drawingml/2006/main">
              <a:ext uri="{FF2B5EF4-FFF2-40B4-BE49-F238E27FC236}">
                <a16:creationId xmlns:a16="http://schemas.microsoft.com/office/drawing/2014/main" id="{3EDA6454-35F7-46A6-87CC-EBF83082AF40}"/>
              </a:ext>
            </a:extLst>
          </p:cNvPr>
          <p:cNvSpPr>
            <a:spLocks xmlns:a="http://schemas.openxmlformats.org/drawingml/2006/main" noGrp="1"/>
          </p:cNvSpPr>
          <p:nvPr/>
        </p:nvSpPr>
        <p:spPr>
          <a:xfrm xmlns:a="http://schemas.openxmlformats.org/drawingml/2006/main">
            <a:off x="1485900" y="3714750"/>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Both images pass the Trivy gate</a:t>
            </a:r>
          </a:p>
        </p:txBody>
      </p:sp>
      <p:sp>
        <p:nvSpPr>
          <p:cNvPr id="12" name="03">
            <a:extLst xmlns:a="http://schemas.openxmlformats.org/drawingml/2006/main">
              <a:ext uri="{FF2B5EF4-FFF2-40B4-BE49-F238E27FC236}">
                <a16:creationId xmlns:a16="http://schemas.microsoft.com/office/drawing/2014/main" id="{76FCB7AE-1C0A-41A9-9021-5236ED82BAA6}"/>
              </a:ext>
            </a:extLst>
          </p:cNvPr>
          <p:cNvSpPr>
            <a:spLocks xmlns:a="http://schemas.openxmlformats.org/drawingml/2006/main" noGrp="1"/>
          </p:cNvSpPr>
          <p:nvPr/>
        </p:nvSpPr>
        <p:spPr>
          <a:xfrm xmlns:a="http://schemas.openxmlformats.org/drawingml/2006/main">
            <a:off x="628650" y="4619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03</a:t>
            </a:r>
          </a:p>
        </p:txBody>
      </p:sp>
      <p:sp>
        <p:nvSpPr>
          <p:cNvPr id="13" name="Publish and deploy">
            <a:extLst xmlns:a="http://schemas.openxmlformats.org/drawingml/2006/main">
              <a:ext uri="{FF2B5EF4-FFF2-40B4-BE49-F238E27FC236}">
                <a16:creationId xmlns:a16="http://schemas.microsoft.com/office/drawing/2014/main" id="{E0225DAD-3247-457A-9F2B-DDEE0667271F}"/>
              </a:ext>
            </a:extLst>
          </p:cNvPr>
          <p:cNvSpPr>
            <a:spLocks xmlns:a="http://schemas.openxmlformats.org/drawingml/2006/main" noGrp="1"/>
          </p:cNvSpPr>
          <p:nvPr/>
        </p:nvSpPr>
        <p:spPr>
          <a:xfrm xmlns:a="http://schemas.openxmlformats.org/drawingml/2006/main">
            <a:off x="1485900" y="4619625"/>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Publish and deploy</a:t>
            </a:r>
          </a:p>
        </p:txBody>
      </p:sp>
      <p:sp>
        <p:nvSpPr>
          <p:cNvPr id="14" name="GHCR SHA tags, Helm and smoke test">
            <a:extLst xmlns:a="http://schemas.openxmlformats.org/drawingml/2006/main">
              <a:ext uri="{FF2B5EF4-FFF2-40B4-BE49-F238E27FC236}">
                <a16:creationId xmlns:a16="http://schemas.microsoft.com/office/drawing/2014/main" id="{5F7317E3-0FD6-4E29-9E8F-13DFCD18233D}"/>
              </a:ext>
            </a:extLst>
          </p:cNvPr>
          <p:cNvSpPr>
            <a:spLocks xmlns:a="http://schemas.openxmlformats.org/drawingml/2006/main" noGrp="1"/>
          </p:cNvSpPr>
          <p:nvPr/>
        </p:nvSpPr>
        <p:spPr>
          <a:xfrm xmlns:a="http://schemas.openxmlformats.org/drawingml/2006/main">
            <a:off x="1485900" y="5048250"/>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GHCR SHA tags, Helm and smoke test</a:t>
            </a:r>
          </a:p>
        </p:txBody>
      </p:sp>
    </p:spTree>
    <p:extLst>
      <p:ext uri="{BB962C8B-B14F-4D97-AF65-F5344CB8AC3E}">
        <p14:creationId xmlns:p14="http://schemas.microsoft.com/office/powerpoint/2010/main" val="1239981673"/>
      </p:ext>
    </p:extLst>
  </p:cSld>
</p:sld>
</file>

<file path=ppt/slides/slide8.xml><?xml version="1.0" encoding="utf-8"?>
<p:sld xmlns:p="http://schemas.openxmlformats.org/presentationml/2006/main">
  <p:cSld>
    <p:bg>
      <p:bgPr>
        <a:solidFill xmlns:a="http://schemas.openxmlformats.org/drawingml/2006/main">
          <a:srgbClr val="17382F"/>
        </a:solidFill>
      </p:bgPr>
    </p:bg>
    <p:spTree>
      <p:nvGrpSpPr>
        <p:cNvPr id="1" name=""/>
        <p:cNvGrpSpPr/>
        <p:nvPr/>
      </p:nvGrpSpPr>
      <p:grpSpPr>
        <a:xfrm xmlns:a="http://schemas.openxmlformats.org/drawingml/2006/main"/>
      </p:grpSpPr>
      <p:sp>
        <p:nvSpPr>
          <p:cNvPr id="11" name="Container security gate">
            <a:extLst xmlns:a="http://schemas.openxmlformats.org/drawingml/2006/main">
              <a:ext uri="{FF2B5EF4-FFF2-40B4-BE49-F238E27FC236}">
                <a16:creationId xmlns:a16="http://schemas.microsoft.com/office/drawing/2014/main" id="{5115E750-E8E5-42FC-8FE6-2C5F9CC5C56F}"/>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Container security gate</a:t>
            </a:r>
          </a:p>
        </p:txBody>
      </p:sp>
      <p:sp>
        <p:nvSpPr>
          <p:cNvPr id="2" name="Both recorded image scans passed HIGH and CRI">
            <a:extLst xmlns:a="http://schemas.openxmlformats.org/drawingml/2006/main">
              <a:ext uri="{FF2B5EF4-FFF2-40B4-BE49-F238E27FC236}">
                <a16:creationId xmlns:a16="http://schemas.microsoft.com/office/drawing/2014/main" id="{31D0DE1F-4CB8-4A39-B664-6560A894C965}"/>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DCEAA9"/>
                </a:solidFill>
                <a:latin typeface="Arial"/>
                <a:ea typeface="Arial"/>
                <a:cs typeface="Arial"/>
              </a:defRPr>
            </a:defPPr>
            <a:lvl1pPr>
              <a:defRPr sz="1800" b="0">
                <a:solidFill>
                  <a:srgbClr val="DCEAA9"/>
                </a:solidFill>
                <a:latin typeface="Arial"/>
                <a:ea typeface="Arial"/>
                <a:cs typeface="Arial"/>
              </a:defRPr>
            </a:lvl1pPr>
            <a:lvl2pPr>
              <a:defRPr sz="1800" b="0">
                <a:solidFill>
                  <a:srgbClr val="DCEAA9"/>
                </a:solidFill>
                <a:latin typeface="Arial"/>
                <a:ea typeface="Arial"/>
                <a:cs typeface="Arial"/>
              </a:defRPr>
            </a:lvl2pPr>
            <a:lvl3pPr>
              <a:defRPr sz="1800" b="0">
                <a:solidFill>
                  <a:srgbClr val="DCEAA9"/>
                </a:solidFill>
                <a:latin typeface="Arial"/>
                <a:ea typeface="Arial"/>
                <a:cs typeface="Arial"/>
              </a:defRPr>
            </a:lvl3pPr>
            <a:lvl4pPr>
              <a:defRPr sz="1800" b="0">
                <a:solidFill>
                  <a:srgbClr val="DCEAA9"/>
                </a:solidFill>
                <a:latin typeface="Arial"/>
                <a:ea typeface="Arial"/>
                <a:cs typeface="Arial"/>
              </a:defRPr>
            </a:lvl4pPr>
            <a:lvl5pPr>
              <a:defRPr sz="1800" b="0">
                <a:solidFill>
                  <a:srgbClr val="DCEAA9"/>
                </a:solidFill>
                <a:latin typeface="Arial"/>
                <a:ea typeface="Arial"/>
                <a:cs typeface="Arial"/>
              </a:defRPr>
            </a:lvl5pPr>
            <a:lvl6pPr>
              <a:defRPr sz="1800" b="0">
                <a:solidFill>
                  <a:srgbClr val="DCEAA9"/>
                </a:solidFill>
                <a:latin typeface="Arial"/>
                <a:ea typeface="Arial"/>
                <a:cs typeface="Arial"/>
              </a:defRPr>
            </a:lvl6pPr>
            <a:lvl7pPr>
              <a:defRPr sz="1800" b="0">
                <a:solidFill>
                  <a:srgbClr val="DCEAA9"/>
                </a:solidFill>
                <a:latin typeface="Arial"/>
                <a:ea typeface="Arial"/>
                <a:cs typeface="Arial"/>
              </a:defRPr>
            </a:lvl7pPr>
            <a:lvl8pPr>
              <a:defRPr sz="1800" b="0">
                <a:solidFill>
                  <a:srgbClr val="DCEAA9"/>
                </a:solidFill>
                <a:latin typeface="Arial"/>
                <a:ea typeface="Arial"/>
                <a:cs typeface="Arial"/>
              </a:defRPr>
            </a:lvl8pPr>
            <a:lvl9pPr>
              <a:defRPr sz="1800" b="0">
                <a:solidFill>
                  <a:srgbClr val="DCEAA9"/>
                </a:solidFill>
                <a:latin typeface="Arial"/>
                <a:ea typeface="Arial"/>
                <a:cs typeface="Arial"/>
              </a:defRPr>
            </a:lvl9pPr>
          </a:lstStyle>
          <a:p xmlns:a="http://schemas.openxmlformats.org/drawingml/2006/main">
            <a:pPr>
              <a:defRPr sz="1800" b="0">
                <a:solidFill>
                  <a:srgbClr val="DCEAA9"/>
                </a:solidFill>
                <a:latin typeface="Arial"/>
                <a:ea typeface="Arial"/>
                <a:cs typeface="Arial"/>
              </a:defRPr>
            </a:pPr>
            <a:r>
              <a:rPr sz="1800" b="0">
                <a:solidFill>
                  <a:srgbClr val="DCEAA9"/>
                </a:solidFill>
                <a:latin typeface="Arial"/>
                <a:ea typeface="Arial"/>
                <a:cs typeface="Arial"/>
              </a:rPr>
              <a:t>Both recorded image scans passed HIGH and CRITICAL checks</a:t>
            </a:r>
          </a:p>
        </p:txBody>
      </p:sp>
      <p:sp>
        <p:nvSpPr>
          <p:cNvPr id="3" name="CampusCrate">
            <a:extLst xmlns:a="http://schemas.openxmlformats.org/drawingml/2006/main">
              <a:ext uri="{FF2B5EF4-FFF2-40B4-BE49-F238E27FC236}">
                <a16:creationId xmlns:a16="http://schemas.microsoft.com/office/drawing/2014/main" id="{BC552303-BB3D-41BF-94FD-CACF0C0D6967}"/>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DCEAA9"/>
                </a:solidFill>
                <a:latin typeface="Arial"/>
                <a:ea typeface="Arial"/>
                <a:cs typeface="Arial"/>
              </a:defRPr>
            </a:defPPr>
            <a:lvl1pPr>
              <a:defRPr sz="1200" b="0">
                <a:solidFill>
                  <a:srgbClr val="DCEAA9"/>
                </a:solidFill>
                <a:latin typeface="Arial"/>
                <a:ea typeface="Arial"/>
                <a:cs typeface="Arial"/>
              </a:defRPr>
            </a:lvl1pPr>
            <a:lvl2pPr>
              <a:defRPr sz="1200" b="0">
                <a:solidFill>
                  <a:srgbClr val="DCEAA9"/>
                </a:solidFill>
                <a:latin typeface="Arial"/>
                <a:ea typeface="Arial"/>
                <a:cs typeface="Arial"/>
              </a:defRPr>
            </a:lvl2pPr>
            <a:lvl3pPr>
              <a:defRPr sz="1200" b="0">
                <a:solidFill>
                  <a:srgbClr val="DCEAA9"/>
                </a:solidFill>
                <a:latin typeface="Arial"/>
                <a:ea typeface="Arial"/>
                <a:cs typeface="Arial"/>
              </a:defRPr>
            </a:lvl3pPr>
            <a:lvl4pPr>
              <a:defRPr sz="1200" b="0">
                <a:solidFill>
                  <a:srgbClr val="DCEAA9"/>
                </a:solidFill>
                <a:latin typeface="Arial"/>
                <a:ea typeface="Arial"/>
                <a:cs typeface="Arial"/>
              </a:defRPr>
            </a:lvl4pPr>
            <a:lvl5pPr>
              <a:defRPr sz="1200" b="0">
                <a:solidFill>
                  <a:srgbClr val="DCEAA9"/>
                </a:solidFill>
                <a:latin typeface="Arial"/>
                <a:ea typeface="Arial"/>
                <a:cs typeface="Arial"/>
              </a:defRPr>
            </a:lvl5pPr>
            <a:lvl6pPr>
              <a:defRPr sz="1200" b="0">
                <a:solidFill>
                  <a:srgbClr val="DCEAA9"/>
                </a:solidFill>
                <a:latin typeface="Arial"/>
                <a:ea typeface="Arial"/>
                <a:cs typeface="Arial"/>
              </a:defRPr>
            </a:lvl6pPr>
            <a:lvl7pPr>
              <a:defRPr sz="1200" b="0">
                <a:solidFill>
                  <a:srgbClr val="DCEAA9"/>
                </a:solidFill>
                <a:latin typeface="Arial"/>
                <a:ea typeface="Arial"/>
                <a:cs typeface="Arial"/>
              </a:defRPr>
            </a:lvl7pPr>
            <a:lvl8pPr>
              <a:defRPr sz="1200" b="0">
                <a:solidFill>
                  <a:srgbClr val="DCEAA9"/>
                </a:solidFill>
                <a:latin typeface="Arial"/>
                <a:ea typeface="Arial"/>
                <a:cs typeface="Arial"/>
              </a:defRPr>
            </a:lvl8pPr>
            <a:lvl9pPr>
              <a:defRPr sz="1200" b="0">
                <a:solidFill>
                  <a:srgbClr val="DCEAA9"/>
                </a:solidFill>
                <a:latin typeface="Arial"/>
                <a:ea typeface="Arial"/>
                <a:cs typeface="Arial"/>
              </a:defRPr>
            </a:lvl9pPr>
          </a:lstStyle>
          <a:p xmlns:a="http://schemas.openxmlformats.org/drawingml/2006/main">
            <a:pPr>
              <a:defRPr sz="1200" b="0">
                <a:solidFill>
                  <a:srgbClr val="DCEAA9"/>
                </a:solidFill>
                <a:latin typeface="Arial"/>
                <a:ea typeface="Arial"/>
                <a:cs typeface="Arial"/>
              </a:defRPr>
            </a:pPr>
            <a:r>
              <a:rPr sz="1200" b="0">
                <a:solidFill>
                  <a:srgbClr val="DCEAA9"/>
                </a:solidFill>
                <a:latin typeface="Arial"/>
                <a:ea typeface="Arial"/>
                <a:cs typeface="Arial"/>
              </a:rPr>
              <a:t>CampusCrate</a:t>
            </a:r>
          </a:p>
        </p:txBody>
      </p:sp>
      <p:sp>
        <p:nvSpPr>
          <p:cNvPr id="4" name="08">
            <a:extLst xmlns:a="http://schemas.openxmlformats.org/drawingml/2006/main">
              <a:ext uri="{FF2B5EF4-FFF2-40B4-BE49-F238E27FC236}">
                <a16:creationId xmlns:a16="http://schemas.microsoft.com/office/drawing/2014/main" id="{DF833FB3-4A49-47BC-B9A0-464EF78B8B44}"/>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DCEAA9"/>
                </a:solidFill>
                <a:latin typeface="Arial"/>
                <a:ea typeface="Arial"/>
                <a:cs typeface="Arial"/>
              </a:defRPr>
            </a:defPPr>
            <a:lvl1pPr>
              <a:defRPr sz="1200" b="0">
                <a:solidFill>
                  <a:srgbClr val="DCEAA9"/>
                </a:solidFill>
                <a:latin typeface="Arial"/>
                <a:ea typeface="Arial"/>
                <a:cs typeface="Arial"/>
              </a:defRPr>
            </a:lvl1pPr>
            <a:lvl2pPr>
              <a:defRPr sz="1200" b="0">
                <a:solidFill>
                  <a:srgbClr val="DCEAA9"/>
                </a:solidFill>
                <a:latin typeface="Arial"/>
                <a:ea typeface="Arial"/>
                <a:cs typeface="Arial"/>
              </a:defRPr>
            </a:lvl2pPr>
            <a:lvl3pPr>
              <a:defRPr sz="1200" b="0">
                <a:solidFill>
                  <a:srgbClr val="DCEAA9"/>
                </a:solidFill>
                <a:latin typeface="Arial"/>
                <a:ea typeface="Arial"/>
                <a:cs typeface="Arial"/>
              </a:defRPr>
            </a:lvl3pPr>
            <a:lvl4pPr>
              <a:defRPr sz="1200" b="0">
                <a:solidFill>
                  <a:srgbClr val="DCEAA9"/>
                </a:solidFill>
                <a:latin typeface="Arial"/>
                <a:ea typeface="Arial"/>
                <a:cs typeface="Arial"/>
              </a:defRPr>
            </a:lvl4pPr>
            <a:lvl5pPr>
              <a:defRPr sz="1200" b="0">
                <a:solidFill>
                  <a:srgbClr val="DCEAA9"/>
                </a:solidFill>
                <a:latin typeface="Arial"/>
                <a:ea typeface="Arial"/>
                <a:cs typeface="Arial"/>
              </a:defRPr>
            </a:lvl5pPr>
            <a:lvl6pPr>
              <a:defRPr sz="1200" b="0">
                <a:solidFill>
                  <a:srgbClr val="DCEAA9"/>
                </a:solidFill>
                <a:latin typeface="Arial"/>
                <a:ea typeface="Arial"/>
                <a:cs typeface="Arial"/>
              </a:defRPr>
            </a:lvl6pPr>
            <a:lvl7pPr>
              <a:defRPr sz="1200" b="0">
                <a:solidFill>
                  <a:srgbClr val="DCEAA9"/>
                </a:solidFill>
                <a:latin typeface="Arial"/>
                <a:ea typeface="Arial"/>
                <a:cs typeface="Arial"/>
              </a:defRPr>
            </a:lvl7pPr>
            <a:lvl8pPr>
              <a:defRPr sz="1200" b="0">
                <a:solidFill>
                  <a:srgbClr val="DCEAA9"/>
                </a:solidFill>
                <a:latin typeface="Arial"/>
                <a:ea typeface="Arial"/>
                <a:cs typeface="Arial"/>
              </a:defRPr>
            </a:lvl8pPr>
            <a:lvl9pPr>
              <a:defRPr sz="1200" b="0">
                <a:solidFill>
                  <a:srgbClr val="DCEAA9"/>
                </a:solidFill>
                <a:latin typeface="Arial"/>
                <a:ea typeface="Arial"/>
                <a:cs typeface="Arial"/>
              </a:defRPr>
            </a:lvl9pPr>
          </a:lstStyle>
          <a:p xmlns:a="http://schemas.openxmlformats.org/drawingml/2006/main">
            <a:pPr>
              <a:defRPr sz="1200" b="0">
                <a:solidFill>
                  <a:srgbClr val="DCEAA9"/>
                </a:solidFill>
                <a:latin typeface="Arial"/>
                <a:ea typeface="Arial"/>
                <a:cs typeface="Arial"/>
              </a:defRPr>
            </a:pPr>
            <a:r>
              <a:rPr sz="1200" b="0">
                <a:solidFill>
                  <a:srgbClr val="DCEAA9"/>
                </a:solidFill>
                <a:latin typeface="Arial"/>
                <a:ea typeface="Arial"/>
                <a:cs typeface="Arial"/>
              </a:rPr>
              <a:t>08</a:t>
            </a:r>
          </a:p>
        </p:txBody>
      </p:sp>
      <p:sp>
        <p:nvSpPr>
          <p:cNvPr id="5" name="0">
            <a:extLst xmlns:a="http://schemas.openxmlformats.org/drawingml/2006/main">
              <a:ext uri="{FF2B5EF4-FFF2-40B4-BE49-F238E27FC236}">
                <a16:creationId xmlns:a16="http://schemas.microsoft.com/office/drawing/2014/main" id="{6AA3819C-A879-42FE-B50B-62FAD30F6AA4}"/>
              </a:ext>
            </a:extLst>
          </p:cNvPr>
          <p:cNvSpPr>
            <a:spLocks xmlns:a="http://schemas.openxmlformats.org/drawingml/2006/main" noGrp="1"/>
          </p:cNvSpPr>
          <p:nvPr/>
        </p:nvSpPr>
        <p:spPr>
          <a:xfrm xmlns:a="http://schemas.openxmlformats.org/drawingml/2006/main">
            <a:off x="609600" y="195262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375" b="1">
                <a:solidFill>
                  <a:srgbClr val="DCEAA9"/>
                </a:solidFill>
                <a:latin typeface="Arial"/>
                <a:ea typeface="Arial"/>
                <a:cs typeface="Arial"/>
              </a:defRPr>
            </a:defPPr>
            <a:lvl1pPr>
              <a:defRPr sz="9375" b="1">
                <a:solidFill>
                  <a:srgbClr val="DCEAA9"/>
                </a:solidFill>
                <a:latin typeface="Arial"/>
                <a:ea typeface="Arial"/>
                <a:cs typeface="Arial"/>
              </a:defRPr>
            </a:lvl1pPr>
            <a:lvl2pPr>
              <a:defRPr sz="9375" b="1">
                <a:solidFill>
                  <a:srgbClr val="DCEAA9"/>
                </a:solidFill>
                <a:latin typeface="Arial"/>
                <a:ea typeface="Arial"/>
                <a:cs typeface="Arial"/>
              </a:defRPr>
            </a:lvl2pPr>
            <a:lvl3pPr>
              <a:defRPr sz="9375" b="1">
                <a:solidFill>
                  <a:srgbClr val="DCEAA9"/>
                </a:solidFill>
                <a:latin typeface="Arial"/>
                <a:ea typeface="Arial"/>
                <a:cs typeface="Arial"/>
              </a:defRPr>
            </a:lvl3pPr>
            <a:lvl4pPr>
              <a:defRPr sz="9375" b="1">
                <a:solidFill>
                  <a:srgbClr val="DCEAA9"/>
                </a:solidFill>
                <a:latin typeface="Arial"/>
                <a:ea typeface="Arial"/>
                <a:cs typeface="Arial"/>
              </a:defRPr>
            </a:lvl4pPr>
            <a:lvl5pPr>
              <a:defRPr sz="9375" b="1">
                <a:solidFill>
                  <a:srgbClr val="DCEAA9"/>
                </a:solidFill>
                <a:latin typeface="Arial"/>
                <a:ea typeface="Arial"/>
                <a:cs typeface="Arial"/>
              </a:defRPr>
            </a:lvl5pPr>
            <a:lvl6pPr>
              <a:defRPr sz="9375" b="1">
                <a:solidFill>
                  <a:srgbClr val="DCEAA9"/>
                </a:solidFill>
                <a:latin typeface="Arial"/>
                <a:ea typeface="Arial"/>
                <a:cs typeface="Arial"/>
              </a:defRPr>
            </a:lvl6pPr>
            <a:lvl7pPr>
              <a:defRPr sz="9375" b="1">
                <a:solidFill>
                  <a:srgbClr val="DCEAA9"/>
                </a:solidFill>
                <a:latin typeface="Arial"/>
                <a:ea typeface="Arial"/>
                <a:cs typeface="Arial"/>
              </a:defRPr>
            </a:lvl7pPr>
            <a:lvl8pPr>
              <a:defRPr sz="9375" b="1">
                <a:solidFill>
                  <a:srgbClr val="DCEAA9"/>
                </a:solidFill>
                <a:latin typeface="Arial"/>
                <a:ea typeface="Arial"/>
                <a:cs typeface="Arial"/>
              </a:defRPr>
            </a:lvl8pPr>
            <a:lvl9pPr>
              <a:defRPr sz="9375" b="1">
                <a:solidFill>
                  <a:srgbClr val="DCEAA9"/>
                </a:solidFill>
                <a:latin typeface="Arial"/>
                <a:ea typeface="Arial"/>
                <a:cs typeface="Arial"/>
              </a:defRPr>
            </a:lvl9pPr>
          </a:lstStyle>
          <a:p xmlns:a="http://schemas.openxmlformats.org/drawingml/2006/main">
            <a:pPr>
              <a:defRPr sz="9375" b="1">
                <a:solidFill>
                  <a:srgbClr val="DCEAA9"/>
                </a:solidFill>
                <a:latin typeface="Arial"/>
                <a:ea typeface="Arial"/>
                <a:cs typeface="Arial"/>
              </a:defRPr>
            </a:pPr>
            <a:r>
              <a:rPr sz="9375" b="1">
                <a:solidFill>
                  <a:srgbClr val="DCEAA9"/>
                </a:solidFill>
                <a:latin typeface="Arial"/>
                <a:ea typeface="Arial"/>
                <a:cs typeface="Arial"/>
              </a:rPr>
              <a:t>0</a:t>
            </a:r>
          </a:p>
        </p:txBody>
      </p:sp>
      <p:sp>
        <p:nvSpPr>
          <p:cNvPr id="6" name="HIGH or CRITICAL findings&#10;in the final record">
            <a:extLst xmlns:a="http://schemas.openxmlformats.org/drawingml/2006/main">
              <a:ext uri="{FF2B5EF4-FFF2-40B4-BE49-F238E27FC236}">
                <a16:creationId xmlns:a16="http://schemas.microsoft.com/office/drawing/2014/main" id="{11BF5928-C630-4E77-A9E4-36E27C610E9A}"/>
              </a:ext>
            </a:extLst>
          </p:cNvPr>
          <p:cNvSpPr>
            <a:spLocks xmlns:a="http://schemas.openxmlformats.org/drawingml/2006/main" noGrp="1"/>
          </p:cNvSpPr>
          <p:nvPr/>
        </p:nvSpPr>
        <p:spPr>
          <a:xfrm xmlns:a="http://schemas.openxmlformats.org/drawingml/2006/main">
            <a:off x="666750" y="3524250"/>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HIGH or CRITICAL findings</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in the final recorded scans</a:t>
            </a:r>
          </a:p>
        </p:txBody>
      </p:sp>
      <p:sp>
        <p:nvSpPr>
          <p:cNvPr id="7" name="Remediation">
            <a:extLst xmlns:a="http://schemas.openxmlformats.org/drawingml/2006/main">
              <a:ext uri="{FF2B5EF4-FFF2-40B4-BE49-F238E27FC236}">
                <a16:creationId xmlns:a16="http://schemas.microsoft.com/office/drawing/2014/main" id="{9A51FB70-0B37-4DE1-9333-862831511FA8}"/>
              </a:ext>
            </a:extLst>
          </p:cNvPr>
          <p:cNvSpPr>
            <a:spLocks xmlns:a="http://schemas.openxmlformats.org/drawingml/2006/main" noGrp="1"/>
          </p:cNvSpPr>
          <p:nvPr/>
        </p:nvSpPr>
        <p:spPr>
          <a:xfrm xmlns:a="http://schemas.openxmlformats.org/drawingml/2006/main">
            <a:off x="6334125" y="20478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Remediation</a:t>
            </a:r>
          </a:p>
        </p:txBody>
      </p:sp>
      <p:sp>
        <p:nvSpPr>
          <p:cNvPr id="8" name="The earlier Debian backend image&#10;triggered 44">
            <a:extLst xmlns:a="http://schemas.openxmlformats.org/drawingml/2006/main">
              <a:ext uri="{FF2B5EF4-FFF2-40B4-BE49-F238E27FC236}">
                <a16:creationId xmlns:a16="http://schemas.microsoft.com/office/drawing/2014/main" id="{D1FBDDD1-D75E-4723-A07E-F12BAAE83D24}"/>
              </a:ext>
            </a:extLst>
          </p:cNvPr>
          <p:cNvSpPr>
            <a:spLocks xmlns:a="http://schemas.openxmlformats.org/drawingml/2006/main" noGrp="1"/>
          </p:cNvSpPr>
          <p:nvPr/>
        </p:nvSpPr>
        <p:spPr>
          <a:xfrm xmlns:a="http://schemas.openxmlformats.org/drawingml/2006/main">
            <a:off x="6334125" y="27622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DCEAA9"/>
                </a:solidFill>
                <a:latin typeface="Arial"/>
                <a:ea typeface="Arial"/>
                <a:cs typeface="Arial"/>
              </a:defRPr>
            </a:defPPr>
            <a:lvl1pPr>
              <a:defRPr sz="2025" b="0">
                <a:solidFill>
                  <a:srgbClr val="DCEAA9"/>
                </a:solidFill>
                <a:latin typeface="Arial"/>
                <a:ea typeface="Arial"/>
                <a:cs typeface="Arial"/>
              </a:defRPr>
            </a:lvl1pPr>
            <a:lvl2pPr>
              <a:defRPr sz="2025" b="0">
                <a:solidFill>
                  <a:srgbClr val="DCEAA9"/>
                </a:solidFill>
                <a:latin typeface="Arial"/>
                <a:ea typeface="Arial"/>
                <a:cs typeface="Arial"/>
              </a:defRPr>
            </a:lvl2pPr>
            <a:lvl3pPr>
              <a:defRPr sz="2025" b="0">
                <a:solidFill>
                  <a:srgbClr val="DCEAA9"/>
                </a:solidFill>
                <a:latin typeface="Arial"/>
                <a:ea typeface="Arial"/>
                <a:cs typeface="Arial"/>
              </a:defRPr>
            </a:lvl3pPr>
            <a:lvl4pPr>
              <a:defRPr sz="2025" b="0">
                <a:solidFill>
                  <a:srgbClr val="DCEAA9"/>
                </a:solidFill>
                <a:latin typeface="Arial"/>
                <a:ea typeface="Arial"/>
                <a:cs typeface="Arial"/>
              </a:defRPr>
            </a:lvl4pPr>
            <a:lvl5pPr>
              <a:defRPr sz="2025" b="0">
                <a:solidFill>
                  <a:srgbClr val="DCEAA9"/>
                </a:solidFill>
                <a:latin typeface="Arial"/>
                <a:ea typeface="Arial"/>
                <a:cs typeface="Arial"/>
              </a:defRPr>
            </a:lvl5pPr>
            <a:lvl6pPr>
              <a:defRPr sz="2025" b="0">
                <a:solidFill>
                  <a:srgbClr val="DCEAA9"/>
                </a:solidFill>
                <a:latin typeface="Arial"/>
                <a:ea typeface="Arial"/>
                <a:cs typeface="Arial"/>
              </a:defRPr>
            </a:lvl6pPr>
            <a:lvl7pPr>
              <a:defRPr sz="2025" b="0">
                <a:solidFill>
                  <a:srgbClr val="DCEAA9"/>
                </a:solidFill>
                <a:latin typeface="Arial"/>
                <a:ea typeface="Arial"/>
                <a:cs typeface="Arial"/>
              </a:defRPr>
            </a:lvl7pPr>
            <a:lvl8pPr>
              <a:defRPr sz="2025" b="0">
                <a:solidFill>
                  <a:srgbClr val="DCEAA9"/>
                </a:solidFill>
                <a:latin typeface="Arial"/>
                <a:ea typeface="Arial"/>
                <a:cs typeface="Arial"/>
              </a:defRPr>
            </a:lvl8pPr>
            <a:lvl9pPr>
              <a:defRPr sz="2025" b="0">
                <a:solidFill>
                  <a:srgbClr val="DCEAA9"/>
                </a:solidFill>
                <a:latin typeface="Arial"/>
                <a:ea typeface="Arial"/>
                <a:cs typeface="Arial"/>
              </a:defRPr>
            </a:lvl9pPr>
          </a:lstStyle>
          <a:p xmlns:a="http://schemas.openxmlformats.org/drawingml/2006/main">
            <a:pPr>
              <a:defRPr sz="2025" b="0">
                <a:solidFill>
                  <a:srgbClr val="DCEAA9"/>
                </a:solidFill>
                <a:latin typeface="Arial"/>
                <a:ea typeface="Arial"/>
                <a:cs typeface="Arial"/>
              </a:defRPr>
            </a:pPr>
            <a:r>
              <a:rPr sz="2025" b="0">
                <a:solidFill>
                  <a:srgbClr val="DCEAA9"/>
                </a:solidFill>
                <a:latin typeface="Arial"/>
                <a:ea typeface="Arial"/>
                <a:cs typeface="Arial"/>
              </a:rPr>
              <a:t>The earlier Debian backend image</a:t>
            </a:r>
          </a:p>
          <a:p xmlns:a="http://schemas.openxmlformats.org/drawingml/2006/main">
            <a:pPr>
              <a:defRPr sz="2025" b="0">
                <a:solidFill>
                  <a:srgbClr val="DCEAA9"/>
                </a:solidFill>
                <a:latin typeface="Arial"/>
                <a:ea typeface="Arial"/>
                <a:cs typeface="Arial"/>
              </a:defRPr>
            </a:pPr>
            <a:r>
              <a:rPr sz="2025" b="0">
                <a:solidFill>
                  <a:srgbClr val="DCEAA9"/>
                </a:solidFill>
                <a:latin typeface="Arial"/>
                <a:ea typeface="Arial"/>
                <a:cs typeface="Arial"/>
              </a:rPr>
              <a:t>triggered 44 OS-package findings.</a:t>
            </a:r>
          </a:p>
        </p:txBody>
      </p:sp>
      <p:sp>
        <p:nvSpPr>
          <p:cNvPr id="9" name="Rebuild on Python Alpine.&#10;Keep the gate and i">
            <a:extLst xmlns:a="http://schemas.openxmlformats.org/drawingml/2006/main">
              <a:ext uri="{FF2B5EF4-FFF2-40B4-BE49-F238E27FC236}">
                <a16:creationId xmlns:a16="http://schemas.microsoft.com/office/drawing/2014/main" id="{029B35E3-CD17-44A3-A1DC-90C62289B549}"/>
              </a:ext>
            </a:extLst>
          </p:cNvPr>
          <p:cNvSpPr>
            <a:spLocks xmlns:a="http://schemas.openxmlformats.org/drawingml/2006/main" noGrp="1"/>
          </p:cNvSpPr>
          <p:nvPr/>
        </p:nvSpPr>
        <p:spPr>
          <a:xfrm xmlns:a="http://schemas.openxmlformats.org/drawingml/2006/main">
            <a:off x="6334125" y="406717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Rebuild on Python Alpine.</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Keep the gate and include unfixed CVEs.</a:t>
            </a:r>
          </a:p>
        </p:txBody>
      </p:sp>
      <p:sp>
        <p:nvSpPr>
          <p:cNvPr id="10" name="Scan results describe the packages and scanne">
            <a:extLst xmlns:a="http://schemas.openxmlformats.org/drawingml/2006/main">
              <a:ext uri="{FF2B5EF4-FFF2-40B4-BE49-F238E27FC236}">
                <a16:creationId xmlns:a16="http://schemas.microsoft.com/office/drawing/2014/main" id="{A00CF017-A7DC-4D79-9F7E-A8B1CD8B2304}"/>
              </a:ext>
            </a:extLst>
          </p:cNvPr>
          <p:cNvSpPr>
            <a:spLocks xmlns:a="http://schemas.openxmlformats.org/drawingml/2006/main" noGrp="1"/>
          </p:cNvSpPr>
          <p:nvPr/>
        </p:nvSpPr>
        <p:spPr>
          <a:xfrm xmlns:a="http://schemas.openxmlformats.org/drawingml/2006/main">
            <a:off x="666750" y="5762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DCEAA9"/>
                </a:solidFill>
                <a:latin typeface="Arial"/>
                <a:ea typeface="Arial"/>
                <a:cs typeface="Arial"/>
              </a:defRPr>
            </a:defPPr>
            <a:lvl1pPr>
              <a:defRPr sz="1725" b="0">
                <a:solidFill>
                  <a:srgbClr val="DCEAA9"/>
                </a:solidFill>
                <a:latin typeface="Arial"/>
                <a:ea typeface="Arial"/>
                <a:cs typeface="Arial"/>
              </a:defRPr>
            </a:lvl1pPr>
            <a:lvl2pPr>
              <a:defRPr sz="1725" b="0">
                <a:solidFill>
                  <a:srgbClr val="DCEAA9"/>
                </a:solidFill>
                <a:latin typeface="Arial"/>
                <a:ea typeface="Arial"/>
                <a:cs typeface="Arial"/>
              </a:defRPr>
            </a:lvl2pPr>
            <a:lvl3pPr>
              <a:defRPr sz="1725" b="0">
                <a:solidFill>
                  <a:srgbClr val="DCEAA9"/>
                </a:solidFill>
                <a:latin typeface="Arial"/>
                <a:ea typeface="Arial"/>
                <a:cs typeface="Arial"/>
              </a:defRPr>
            </a:lvl3pPr>
            <a:lvl4pPr>
              <a:defRPr sz="1725" b="0">
                <a:solidFill>
                  <a:srgbClr val="DCEAA9"/>
                </a:solidFill>
                <a:latin typeface="Arial"/>
                <a:ea typeface="Arial"/>
                <a:cs typeface="Arial"/>
              </a:defRPr>
            </a:lvl4pPr>
            <a:lvl5pPr>
              <a:defRPr sz="1725" b="0">
                <a:solidFill>
                  <a:srgbClr val="DCEAA9"/>
                </a:solidFill>
                <a:latin typeface="Arial"/>
                <a:ea typeface="Arial"/>
                <a:cs typeface="Arial"/>
              </a:defRPr>
            </a:lvl5pPr>
            <a:lvl6pPr>
              <a:defRPr sz="1725" b="0">
                <a:solidFill>
                  <a:srgbClr val="DCEAA9"/>
                </a:solidFill>
                <a:latin typeface="Arial"/>
                <a:ea typeface="Arial"/>
                <a:cs typeface="Arial"/>
              </a:defRPr>
            </a:lvl6pPr>
            <a:lvl7pPr>
              <a:defRPr sz="1725" b="0">
                <a:solidFill>
                  <a:srgbClr val="DCEAA9"/>
                </a:solidFill>
                <a:latin typeface="Arial"/>
                <a:ea typeface="Arial"/>
                <a:cs typeface="Arial"/>
              </a:defRPr>
            </a:lvl7pPr>
            <a:lvl8pPr>
              <a:defRPr sz="1725" b="0">
                <a:solidFill>
                  <a:srgbClr val="DCEAA9"/>
                </a:solidFill>
                <a:latin typeface="Arial"/>
                <a:ea typeface="Arial"/>
                <a:cs typeface="Arial"/>
              </a:defRPr>
            </a:lvl8pPr>
            <a:lvl9pPr>
              <a:defRPr sz="1725" b="0">
                <a:solidFill>
                  <a:srgbClr val="DCEAA9"/>
                </a:solidFill>
                <a:latin typeface="Arial"/>
                <a:ea typeface="Arial"/>
                <a:cs typeface="Arial"/>
              </a:defRPr>
            </a:lvl9pPr>
          </a:lstStyle>
          <a:p xmlns:a="http://schemas.openxmlformats.org/drawingml/2006/main">
            <a:pPr>
              <a:defRPr sz="1725" b="0">
                <a:solidFill>
                  <a:srgbClr val="DCEAA9"/>
                </a:solidFill>
                <a:latin typeface="Arial"/>
                <a:ea typeface="Arial"/>
                <a:cs typeface="Arial"/>
              </a:defRPr>
            </a:pPr>
            <a:r>
              <a:rPr sz="1725" b="0">
                <a:solidFill>
                  <a:srgbClr val="DCEAA9"/>
                </a:solidFill>
                <a:latin typeface="Arial"/>
                <a:ea typeface="Arial"/>
                <a:cs typeface="Arial"/>
              </a:rPr>
              <a:t>Scan results describe the packages and scanner database at that run.</a:t>
            </a:r>
          </a:p>
        </p:txBody>
      </p:sp>
    </p:spTree>
    <p:extLst>
      <p:ext uri="{BB962C8B-B14F-4D97-AF65-F5344CB8AC3E}">
        <p14:creationId xmlns:p14="http://schemas.microsoft.com/office/powerpoint/2010/main" val="1142208920"/>
      </p:ext>
    </p:extLst>
  </p:cSld>
</p:sld>
</file>

<file path=ppt/slides/slide9.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7" name="Kubernetes deployment with Helm">
            <a:extLst xmlns:a="http://schemas.openxmlformats.org/drawingml/2006/main">
              <a:ext uri="{FF2B5EF4-FFF2-40B4-BE49-F238E27FC236}">
                <a16:creationId xmlns:a16="http://schemas.microsoft.com/office/drawing/2014/main" id="{81D655B5-DD75-4F16-A32E-124CDC150E5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Kubernetes deployment with Helm</a:t>
            </a:r>
          </a:p>
        </p:txBody>
      </p:sp>
      <p:sp>
        <p:nvSpPr>
          <p:cNvPr id="2" name="The persistent demonstration runs on local Mi">
            <a:extLst xmlns:a="http://schemas.openxmlformats.org/drawingml/2006/main">
              <a:ext uri="{FF2B5EF4-FFF2-40B4-BE49-F238E27FC236}">
                <a16:creationId xmlns:a16="http://schemas.microsoft.com/office/drawing/2014/main" id="{1535F7D8-98DB-40A0-854F-0698752453F4}"/>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The persistent demonstration runs on local Minikube</a:t>
            </a:r>
          </a:p>
        </p:txBody>
      </p:sp>
      <p:sp>
        <p:nvSpPr>
          <p:cNvPr id="3" name="CampusCrate">
            <a:extLst xmlns:a="http://schemas.openxmlformats.org/drawingml/2006/main">
              <a:ext uri="{FF2B5EF4-FFF2-40B4-BE49-F238E27FC236}">
                <a16:creationId xmlns:a16="http://schemas.microsoft.com/office/drawing/2014/main" id="{27C86D2E-46FD-4D55-B1C8-66538CC65B44}"/>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09">
            <a:extLst xmlns:a="http://schemas.openxmlformats.org/drawingml/2006/main">
              <a:ext uri="{FF2B5EF4-FFF2-40B4-BE49-F238E27FC236}">
                <a16:creationId xmlns:a16="http://schemas.microsoft.com/office/drawing/2014/main" id="{76207BA1-2B02-4F10-B531-493620389DE3}"/>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DA300E82-5C31-477B-BDC3-D163E2436F1A}"/>
              </a:ext>
            </a:extLst>
          </p:cNvPr>
          <p:cNvGraphicFramePr/>
          <p:nvPr/>
        </p:nvGraphicFramePr>
        <p:xfrm>
          <a:off xmlns:a="http://schemas.openxmlformats.org/drawingml/2006/main" x="609600" y="1924050"/>
          <a:ext xmlns:a="http://schemas.openxmlformats.org/drawingml/2006/main" cx="10972800" cy="3667125"/>
        </p:xfrm>
        <a:graphic xmlns:a="http://schemas.openxmlformats.org/drawingml/2006/main">
          <a:graphicData uri="http://schemas.openxmlformats.org/drawingml/2006/table">
            <a:tbl>
              <a:tblPr/>
              <a:tblGrid>
                <a:gridCol w="2857500"/>
                <a:gridCol w="8115300"/>
              </a:tblGrid>
              <a:tr h="611188">
                <a:tc>
                  <a:txBody>
                    <a:bodyPr/>
                    <a:lstStyle/>
                    <a:p>
                      <a:r>
                        <a:rPr sz="1875" b="1">
                          <a:solidFill>
                            <a:srgbClr val="FFFFFF"/>
                          </a:solidFill>
                          <a:latin typeface="Arial"/>
                          <a:ea typeface="Arial"/>
                          <a:cs typeface="Arial"/>
                        </a:rPr>
                        <a:t>Component</a:t>
                      </a:r>
                    </a:p>
                  </a:txBody>
                  <a:tcPr marL="91440" marR="91440" marT="45720" marB="45720">
                    <a:lnL w="9525">
                      <a:solidFill>
                        <a:srgbClr val="D6DFD3"/>
                      </a:solidFill>
                      <a:prstDash val="solid"/>
                    </a:lnL>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875" b="1">
                          <a:solidFill>
                            <a:srgbClr val="FFFFFF"/>
                          </a:solidFill>
                          <a:latin typeface="Arial"/>
                          <a:ea typeface="Arial"/>
                          <a:cs typeface="Arial"/>
                        </a:rPr>
                        <a:t>Deployment behavior</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r>
              <a:tr h="611188">
                <a:tc>
                  <a:txBody>
                    <a:bodyPr/>
                    <a:lstStyle/>
                    <a:p>
                      <a:r>
                        <a:rPr sz="1875" b="0">
                          <a:solidFill>
                            <a:srgbClr val="183D33"/>
                          </a:solidFill>
                          <a:latin typeface="Arial"/>
                          <a:ea typeface="Arial"/>
                          <a:cs typeface="Arial"/>
                        </a:rPr>
                        <a:t>Frontend</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75" b="0">
                          <a:solidFill>
                            <a:srgbClr val="183D33"/>
                          </a:solidFill>
                          <a:latin typeface="Arial"/>
                          <a:ea typeface="Arial"/>
                          <a:cs typeface="Arial"/>
                        </a:rPr>
                        <a:t>Two replicas with an internal ClusterIP Service</a:t>
                      </a:r>
                    </a:p>
                  </a:txBody>
                  <a:tcPr marL="91440" marR="91440" marT="45720" marB="45720">
                    <a:lnR w="9525">
                      <a:solidFill>
                        <a:srgbClr val="D6DFD3"/>
                      </a:solidFill>
                      <a:prstDash val="solid"/>
                    </a:lnR>
                    <a:lnB w="9525">
                      <a:solidFill>
                        <a:srgbClr val="D6DFD3"/>
                      </a:solidFill>
                      <a:prstDash val="solid"/>
                    </a:lnB>
                    <a:solidFill>
                      <a:srgbClr val="FFFFFF"/>
                    </a:solidFill>
                  </a:tcPr>
                </a:tc>
              </a:tr>
              <a:tr h="611188">
                <a:tc>
                  <a:txBody>
                    <a:bodyPr/>
                    <a:lstStyle/>
                    <a:p>
                      <a:r>
                        <a:rPr sz="1875" b="0">
                          <a:solidFill>
                            <a:srgbClr val="183D33"/>
                          </a:solidFill>
                          <a:latin typeface="Arial"/>
                          <a:ea typeface="Arial"/>
                          <a:cs typeface="Arial"/>
                        </a:rPr>
                        <a:t>Backend</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875" b="0">
                          <a:solidFill>
                            <a:srgbClr val="183D33"/>
                          </a:solidFill>
                          <a:latin typeface="Arial"/>
                          <a:ea typeface="Arial"/>
                          <a:cs typeface="Arial"/>
                        </a:rPr>
                        <a:t>Two to five replicas, CPU autoscaling and probes</a:t>
                      </a:r>
                    </a:p>
                  </a:txBody>
                  <a:tcPr marL="91440" marR="91440" marT="45720" marB="45720">
                    <a:lnR w="9525">
                      <a:solidFill>
                        <a:srgbClr val="D6DFD3"/>
                      </a:solidFill>
                      <a:prstDash val="solid"/>
                    </a:lnR>
                    <a:lnB w="9525">
                      <a:solidFill>
                        <a:srgbClr val="D6DFD3"/>
                      </a:solidFill>
                      <a:prstDash val="solid"/>
                    </a:lnB>
                    <a:solidFill>
                      <a:srgbClr val="EAF0E2"/>
                    </a:solidFill>
                  </a:tcPr>
                </a:tc>
              </a:tr>
              <a:tr h="611188">
                <a:tc>
                  <a:txBody>
                    <a:bodyPr/>
                    <a:lstStyle/>
                    <a:p>
                      <a:r>
                        <a:rPr sz="1875" b="0">
                          <a:solidFill>
                            <a:srgbClr val="183D33"/>
                          </a:solidFill>
                          <a:latin typeface="Arial"/>
                          <a:ea typeface="Arial"/>
                          <a:cs typeface="Arial"/>
                        </a:rPr>
                        <a:t>Database</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75" b="0">
                          <a:solidFill>
                            <a:srgbClr val="183D33"/>
                          </a:solidFill>
                          <a:latin typeface="Arial"/>
                          <a:ea typeface="Arial"/>
                          <a:cs typeface="Arial"/>
                        </a:rPr>
                        <a:t>PostgreSQL StatefulSet with persistent storage</a:t>
                      </a:r>
                    </a:p>
                  </a:txBody>
                  <a:tcPr marL="91440" marR="91440" marT="45720" marB="45720">
                    <a:lnR w="9525">
                      <a:solidFill>
                        <a:srgbClr val="D6DFD3"/>
                      </a:solidFill>
                      <a:prstDash val="solid"/>
                    </a:lnR>
                    <a:lnB w="9525">
                      <a:solidFill>
                        <a:srgbClr val="D6DFD3"/>
                      </a:solidFill>
                      <a:prstDash val="solid"/>
                    </a:lnB>
                    <a:solidFill>
                      <a:srgbClr val="FFFFFF"/>
                    </a:solidFill>
                  </a:tcPr>
                </a:tc>
              </a:tr>
              <a:tr h="611188">
                <a:tc>
                  <a:txBody>
                    <a:bodyPr/>
                    <a:lstStyle/>
                    <a:p>
                      <a:r>
                        <a:rPr sz="1875" b="0">
                          <a:solidFill>
                            <a:srgbClr val="183D33"/>
                          </a:solidFill>
                          <a:latin typeface="Arial"/>
                          <a:ea typeface="Arial"/>
                          <a:cs typeface="Arial"/>
                        </a:rPr>
                        <a:t>Migration</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875" b="0">
                          <a:solidFill>
                            <a:srgbClr val="183D33"/>
                          </a:solidFill>
                          <a:latin typeface="Arial"/>
                          <a:ea typeface="Arial"/>
                          <a:cs typeface="Arial"/>
                        </a:rPr>
                        <a:t>Release-specific Alembic Job</a:t>
                      </a:r>
                    </a:p>
                  </a:txBody>
                  <a:tcPr marL="91440" marR="91440" marT="45720" marB="45720">
                    <a:lnR w="9525">
                      <a:solidFill>
                        <a:srgbClr val="D6DFD3"/>
                      </a:solidFill>
                      <a:prstDash val="solid"/>
                    </a:lnR>
                    <a:lnB w="9525">
                      <a:solidFill>
                        <a:srgbClr val="D6DFD3"/>
                      </a:solidFill>
                      <a:prstDash val="solid"/>
                    </a:lnB>
                    <a:solidFill>
                      <a:srgbClr val="EAF0E2"/>
                    </a:solidFill>
                  </a:tcPr>
                </a:tc>
              </a:tr>
              <a:tr h="611188">
                <a:tc>
                  <a:txBody>
                    <a:bodyPr/>
                    <a:lstStyle/>
                    <a:p>
                      <a:r>
                        <a:rPr sz="1875" b="0">
                          <a:solidFill>
                            <a:srgbClr val="183D33"/>
                          </a:solidFill>
                          <a:latin typeface="Arial"/>
                          <a:ea typeface="Arial"/>
                          <a:cs typeface="Arial"/>
                        </a:rPr>
                        <a:t>Routing</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75" b="0">
                          <a:solidFill>
                            <a:srgbClr val="183D33"/>
                          </a:solidFill>
                          <a:latin typeface="Arial"/>
                          <a:ea typeface="Arial"/>
                          <a:cs typeface="Arial"/>
                        </a:rPr>
                        <a:t>NGINX Ingress for / and /api</a:t>
                      </a:r>
                    </a:p>
                  </a:txBody>
                  <a:tcPr marL="91440" marR="91440" marT="45720" marB="45720">
                    <a:lnR w="9525">
                      <a:solidFill>
                        <a:srgbClr val="D6DFD3"/>
                      </a:solidFill>
                      <a:prstDash val="solid"/>
                    </a:lnR>
                    <a:lnB w="9525">
                      <a:solidFill>
                        <a:srgbClr val="D6DFD3"/>
                      </a:solidFill>
                      <a:prstDash val="solid"/>
                    </a:lnB>
                    <a:solidFill>
                      <a:srgbClr val="FFFFFF"/>
                    </a:solidFill>
                  </a:tcPr>
                </a:tc>
              </a:tr>
            </a:tbl>
          </a:graphicData>
        </a:graphic>
      </p:graphicFrame>
      <p:sp>
        <p:nvSpPr>
          <p:cNvPr id="6" name="Helm rollback restores workload manifests. Da">
            <a:extLst xmlns:a="http://schemas.openxmlformats.org/drawingml/2006/main">
              <a:ext uri="{FF2B5EF4-FFF2-40B4-BE49-F238E27FC236}">
                <a16:creationId xmlns:a16="http://schemas.microsoft.com/office/drawing/2014/main" id="{BDF91207-7BA2-4C10-8EF0-2638FB42231A}"/>
              </a:ext>
            </a:extLst>
          </p:cNvPr>
          <p:cNvSpPr>
            <a:spLocks xmlns:a="http://schemas.openxmlformats.org/drawingml/2006/main" noGrp="1"/>
          </p:cNvSpPr>
          <p:nvPr/>
        </p:nvSpPr>
        <p:spPr>
          <a:xfrm xmlns:a="http://schemas.openxmlformats.org/drawingml/2006/main">
            <a:off x="628650" y="58483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3665C"/>
                </a:solidFill>
                <a:latin typeface="Arial"/>
                <a:ea typeface="Arial"/>
                <a:cs typeface="Arial"/>
              </a:defRPr>
            </a:defPPr>
            <a:lvl1pPr>
              <a:defRPr sz="1725" b="0">
                <a:solidFill>
                  <a:srgbClr val="53665C"/>
                </a:solidFill>
                <a:latin typeface="Arial"/>
                <a:ea typeface="Arial"/>
                <a:cs typeface="Arial"/>
              </a:defRPr>
            </a:lvl1pPr>
            <a:lvl2pPr>
              <a:defRPr sz="1725" b="0">
                <a:solidFill>
                  <a:srgbClr val="53665C"/>
                </a:solidFill>
                <a:latin typeface="Arial"/>
                <a:ea typeface="Arial"/>
                <a:cs typeface="Arial"/>
              </a:defRPr>
            </a:lvl2pPr>
            <a:lvl3pPr>
              <a:defRPr sz="1725" b="0">
                <a:solidFill>
                  <a:srgbClr val="53665C"/>
                </a:solidFill>
                <a:latin typeface="Arial"/>
                <a:ea typeface="Arial"/>
                <a:cs typeface="Arial"/>
              </a:defRPr>
            </a:lvl3pPr>
            <a:lvl4pPr>
              <a:defRPr sz="1725" b="0">
                <a:solidFill>
                  <a:srgbClr val="53665C"/>
                </a:solidFill>
                <a:latin typeface="Arial"/>
                <a:ea typeface="Arial"/>
                <a:cs typeface="Arial"/>
              </a:defRPr>
            </a:lvl4pPr>
            <a:lvl5pPr>
              <a:defRPr sz="1725" b="0">
                <a:solidFill>
                  <a:srgbClr val="53665C"/>
                </a:solidFill>
                <a:latin typeface="Arial"/>
                <a:ea typeface="Arial"/>
                <a:cs typeface="Arial"/>
              </a:defRPr>
            </a:lvl5pPr>
            <a:lvl6pPr>
              <a:defRPr sz="1725" b="0">
                <a:solidFill>
                  <a:srgbClr val="53665C"/>
                </a:solidFill>
                <a:latin typeface="Arial"/>
                <a:ea typeface="Arial"/>
                <a:cs typeface="Arial"/>
              </a:defRPr>
            </a:lvl6pPr>
            <a:lvl7pPr>
              <a:defRPr sz="1725" b="0">
                <a:solidFill>
                  <a:srgbClr val="53665C"/>
                </a:solidFill>
                <a:latin typeface="Arial"/>
                <a:ea typeface="Arial"/>
                <a:cs typeface="Arial"/>
              </a:defRPr>
            </a:lvl7pPr>
            <a:lvl8pPr>
              <a:defRPr sz="1725" b="0">
                <a:solidFill>
                  <a:srgbClr val="53665C"/>
                </a:solidFill>
                <a:latin typeface="Arial"/>
                <a:ea typeface="Arial"/>
                <a:cs typeface="Arial"/>
              </a:defRPr>
            </a:lvl8pPr>
            <a:lvl9pPr>
              <a:defRPr sz="1725" b="0">
                <a:solidFill>
                  <a:srgbClr val="53665C"/>
                </a:solidFill>
                <a:latin typeface="Arial"/>
                <a:ea typeface="Arial"/>
                <a:cs typeface="Arial"/>
              </a:defRPr>
            </a:lvl9pPr>
          </a:lstStyle>
          <a:p xmlns:a="http://schemas.openxmlformats.org/drawingml/2006/main">
            <a:pPr>
              <a:defRPr sz="1725" b="0">
                <a:solidFill>
                  <a:srgbClr val="53665C"/>
                </a:solidFill>
                <a:latin typeface="Arial"/>
                <a:ea typeface="Arial"/>
                <a:cs typeface="Arial"/>
              </a:defRPr>
            </a:pPr>
            <a:r>
              <a:rPr sz="1725" b="0">
                <a:solidFill>
                  <a:srgbClr val="53665C"/>
                </a:solidFill>
                <a:latin typeface="Arial"/>
                <a:ea typeface="Arial"/>
                <a:cs typeface="Arial"/>
              </a:rPr>
              <a:t>Helm rollback restores workload manifests. Database recovery needs its own plan.</a:t>
            </a:r>
          </a:p>
        </p:txBody>
      </p:sp>
    </p:spTree>
    <p:extLst>
      <p:ext uri="{BB962C8B-B14F-4D97-AF65-F5344CB8AC3E}">
        <p14:creationId xmlns:p14="http://schemas.microsoft.com/office/powerpoint/2010/main" val="1814219458"/>
      </p:ext>
    </p:extLst>
  </p:cSld>
</p:sld>
</file>

<file path=ppt/slides/slide10.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3" name="Autoscaling under demonstration load">
            <a:extLst xmlns:a="http://schemas.openxmlformats.org/drawingml/2006/main">
              <a:ext uri="{FF2B5EF4-FFF2-40B4-BE49-F238E27FC236}">
                <a16:creationId xmlns:a16="http://schemas.microsoft.com/office/drawing/2014/main" id="{ED2FFC21-EF38-412A-8EDC-D2D3064A0661}"/>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Autoscaling under demonstration load</a:t>
            </a:r>
          </a:p>
        </p:txBody>
      </p:sp>
      <p:sp>
        <p:nvSpPr>
          <p:cNvPr id="2" name="Recorded HPA event confirms scaling from two ">
            <a:extLst xmlns:a="http://schemas.openxmlformats.org/drawingml/2006/main">
              <a:ext uri="{FF2B5EF4-FFF2-40B4-BE49-F238E27FC236}">
                <a16:creationId xmlns:a16="http://schemas.microsoft.com/office/drawing/2014/main" id="{5D65FD1E-637A-44AE-A8C0-820EBB0AC358}"/>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Recorded HPA event confirms scaling from two to five replicas</a:t>
            </a:r>
          </a:p>
        </p:txBody>
      </p:sp>
      <p:sp>
        <p:nvSpPr>
          <p:cNvPr id="3" name="CampusCrate">
            <a:extLst xmlns:a="http://schemas.openxmlformats.org/drawingml/2006/main">
              <a:ext uri="{FF2B5EF4-FFF2-40B4-BE49-F238E27FC236}">
                <a16:creationId xmlns:a16="http://schemas.microsoft.com/office/drawing/2014/main" id="{0A3C6B1D-35DF-4916-9AED-DBC12CCCFE0B}"/>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10">
            <a:extLst xmlns:a="http://schemas.openxmlformats.org/drawingml/2006/main">
              <a:ext uri="{FF2B5EF4-FFF2-40B4-BE49-F238E27FC236}">
                <a16:creationId xmlns:a16="http://schemas.microsoft.com/office/drawing/2014/main" id="{9C205896-1861-49DB-82C6-AC36FBC5C84B}"/>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10</a:t>
            </a:r>
          </a:p>
        </p:txBody>
      </p:sp>
      <p:sp>
        <p:nvSpPr>
          <p:cNvPr id="5" name="2">
            <a:extLst xmlns:a="http://schemas.openxmlformats.org/drawingml/2006/main">
              <a:ext uri="{FF2B5EF4-FFF2-40B4-BE49-F238E27FC236}">
                <a16:creationId xmlns:a16="http://schemas.microsoft.com/office/drawing/2014/main" id="{CDFF55A8-98C8-44CE-A954-48763C77CA94}"/>
              </a:ext>
            </a:extLst>
          </p:cNvPr>
          <p:cNvSpPr>
            <a:spLocks xmlns:a="http://schemas.openxmlformats.org/drawingml/2006/main" noGrp="1"/>
          </p:cNvSpPr>
          <p:nvPr/>
        </p:nvSpPr>
        <p:spPr>
          <a:xfrm xmlns:a="http://schemas.openxmlformats.org/drawingml/2006/main">
            <a:off x="666750" y="2047875"/>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7650" b="1">
                <a:solidFill>
                  <a:srgbClr val="28624B"/>
                </a:solidFill>
                <a:latin typeface="Arial"/>
                <a:ea typeface="Arial"/>
                <a:cs typeface="Arial"/>
              </a:defRPr>
            </a:defPPr>
            <a:lvl1pPr>
              <a:defRPr sz="7650" b="1">
                <a:solidFill>
                  <a:srgbClr val="28624B"/>
                </a:solidFill>
                <a:latin typeface="Arial"/>
                <a:ea typeface="Arial"/>
                <a:cs typeface="Arial"/>
              </a:defRPr>
            </a:lvl1pPr>
            <a:lvl2pPr>
              <a:defRPr sz="7650" b="1">
                <a:solidFill>
                  <a:srgbClr val="28624B"/>
                </a:solidFill>
                <a:latin typeface="Arial"/>
                <a:ea typeface="Arial"/>
                <a:cs typeface="Arial"/>
              </a:defRPr>
            </a:lvl2pPr>
            <a:lvl3pPr>
              <a:defRPr sz="7650" b="1">
                <a:solidFill>
                  <a:srgbClr val="28624B"/>
                </a:solidFill>
                <a:latin typeface="Arial"/>
                <a:ea typeface="Arial"/>
                <a:cs typeface="Arial"/>
              </a:defRPr>
            </a:lvl3pPr>
            <a:lvl4pPr>
              <a:defRPr sz="7650" b="1">
                <a:solidFill>
                  <a:srgbClr val="28624B"/>
                </a:solidFill>
                <a:latin typeface="Arial"/>
                <a:ea typeface="Arial"/>
                <a:cs typeface="Arial"/>
              </a:defRPr>
            </a:lvl4pPr>
            <a:lvl5pPr>
              <a:defRPr sz="7650" b="1">
                <a:solidFill>
                  <a:srgbClr val="28624B"/>
                </a:solidFill>
                <a:latin typeface="Arial"/>
                <a:ea typeface="Arial"/>
                <a:cs typeface="Arial"/>
              </a:defRPr>
            </a:lvl5pPr>
            <a:lvl6pPr>
              <a:defRPr sz="7650" b="1">
                <a:solidFill>
                  <a:srgbClr val="28624B"/>
                </a:solidFill>
                <a:latin typeface="Arial"/>
                <a:ea typeface="Arial"/>
                <a:cs typeface="Arial"/>
              </a:defRPr>
            </a:lvl6pPr>
            <a:lvl7pPr>
              <a:defRPr sz="7650" b="1">
                <a:solidFill>
                  <a:srgbClr val="28624B"/>
                </a:solidFill>
                <a:latin typeface="Arial"/>
                <a:ea typeface="Arial"/>
                <a:cs typeface="Arial"/>
              </a:defRPr>
            </a:lvl7pPr>
            <a:lvl8pPr>
              <a:defRPr sz="7650" b="1">
                <a:solidFill>
                  <a:srgbClr val="28624B"/>
                </a:solidFill>
                <a:latin typeface="Arial"/>
                <a:ea typeface="Arial"/>
                <a:cs typeface="Arial"/>
              </a:defRPr>
            </a:lvl8pPr>
            <a:lvl9pPr>
              <a:defRPr sz="7650" b="1">
                <a:solidFill>
                  <a:srgbClr val="28624B"/>
                </a:solidFill>
                <a:latin typeface="Arial"/>
                <a:ea typeface="Arial"/>
                <a:cs typeface="Arial"/>
              </a:defRPr>
            </a:lvl9pPr>
          </a:lstStyle>
          <a:p xmlns:a="http://schemas.openxmlformats.org/drawingml/2006/main">
            <a:pPr>
              <a:defRPr sz="7650" b="1">
                <a:solidFill>
                  <a:srgbClr val="28624B"/>
                </a:solidFill>
                <a:latin typeface="Arial"/>
                <a:ea typeface="Arial"/>
                <a:cs typeface="Arial"/>
              </a:defRPr>
            </a:pPr>
            <a:r>
              <a:rPr sz="7650" b="1">
                <a:solidFill>
                  <a:srgbClr val="28624B"/>
                </a:solidFill>
                <a:latin typeface="Arial"/>
                <a:ea typeface="Arial"/>
                <a:cs typeface="Arial"/>
              </a:rPr>
              <a:t>2</a:t>
            </a:r>
          </a:p>
        </p:txBody>
      </p:sp>
      <p:sp>
        <p:nvSpPr>
          <p:cNvPr id="6" name="minimum replicas">
            <a:extLst xmlns:a="http://schemas.openxmlformats.org/drawingml/2006/main">
              <a:ext uri="{FF2B5EF4-FFF2-40B4-BE49-F238E27FC236}">
                <a16:creationId xmlns:a16="http://schemas.microsoft.com/office/drawing/2014/main" id="{BDD1F1C0-7C31-4053-85EB-CBA4FF89DC44}"/>
              </a:ext>
            </a:extLst>
          </p:cNvPr>
          <p:cNvSpPr>
            <a:spLocks xmlns:a="http://schemas.openxmlformats.org/drawingml/2006/main" noGrp="1"/>
          </p:cNvSpPr>
          <p:nvPr/>
        </p:nvSpPr>
        <p:spPr>
          <a:xfrm xmlns:a="http://schemas.openxmlformats.org/drawingml/2006/main">
            <a:off x="666750" y="32861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3665C"/>
                </a:solidFill>
                <a:latin typeface="Arial"/>
                <a:ea typeface="Arial"/>
                <a:cs typeface="Arial"/>
              </a:defRPr>
            </a:defPPr>
            <a:lvl1pPr>
              <a:defRPr sz="2025" b="0">
                <a:solidFill>
                  <a:srgbClr val="53665C"/>
                </a:solidFill>
                <a:latin typeface="Arial"/>
                <a:ea typeface="Arial"/>
                <a:cs typeface="Arial"/>
              </a:defRPr>
            </a:lvl1pPr>
            <a:lvl2pPr>
              <a:defRPr sz="2025" b="0">
                <a:solidFill>
                  <a:srgbClr val="53665C"/>
                </a:solidFill>
                <a:latin typeface="Arial"/>
                <a:ea typeface="Arial"/>
                <a:cs typeface="Arial"/>
              </a:defRPr>
            </a:lvl2pPr>
            <a:lvl3pPr>
              <a:defRPr sz="2025" b="0">
                <a:solidFill>
                  <a:srgbClr val="53665C"/>
                </a:solidFill>
                <a:latin typeface="Arial"/>
                <a:ea typeface="Arial"/>
                <a:cs typeface="Arial"/>
              </a:defRPr>
            </a:lvl3pPr>
            <a:lvl4pPr>
              <a:defRPr sz="2025" b="0">
                <a:solidFill>
                  <a:srgbClr val="53665C"/>
                </a:solidFill>
                <a:latin typeface="Arial"/>
                <a:ea typeface="Arial"/>
                <a:cs typeface="Arial"/>
              </a:defRPr>
            </a:lvl4pPr>
            <a:lvl5pPr>
              <a:defRPr sz="2025" b="0">
                <a:solidFill>
                  <a:srgbClr val="53665C"/>
                </a:solidFill>
                <a:latin typeface="Arial"/>
                <a:ea typeface="Arial"/>
                <a:cs typeface="Arial"/>
              </a:defRPr>
            </a:lvl5pPr>
            <a:lvl6pPr>
              <a:defRPr sz="2025" b="0">
                <a:solidFill>
                  <a:srgbClr val="53665C"/>
                </a:solidFill>
                <a:latin typeface="Arial"/>
                <a:ea typeface="Arial"/>
                <a:cs typeface="Arial"/>
              </a:defRPr>
            </a:lvl6pPr>
            <a:lvl7pPr>
              <a:defRPr sz="2025" b="0">
                <a:solidFill>
                  <a:srgbClr val="53665C"/>
                </a:solidFill>
                <a:latin typeface="Arial"/>
                <a:ea typeface="Arial"/>
                <a:cs typeface="Arial"/>
              </a:defRPr>
            </a:lvl7pPr>
            <a:lvl8pPr>
              <a:defRPr sz="2025" b="0">
                <a:solidFill>
                  <a:srgbClr val="53665C"/>
                </a:solidFill>
                <a:latin typeface="Arial"/>
                <a:ea typeface="Arial"/>
                <a:cs typeface="Arial"/>
              </a:defRPr>
            </a:lvl8pPr>
            <a:lvl9pPr>
              <a:defRPr sz="2025" b="0">
                <a:solidFill>
                  <a:srgbClr val="53665C"/>
                </a:solidFill>
                <a:latin typeface="Arial"/>
                <a:ea typeface="Arial"/>
                <a:cs typeface="Arial"/>
              </a:defRPr>
            </a:lvl9pPr>
          </a:lstStyle>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minimum replicas</a:t>
            </a:r>
          </a:p>
        </p:txBody>
      </p:sp>
      <p:sp>
        <p:nvSpPr>
          <p:cNvPr id="7" name="5">
            <a:extLst xmlns:a="http://schemas.openxmlformats.org/drawingml/2006/main">
              <a:ext uri="{FF2B5EF4-FFF2-40B4-BE49-F238E27FC236}">
                <a16:creationId xmlns:a16="http://schemas.microsoft.com/office/drawing/2014/main" id="{61486169-3365-4FE1-862D-497F4568CCCD}"/>
              </a:ext>
            </a:extLst>
          </p:cNvPr>
          <p:cNvSpPr>
            <a:spLocks xmlns:a="http://schemas.openxmlformats.org/drawingml/2006/main" noGrp="1"/>
          </p:cNvSpPr>
          <p:nvPr/>
        </p:nvSpPr>
        <p:spPr>
          <a:xfrm xmlns:a="http://schemas.openxmlformats.org/drawingml/2006/main">
            <a:off x="4762500" y="2047875"/>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7650" b="1">
                <a:solidFill>
                  <a:srgbClr val="28624B"/>
                </a:solidFill>
                <a:latin typeface="Arial"/>
                <a:ea typeface="Arial"/>
                <a:cs typeface="Arial"/>
              </a:defRPr>
            </a:defPPr>
            <a:lvl1pPr>
              <a:defRPr sz="7650" b="1">
                <a:solidFill>
                  <a:srgbClr val="28624B"/>
                </a:solidFill>
                <a:latin typeface="Arial"/>
                <a:ea typeface="Arial"/>
                <a:cs typeface="Arial"/>
              </a:defRPr>
            </a:lvl1pPr>
            <a:lvl2pPr>
              <a:defRPr sz="7650" b="1">
                <a:solidFill>
                  <a:srgbClr val="28624B"/>
                </a:solidFill>
                <a:latin typeface="Arial"/>
                <a:ea typeface="Arial"/>
                <a:cs typeface="Arial"/>
              </a:defRPr>
            </a:lvl2pPr>
            <a:lvl3pPr>
              <a:defRPr sz="7650" b="1">
                <a:solidFill>
                  <a:srgbClr val="28624B"/>
                </a:solidFill>
                <a:latin typeface="Arial"/>
                <a:ea typeface="Arial"/>
                <a:cs typeface="Arial"/>
              </a:defRPr>
            </a:lvl3pPr>
            <a:lvl4pPr>
              <a:defRPr sz="7650" b="1">
                <a:solidFill>
                  <a:srgbClr val="28624B"/>
                </a:solidFill>
                <a:latin typeface="Arial"/>
                <a:ea typeface="Arial"/>
                <a:cs typeface="Arial"/>
              </a:defRPr>
            </a:lvl4pPr>
            <a:lvl5pPr>
              <a:defRPr sz="7650" b="1">
                <a:solidFill>
                  <a:srgbClr val="28624B"/>
                </a:solidFill>
                <a:latin typeface="Arial"/>
                <a:ea typeface="Arial"/>
                <a:cs typeface="Arial"/>
              </a:defRPr>
            </a:lvl5pPr>
            <a:lvl6pPr>
              <a:defRPr sz="7650" b="1">
                <a:solidFill>
                  <a:srgbClr val="28624B"/>
                </a:solidFill>
                <a:latin typeface="Arial"/>
                <a:ea typeface="Arial"/>
                <a:cs typeface="Arial"/>
              </a:defRPr>
            </a:lvl6pPr>
            <a:lvl7pPr>
              <a:defRPr sz="7650" b="1">
                <a:solidFill>
                  <a:srgbClr val="28624B"/>
                </a:solidFill>
                <a:latin typeface="Arial"/>
                <a:ea typeface="Arial"/>
                <a:cs typeface="Arial"/>
              </a:defRPr>
            </a:lvl7pPr>
            <a:lvl8pPr>
              <a:defRPr sz="7650" b="1">
                <a:solidFill>
                  <a:srgbClr val="28624B"/>
                </a:solidFill>
                <a:latin typeface="Arial"/>
                <a:ea typeface="Arial"/>
                <a:cs typeface="Arial"/>
              </a:defRPr>
            </a:lvl8pPr>
            <a:lvl9pPr>
              <a:defRPr sz="7650" b="1">
                <a:solidFill>
                  <a:srgbClr val="28624B"/>
                </a:solidFill>
                <a:latin typeface="Arial"/>
                <a:ea typeface="Arial"/>
                <a:cs typeface="Arial"/>
              </a:defRPr>
            </a:lvl9pPr>
          </a:lstStyle>
          <a:p xmlns:a="http://schemas.openxmlformats.org/drawingml/2006/main">
            <a:pPr>
              <a:defRPr sz="7650" b="1">
                <a:solidFill>
                  <a:srgbClr val="28624B"/>
                </a:solidFill>
                <a:latin typeface="Arial"/>
                <a:ea typeface="Arial"/>
                <a:cs typeface="Arial"/>
              </a:defRPr>
            </a:pPr>
            <a:r>
              <a:rPr sz="7650" b="1">
                <a:solidFill>
                  <a:srgbClr val="28624B"/>
                </a:solidFill>
                <a:latin typeface="Arial"/>
                <a:ea typeface="Arial"/>
                <a:cs typeface="Arial"/>
              </a:rPr>
              <a:t>5</a:t>
            </a:r>
          </a:p>
        </p:txBody>
      </p:sp>
      <p:sp>
        <p:nvSpPr>
          <p:cNvPr id="8" name="scaled replicas">
            <a:extLst xmlns:a="http://schemas.openxmlformats.org/drawingml/2006/main">
              <a:ext uri="{FF2B5EF4-FFF2-40B4-BE49-F238E27FC236}">
                <a16:creationId xmlns:a16="http://schemas.microsoft.com/office/drawing/2014/main" id="{74B0E5D3-9DC8-4309-9333-CA07C08CC12F}"/>
              </a:ext>
            </a:extLst>
          </p:cNvPr>
          <p:cNvSpPr>
            <a:spLocks xmlns:a="http://schemas.openxmlformats.org/drawingml/2006/main" noGrp="1"/>
          </p:cNvSpPr>
          <p:nvPr/>
        </p:nvSpPr>
        <p:spPr>
          <a:xfrm xmlns:a="http://schemas.openxmlformats.org/drawingml/2006/main">
            <a:off x="4762500" y="32861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3665C"/>
                </a:solidFill>
                <a:latin typeface="Arial"/>
                <a:ea typeface="Arial"/>
                <a:cs typeface="Arial"/>
              </a:defRPr>
            </a:defPPr>
            <a:lvl1pPr>
              <a:defRPr sz="2025" b="0">
                <a:solidFill>
                  <a:srgbClr val="53665C"/>
                </a:solidFill>
                <a:latin typeface="Arial"/>
                <a:ea typeface="Arial"/>
                <a:cs typeface="Arial"/>
              </a:defRPr>
            </a:lvl1pPr>
            <a:lvl2pPr>
              <a:defRPr sz="2025" b="0">
                <a:solidFill>
                  <a:srgbClr val="53665C"/>
                </a:solidFill>
                <a:latin typeface="Arial"/>
                <a:ea typeface="Arial"/>
                <a:cs typeface="Arial"/>
              </a:defRPr>
            </a:lvl2pPr>
            <a:lvl3pPr>
              <a:defRPr sz="2025" b="0">
                <a:solidFill>
                  <a:srgbClr val="53665C"/>
                </a:solidFill>
                <a:latin typeface="Arial"/>
                <a:ea typeface="Arial"/>
                <a:cs typeface="Arial"/>
              </a:defRPr>
            </a:lvl3pPr>
            <a:lvl4pPr>
              <a:defRPr sz="2025" b="0">
                <a:solidFill>
                  <a:srgbClr val="53665C"/>
                </a:solidFill>
                <a:latin typeface="Arial"/>
                <a:ea typeface="Arial"/>
                <a:cs typeface="Arial"/>
              </a:defRPr>
            </a:lvl4pPr>
            <a:lvl5pPr>
              <a:defRPr sz="2025" b="0">
                <a:solidFill>
                  <a:srgbClr val="53665C"/>
                </a:solidFill>
                <a:latin typeface="Arial"/>
                <a:ea typeface="Arial"/>
                <a:cs typeface="Arial"/>
              </a:defRPr>
            </a:lvl5pPr>
            <a:lvl6pPr>
              <a:defRPr sz="2025" b="0">
                <a:solidFill>
                  <a:srgbClr val="53665C"/>
                </a:solidFill>
                <a:latin typeface="Arial"/>
                <a:ea typeface="Arial"/>
                <a:cs typeface="Arial"/>
              </a:defRPr>
            </a:lvl6pPr>
            <a:lvl7pPr>
              <a:defRPr sz="2025" b="0">
                <a:solidFill>
                  <a:srgbClr val="53665C"/>
                </a:solidFill>
                <a:latin typeface="Arial"/>
                <a:ea typeface="Arial"/>
                <a:cs typeface="Arial"/>
              </a:defRPr>
            </a:lvl7pPr>
            <a:lvl8pPr>
              <a:defRPr sz="2025" b="0">
                <a:solidFill>
                  <a:srgbClr val="53665C"/>
                </a:solidFill>
                <a:latin typeface="Arial"/>
                <a:ea typeface="Arial"/>
                <a:cs typeface="Arial"/>
              </a:defRPr>
            </a:lvl8pPr>
            <a:lvl9pPr>
              <a:defRPr sz="2025" b="0">
                <a:solidFill>
                  <a:srgbClr val="53665C"/>
                </a:solidFill>
                <a:latin typeface="Arial"/>
                <a:ea typeface="Arial"/>
                <a:cs typeface="Arial"/>
              </a:defRPr>
            </a:lvl9pPr>
          </a:lstStyle>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scaled replicas</a:t>
            </a:r>
          </a:p>
        </p:txBody>
      </p:sp>
      <p:sp>
        <p:nvSpPr>
          <p:cNvPr id="9" name="60%">
            <a:extLst xmlns:a="http://schemas.openxmlformats.org/drawingml/2006/main">
              <a:ext uri="{FF2B5EF4-FFF2-40B4-BE49-F238E27FC236}">
                <a16:creationId xmlns:a16="http://schemas.microsoft.com/office/drawing/2014/main" id="{33562A7A-AEB0-48CA-A0B7-49D739C4A90F}"/>
              </a:ext>
            </a:extLst>
          </p:cNvPr>
          <p:cNvSpPr>
            <a:spLocks xmlns:a="http://schemas.openxmlformats.org/drawingml/2006/main" noGrp="1"/>
          </p:cNvSpPr>
          <p:nvPr/>
        </p:nvSpPr>
        <p:spPr>
          <a:xfrm xmlns:a="http://schemas.openxmlformats.org/drawingml/2006/main">
            <a:off x="8667750" y="2047875"/>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6750" b="1">
                <a:solidFill>
                  <a:srgbClr val="28624B"/>
                </a:solidFill>
                <a:latin typeface="Arial"/>
                <a:ea typeface="Arial"/>
                <a:cs typeface="Arial"/>
              </a:defRPr>
            </a:defPPr>
            <a:lvl1pPr>
              <a:defRPr sz="6750" b="1">
                <a:solidFill>
                  <a:srgbClr val="28624B"/>
                </a:solidFill>
                <a:latin typeface="Arial"/>
                <a:ea typeface="Arial"/>
                <a:cs typeface="Arial"/>
              </a:defRPr>
            </a:lvl1pPr>
            <a:lvl2pPr>
              <a:defRPr sz="6750" b="1">
                <a:solidFill>
                  <a:srgbClr val="28624B"/>
                </a:solidFill>
                <a:latin typeface="Arial"/>
                <a:ea typeface="Arial"/>
                <a:cs typeface="Arial"/>
              </a:defRPr>
            </a:lvl2pPr>
            <a:lvl3pPr>
              <a:defRPr sz="6750" b="1">
                <a:solidFill>
                  <a:srgbClr val="28624B"/>
                </a:solidFill>
                <a:latin typeface="Arial"/>
                <a:ea typeface="Arial"/>
                <a:cs typeface="Arial"/>
              </a:defRPr>
            </a:lvl3pPr>
            <a:lvl4pPr>
              <a:defRPr sz="6750" b="1">
                <a:solidFill>
                  <a:srgbClr val="28624B"/>
                </a:solidFill>
                <a:latin typeface="Arial"/>
                <a:ea typeface="Arial"/>
                <a:cs typeface="Arial"/>
              </a:defRPr>
            </a:lvl4pPr>
            <a:lvl5pPr>
              <a:defRPr sz="6750" b="1">
                <a:solidFill>
                  <a:srgbClr val="28624B"/>
                </a:solidFill>
                <a:latin typeface="Arial"/>
                <a:ea typeface="Arial"/>
                <a:cs typeface="Arial"/>
              </a:defRPr>
            </a:lvl5pPr>
            <a:lvl6pPr>
              <a:defRPr sz="6750" b="1">
                <a:solidFill>
                  <a:srgbClr val="28624B"/>
                </a:solidFill>
                <a:latin typeface="Arial"/>
                <a:ea typeface="Arial"/>
                <a:cs typeface="Arial"/>
              </a:defRPr>
            </a:lvl6pPr>
            <a:lvl7pPr>
              <a:defRPr sz="6750" b="1">
                <a:solidFill>
                  <a:srgbClr val="28624B"/>
                </a:solidFill>
                <a:latin typeface="Arial"/>
                <a:ea typeface="Arial"/>
                <a:cs typeface="Arial"/>
              </a:defRPr>
            </a:lvl7pPr>
            <a:lvl8pPr>
              <a:defRPr sz="6750" b="1">
                <a:solidFill>
                  <a:srgbClr val="28624B"/>
                </a:solidFill>
                <a:latin typeface="Arial"/>
                <a:ea typeface="Arial"/>
                <a:cs typeface="Arial"/>
              </a:defRPr>
            </a:lvl8pPr>
            <a:lvl9pPr>
              <a:defRPr sz="6750" b="1">
                <a:solidFill>
                  <a:srgbClr val="28624B"/>
                </a:solidFill>
                <a:latin typeface="Arial"/>
                <a:ea typeface="Arial"/>
                <a:cs typeface="Arial"/>
              </a:defRPr>
            </a:lvl9pPr>
          </a:lstStyle>
          <a:p xmlns:a="http://schemas.openxmlformats.org/drawingml/2006/main">
            <a:pPr>
              <a:defRPr sz="6750" b="1">
                <a:solidFill>
                  <a:srgbClr val="28624B"/>
                </a:solidFill>
                <a:latin typeface="Arial"/>
                <a:ea typeface="Arial"/>
                <a:cs typeface="Arial"/>
              </a:defRPr>
            </a:pPr>
            <a:r>
              <a:rPr sz="6750" b="1">
                <a:solidFill>
                  <a:srgbClr val="28624B"/>
                </a:solidFill>
                <a:latin typeface="Arial"/>
                <a:ea typeface="Arial"/>
                <a:cs typeface="Arial"/>
              </a:rPr>
              <a:t>60%</a:t>
            </a:r>
          </a:p>
        </p:txBody>
      </p:sp>
      <p:sp>
        <p:nvSpPr>
          <p:cNvPr id="10" name="CPU target">
            <a:extLst xmlns:a="http://schemas.openxmlformats.org/drawingml/2006/main">
              <a:ext uri="{FF2B5EF4-FFF2-40B4-BE49-F238E27FC236}">
                <a16:creationId xmlns:a16="http://schemas.microsoft.com/office/drawing/2014/main" id="{4A9AF112-AEAF-4485-B73C-8993806EF8B4}"/>
              </a:ext>
            </a:extLst>
          </p:cNvPr>
          <p:cNvSpPr>
            <a:spLocks xmlns:a="http://schemas.openxmlformats.org/drawingml/2006/main" noGrp="1"/>
          </p:cNvSpPr>
          <p:nvPr/>
        </p:nvSpPr>
        <p:spPr>
          <a:xfrm xmlns:a="http://schemas.openxmlformats.org/drawingml/2006/main">
            <a:off x="8667750" y="3286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53665C"/>
                </a:solidFill>
                <a:latin typeface="Arial"/>
                <a:ea typeface="Arial"/>
                <a:cs typeface="Arial"/>
              </a:defRPr>
            </a:defPPr>
            <a:lvl1pPr>
              <a:defRPr sz="2025" b="0">
                <a:solidFill>
                  <a:srgbClr val="53665C"/>
                </a:solidFill>
                <a:latin typeface="Arial"/>
                <a:ea typeface="Arial"/>
                <a:cs typeface="Arial"/>
              </a:defRPr>
            </a:lvl1pPr>
            <a:lvl2pPr>
              <a:defRPr sz="2025" b="0">
                <a:solidFill>
                  <a:srgbClr val="53665C"/>
                </a:solidFill>
                <a:latin typeface="Arial"/>
                <a:ea typeface="Arial"/>
                <a:cs typeface="Arial"/>
              </a:defRPr>
            </a:lvl2pPr>
            <a:lvl3pPr>
              <a:defRPr sz="2025" b="0">
                <a:solidFill>
                  <a:srgbClr val="53665C"/>
                </a:solidFill>
                <a:latin typeface="Arial"/>
                <a:ea typeface="Arial"/>
                <a:cs typeface="Arial"/>
              </a:defRPr>
            </a:lvl3pPr>
            <a:lvl4pPr>
              <a:defRPr sz="2025" b="0">
                <a:solidFill>
                  <a:srgbClr val="53665C"/>
                </a:solidFill>
                <a:latin typeface="Arial"/>
                <a:ea typeface="Arial"/>
                <a:cs typeface="Arial"/>
              </a:defRPr>
            </a:lvl4pPr>
            <a:lvl5pPr>
              <a:defRPr sz="2025" b="0">
                <a:solidFill>
                  <a:srgbClr val="53665C"/>
                </a:solidFill>
                <a:latin typeface="Arial"/>
                <a:ea typeface="Arial"/>
                <a:cs typeface="Arial"/>
              </a:defRPr>
            </a:lvl5pPr>
            <a:lvl6pPr>
              <a:defRPr sz="2025" b="0">
                <a:solidFill>
                  <a:srgbClr val="53665C"/>
                </a:solidFill>
                <a:latin typeface="Arial"/>
                <a:ea typeface="Arial"/>
                <a:cs typeface="Arial"/>
              </a:defRPr>
            </a:lvl6pPr>
            <a:lvl7pPr>
              <a:defRPr sz="2025" b="0">
                <a:solidFill>
                  <a:srgbClr val="53665C"/>
                </a:solidFill>
                <a:latin typeface="Arial"/>
                <a:ea typeface="Arial"/>
                <a:cs typeface="Arial"/>
              </a:defRPr>
            </a:lvl7pPr>
            <a:lvl8pPr>
              <a:defRPr sz="2025" b="0">
                <a:solidFill>
                  <a:srgbClr val="53665C"/>
                </a:solidFill>
                <a:latin typeface="Arial"/>
                <a:ea typeface="Arial"/>
                <a:cs typeface="Arial"/>
              </a:defRPr>
            </a:lvl8pPr>
            <a:lvl9pPr>
              <a:defRPr sz="2025" b="0">
                <a:solidFill>
                  <a:srgbClr val="53665C"/>
                </a:solidFill>
                <a:latin typeface="Arial"/>
                <a:ea typeface="Arial"/>
                <a:cs typeface="Arial"/>
              </a:defRPr>
            </a:lvl9pPr>
          </a:lstStyle>
          <a:p xmlns:a="http://schemas.openxmlformats.org/drawingml/2006/main">
            <a:pPr>
              <a:defRPr sz="2025" b="0">
                <a:solidFill>
                  <a:srgbClr val="53665C"/>
                </a:solidFill>
                <a:latin typeface="Arial"/>
                <a:ea typeface="Arial"/>
                <a:cs typeface="Arial"/>
              </a:defRPr>
            </a:pPr>
            <a:r>
              <a:rPr sz="2025" b="0">
                <a:solidFill>
                  <a:srgbClr val="53665C"/>
                </a:solidFill>
                <a:latin typeface="Arial"/>
                <a:ea typeface="Arial"/>
                <a:cs typeface="Arial"/>
              </a:rPr>
              <a:t>CPU target</a:t>
            </a:r>
          </a:p>
        </p:txBody>
      </p:sp>
      <p:sp>
        <p:nvSpPr>
          <p:cNvPr id="11" name="SuccessfulRescale: New size: 5">
            <a:extLst xmlns:a="http://schemas.openxmlformats.org/drawingml/2006/main">
              <a:ext uri="{FF2B5EF4-FFF2-40B4-BE49-F238E27FC236}">
                <a16:creationId xmlns:a16="http://schemas.microsoft.com/office/drawing/2014/main" id="{CE14BB47-FC80-4389-BC03-4311F39C46A7}"/>
              </a:ext>
            </a:extLst>
          </p:cNvPr>
          <p:cNvSpPr>
            <a:spLocks xmlns:a="http://schemas.openxmlformats.org/drawingml/2006/main" noGrp="1"/>
          </p:cNvSpPr>
          <p:nvPr/>
        </p:nvSpPr>
        <p:spPr>
          <a:xfrm xmlns:a="http://schemas.openxmlformats.org/drawingml/2006/main">
            <a:off x="666750" y="4238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1">
                <a:solidFill>
                  <a:srgbClr val="183D33"/>
                </a:solidFill>
                <a:latin typeface="Arial"/>
                <a:ea typeface="Arial"/>
                <a:cs typeface="Arial"/>
              </a:defRPr>
            </a:defPPr>
            <a:lvl1pPr>
              <a:defRPr sz="2625" b="1">
                <a:solidFill>
                  <a:srgbClr val="183D33"/>
                </a:solidFill>
                <a:latin typeface="Arial"/>
                <a:ea typeface="Arial"/>
                <a:cs typeface="Arial"/>
              </a:defRPr>
            </a:lvl1pPr>
            <a:lvl2pPr>
              <a:defRPr sz="2625" b="1">
                <a:solidFill>
                  <a:srgbClr val="183D33"/>
                </a:solidFill>
                <a:latin typeface="Arial"/>
                <a:ea typeface="Arial"/>
                <a:cs typeface="Arial"/>
              </a:defRPr>
            </a:lvl2pPr>
            <a:lvl3pPr>
              <a:defRPr sz="2625" b="1">
                <a:solidFill>
                  <a:srgbClr val="183D33"/>
                </a:solidFill>
                <a:latin typeface="Arial"/>
                <a:ea typeface="Arial"/>
                <a:cs typeface="Arial"/>
              </a:defRPr>
            </a:lvl3pPr>
            <a:lvl4pPr>
              <a:defRPr sz="2625" b="1">
                <a:solidFill>
                  <a:srgbClr val="183D33"/>
                </a:solidFill>
                <a:latin typeface="Arial"/>
                <a:ea typeface="Arial"/>
                <a:cs typeface="Arial"/>
              </a:defRPr>
            </a:lvl4pPr>
            <a:lvl5pPr>
              <a:defRPr sz="2625" b="1">
                <a:solidFill>
                  <a:srgbClr val="183D33"/>
                </a:solidFill>
                <a:latin typeface="Arial"/>
                <a:ea typeface="Arial"/>
                <a:cs typeface="Arial"/>
              </a:defRPr>
            </a:lvl5pPr>
            <a:lvl6pPr>
              <a:defRPr sz="2625" b="1">
                <a:solidFill>
                  <a:srgbClr val="183D33"/>
                </a:solidFill>
                <a:latin typeface="Arial"/>
                <a:ea typeface="Arial"/>
                <a:cs typeface="Arial"/>
              </a:defRPr>
            </a:lvl6pPr>
            <a:lvl7pPr>
              <a:defRPr sz="2625" b="1">
                <a:solidFill>
                  <a:srgbClr val="183D33"/>
                </a:solidFill>
                <a:latin typeface="Arial"/>
                <a:ea typeface="Arial"/>
                <a:cs typeface="Arial"/>
              </a:defRPr>
            </a:lvl7pPr>
            <a:lvl8pPr>
              <a:defRPr sz="2625" b="1">
                <a:solidFill>
                  <a:srgbClr val="183D33"/>
                </a:solidFill>
                <a:latin typeface="Arial"/>
                <a:ea typeface="Arial"/>
                <a:cs typeface="Arial"/>
              </a:defRPr>
            </a:lvl8pPr>
            <a:lvl9pPr>
              <a:defRPr sz="2625" b="1">
                <a:solidFill>
                  <a:srgbClr val="183D33"/>
                </a:solidFill>
                <a:latin typeface="Arial"/>
                <a:ea typeface="Arial"/>
                <a:cs typeface="Arial"/>
              </a:defRPr>
            </a:lvl9pPr>
          </a:lstStyle>
          <a:p xmlns:a="http://schemas.openxmlformats.org/drawingml/2006/main">
            <a:pPr>
              <a:defRPr sz="2625" b="1">
                <a:solidFill>
                  <a:srgbClr val="183D33"/>
                </a:solidFill>
                <a:latin typeface="Arial"/>
                <a:ea typeface="Arial"/>
                <a:cs typeface="Arial"/>
              </a:defRPr>
            </a:pPr>
            <a:r>
              <a:rPr sz="2625" b="1">
                <a:solidFill>
                  <a:srgbClr val="183D33"/>
                </a:solidFill>
                <a:latin typeface="Arial"/>
                <a:ea typeface="Arial"/>
                <a:cs typeface="Arial"/>
              </a:rPr>
              <a:t>SuccessfulRescale: New size: 5</a:t>
            </a:r>
          </a:p>
        </p:txBody>
      </p:sp>
      <p:sp>
        <p:nvSpPr>
          <p:cNvPr id="12" name="Demo CPU request: 20m. Chart default: 100m.&#10;1">
            <a:extLst xmlns:a="http://schemas.openxmlformats.org/drawingml/2006/main">
              <a:ext uri="{FF2B5EF4-FFF2-40B4-BE49-F238E27FC236}">
                <a16:creationId xmlns:a16="http://schemas.microsoft.com/office/drawing/2014/main" id="{2AAE5EBD-19A2-425C-8EC6-A04B5A0BAE8A}"/>
              </a:ext>
            </a:extLst>
          </p:cNvPr>
          <p:cNvSpPr>
            <a:spLocks xmlns:a="http://schemas.openxmlformats.org/drawingml/2006/main" noGrp="1"/>
          </p:cNvSpPr>
          <p:nvPr/>
        </p:nvSpPr>
        <p:spPr>
          <a:xfrm xmlns:a="http://schemas.openxmlformats.org/drawingml/2006/main">
            <a:off x="666750" y="50958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3665C"/>
                </a:solidFill>
                <a:latin typeface="Arial"/>
                <a:ea typeface="Arial"/>
                <a:cs typeface="Arial"/>
              </a:defRPr>
            </a:defPPr>
            <a:lvl1pPr>
              <a:defRPr sz="1950" b="0">
                <a:solidFill>
                  <a:srgbClr val="53665C"/>
                </a:solidFill>
                <a:latin typeface="Arial"/>
                <a:ea typeface="Arial"/>
                <a:cs typeface="Arial"/>
              </a:defRPr>
            </a:lvl1pPr>
            <a:lvl2pPr>
              <a:defRPr sz="1950" b="0">
                <a:solidFill>
                  <a:srgbClr val="53665C"/>
                </a:solidFill>
                <a:latin typeface="Arial"/>
                <a:ea typeface="Arial"/>
                <a:cs typeface="Arial"/>
              </a:defRPr>
            </a:lvl2pPr>
            <a:lvl3pPr>
              <a:defRPr sz="1950" b="0">
                <a:solidFill>
                  <a:srgbClr val="53665C"/>
                </a:solidFill>
                <a:latin typeface="Arial"/>
                <a:ea typeface="Arial"/>
                <a:cs typeface="Arial"/>
              </a:defRPr>
            </a:lvl3pPr>
            <a:lvl4pPr>
              <a:defRPr sz="1950" b="0">
                <a:solidFill>
                  <a:srgbClr val="53665C"/>
                </a:solidFill>
                <a:latin typeface="Arial"/>
                <a:ea typeface="Arial"/>
                <a:cs typeface="Arial"/>
              </a:defRPr>
            </a:lvl4pPr>
            <a:lvl5pPr>
              <a:defRPr sz="1950" b="0">
                <a:solidFill>
                  <a:srgbClr val="53665C"/>
                </a:solidFill>
                <a:latin typeface="Arial"/>
                <a:ea typeface="Arial"/>
                <a:cs typeface="Arial"/>
              </a:defRPr>
            </a:lvl5pPr>
            <a:lvl6pPr>
              <a:defRPr sz="1950" b="0">
                <a:solidFill>
                  <a:srgbClr val="53665C"/>
                </a:solidFill>
                <a:latin typeface="Arial"/>
                <a:ea typeface="Arial"/>
                <a:cs typeface="Arial"/>
              </a:defRPr>
            </a:lvl6pPr>
            <a:lvl7pPr>
              <a:defRPr sz="1950" b="0">
                <a:solidFill>
                  <a:srgbClr val="53665C"/>
                </a:solidFill>
                <a:latin typeface="Arial"/>
                <a:ea typeface="Arial"/>
                <a:cs typeface="Arial"/>
              </a:defRPr>
            </a:lvl7pPr>
            <a:lvl8pPr>
              <a:defRPr sz="1950" b="0">
                <a:solidFill>
                  <a:srgbClr val="53665C"/>
                </a:solidFill>
                <a:latin typeface="Arial"/>
                <a:ea typeface="Arial"/>
                <a:cs typeface="Arial"/>
              </a:defRPr>
            </a:lvl8pPr>
            <a:lvl9pPr>
              <a:defRPr sz="1950" b="0">
                <a:solidFill>
                  <a:srgbClr val="53665C"/>
                </a:solidFill>
                <a:latin typeface="Arial"/>
                <a:ea typeface="Arial"/>
                <a:cs typeface="Arial"/>
              </a:defRPr>
            </a:lvl9pPr>
          </a:lstStyle>
          <a:p xmlns:a="http://schemas.openxmlformats.org/drawingml/2006/main">
            <a:pPr>
              <a:defRPr sz="1950" b="0">
                <a:solidFill>
                  <a:srgbClr val="53665C"/>
                </a:solidFill>
                <a:latin typeface="Arial"/>
                <a:ea typeface="Arial"/>
                <a:cs typeface="Arial"/>
              </a:defRPr>
            </a:pPr>
            <a:r>
              <a:rPr sz="1950" b="0">
                <a:solidFill>
                  <a:srgbClr val="53665C"/>
                </a:solidFill>
                <a:latin typeface="Arial"/>
                <a:ea typeface="Arial"/>
                <a:cs typeface="Arial"/>
              </a:rPr>
              <a:t>Demo CPU request: 20m. Chart default: 100m.</a:t>
            </a:r>
          </a:p>
          <a:p xmlns:a="http://schemas.openxmlformats.org/drawingml/2006/main">
            <a:pPr>
              <a:defRPr sz="1950" b="0">
                <a:solidFill>
                  <a:srgbClr val="53665C"/>
                </a:solidFill>
                <a:latin typeface="Arial"/>
                <a:ea typeface="Arial"/>
                <a:cs typeface="Arial"/>
              </a:defRPr>
            </a:pPr>
            <a:r>
              <a:rPr sz="1950" b="0">
                <a:solidFill>
                  <a:srgbClr val="53665C"/>
                </a:solidFill>
                <a:latin typeface="Arial"/>
                <a:ea typeface="Arial"/>
                <a:cs typeface="Arial"/>
              </a:rPr>
              <a:t>18,952 successful responses and 4 request errors in 180 seconds.</a:t>
            </a:r>
          </a:p>
        </p:txBody>
      </p:sp>
    </p:spTree>
    <p:extLst>
      <p:ext uri="{BB962C8B-B14F-4D97-AF65-F5344CB8AC3E}">
        <p14:creationId xmlns:p14="http://schemas.microsoft.com/office/powerpoint/2010/main" val="527228782"/>
      </p:ext>
    </p:extLst>
  </p:cSld>
</p:sld>
</file>

<file path=ppt/slides/slide11.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7" name="Application monitoring">
            <a:extLst xmlns:a="http://schemas.openxmlformats.org/drawingml/2006/main">
              <a:ext uri="{FF2B5EF4-FFF2-40B4-BE49-F238E27FC236}">
                <a16:creationId xmlns:a16="http://schemas.microsoft.com/office/drawing/2014/main" id="{4C37D33E-63D9-4D98-BC07-69471361F58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Application monitoring</a:t>
            </a:r>
          </a:p>
        </p:txBody>
      </p:sp>
      <p:sp>
        <p:nvSpPr>
          <p:cNvPr id="2" name="Prometheus scrapes the API and Grafana shows ">
            <a:extLst xmlns:a="http://schemas.openxmlformats.org/drawingml/2006/main">
              <a:ext uri="{FF2B5EF4-FFF2-40B4-BE49-F238E27FC236}">
                <a16:creationId xmlns:a16="http://schemas.microsoft.com/office/drawing/2014/main" id="{20DA1182-C059-43B6-B156-6CF59F7199BE}"/>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Prometheus scrapes the API and Grafana shows the recorded workload</a:t>
            </a:r>
          </a:p>
        </p:txBody>
      </p:sp>
      <p:sp>
        <p:nvSpPr>
          <p:cNvPr id="3" name="CampusCrate">
            <a:extLst xmlns:a="http://schemas.openxmlformats.org/drawingml/2006/main">
              <a:ext uri="{FF2B5EF4-FFF2-40B4-BE49-F238E27FC236}">
                <a16:creationId xmlns:a16="http://schemas.microsoft.com/office/drawing/2014/main" id="{13781508-0D76-4FBC-B0C6-98F467CEA153}"/>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11">
            <a:extLst xmlns:a="http://schemas.openxmlformats.org/drawingml/2006/main">
              <a:ext uri="{FF2B5EF4-FFF2-40B4-BE49-F238E27FC236}">
                <a16:creationId xmlns:a16="http://schemas.microsoft.com/office/drawing/2014/main" id="{81EC94AE-27D3-4B6A-827E-7A6186C0F9A1}"/>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0F9B5F11-0917-413C-B0E1-2041A27D9FCB}"/>
              </a:ext>
            </a:extLst>
          </p:cNvPr>
          <p:cNvPicPr>
            <a:picLocks xmlns:a="http://schemas.openxmlformats.org/drawingml/2006/main" noChangeAspect="1"/>
          </p:cNvPicPr>
          <p:nvPr/>
        </p:nvPicPr>
        <p:blipFill>
          <a:blip xmlns:r="http://schemas.openxmlformats.org/officeDocument/2006/relationships" xmlns:a="http://schemas.openxmlformats.org/drawingml/2006/main" r:embed="Raac4c364b3b04465"/>
          <a:stretch xmlns:a="http://schemas.openxmlformats.org/drawingml/2006/main"/>
        </p:blipFill>
        <p:spPr>
          <a:xfrm xmlns:a="http://schemas.openxmlformats.org/drawingml/2006/main">
            <a:off x="2497667" y="1781175"/>
            <a:ext cx="7196667" cy="4048125"/>
          </a:xfrm>
          <a:prstGeom xmlns:a="http://schemas.openxmlformats.org/drawingml/2006/main" prst="rect">
            <a:avLst/>
          </a:prstGeom>
        </p:spPr>
      </p:pic>
      <p:sp>
        <p:nvSpPr>
          <p:cNvPr id="6" name="Request rate, p95 latency, HTTP errors and re">
            <a:extLst xmlns:a="http://schemas.openxmlformats.org/drawingml/2006/main">
              <a:ext uri="{FF2B5EF4-FFF2-40B4-BE49-F238E27FC236}">
                <a16:creationId xmlns:a16="http://schemas.microsoft.com/office/drawing/2014/main" id="{BA0DAFE1-1A8D-45F8-9C33-70350055C358}"/>
              </a:ext>
            </a:extLst>
          </p:cNvPr>
          <p:cNvSpPr>
            <a:spLocks xmlns:a="http://schemas.openxmlformats.org/drawingml/2006/main" noGrp="1"/>
          </p:cNvSpPr>
          <p:nvPr/>
        </p:nvSpPr>
        <p:spPr>
          <a:xfrm xmlns:a="http://schemas.openxmlformats.org/drawingml/2006/main">
            <a:off x="628650" y="59721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65C"/>
                </a:solidFill>
                <a:latin typeface="Arial"/>
                <a:ea typeface="Arial"/>
                <a:cs typeface="Arial"/>
              </a:defRPr>
            </a:defPPr>
            <a:lvl1pPr>
              <a:defRPr sz="1875" b="0">
                <a:solidFill>
                  <a:srgbClr val="53665C"/>
                </a:solidFill>
                <a:latin typeface="Arial"/>
                <a:ea typeface="Arial"/>
                <a:cs typeface="Arial"/>
              </a:defRPr>
            </a:lvl1pPr>
            <a:lvl2pPr>
              <a:defRPr sz="1875" b="0">
                <a:solidFill>
                  <a:srgbClr val="53665C"/>
                </a:solidFill>
                <a:latin typeface="Arial"/>
                <a:ea typeface="Arial"/>
                <a:cs typeface="Arial"/>
              </a:defRPr>
            </a:lvl2pPr>
            <a:lvl3pPr>
              <a:defRPr sz="1875" b="0">
                <a:solidFill>
                  <a:srgbClr val="53665C"/>
                </a:solidFill>
                <a:latin typeface="Arial"/>
                <a:ea typeface="Arial"/>
                <a:cs typeface="Arial"/>
              </a:defRPr>
            </a:lvl3pPr>
            <a:lvl4pPr>
              <a:defRPr sz="1875" b="0">
                <a:solidFill>
                  <a:srgbClr val="53665C"/>
                </a:solidFill>
                <a:latin typeface="Arial"/>
                <a:ea typeface="Arial"/>
                <a:cs typeface="Arial"/>
              </a:defRPr>
            </a:lvl4pPr>
            <a:lvl5pPr>
              <a:defRPr sz="1875" b="0">
                <a:solidFill>
                  <a:srgbClr val="53665C"/>
                </a:solidFill>
                <a:latin typeface="Arial"/>
                <a:ea typeface="Arial"/>
                <a:cs typeface="Arial"/>
              </a:defRPr>
            </a:lvl5pPr>
            <a:lvl6pPr>
              <a:defRPr sz="1875" b="0">
                <a:solidFill>
                  <a:srgbClr val="53665C"/>
                </a:solidFill>
                <a:latin typeface="Arial"/>
                <a:ea typeface="Arial"/>
                <a:cs typeface="Arial"/>
              </a:defRPr>
            </a:lvl6pPr>
            <a:lvl7pPr>
              <a:defRPr sz="1875" b="0">
                <a:solidFill>
                  <a:srgbClr val="53665C"/>
                </a:solidFill>
                <a:latin typeface="Arial"/>
                <a:ea typeface="Arial"/>
                <a:cs typeface="Arial"/>
              </a:defRPr>
            </a:lvl7pPr>
            <a:lvl8pPr>
              <a:defRPr sz="1875" b="0">
                <a:solidFill>
                  <a:srgbClr val="53665C"/>
                </a:solidFill>
                <a:latin typeface="Arial"/>
                <a:ea typeface="Arial"/>
                <a:cs typeface="Arial"/>
              </a:defRPr>
            </a:lvl8pPr>
            <a:lvl9pPr>
              <a:defRPr sz="1875" b="0">
                <a:solidFill>
                  <a:srgbClr val="53665C"/>
                </a:solidFill>
                <a:latin typeface="Arial"/>
                <a:ea typeface="Arial"/>
                <a:cs typeface="Arial"/>
              </a:defRPr>
            </a:lvl9pPr>
          </a:lstStyle>
          <a:p xmlns:a="http://schemas.openxmlformats.org/drawingml/2006/main">
            <a:pPr>
              <a:defRPr sz="1875" b="0">
                <a:solidFill>
                  <a:srgbClr val="53665C"/>
                </a:solidFill>
                <a:latin typeface="Arial"/>
                <a:ea typeface="Arial"/>
                <a:cs typeface="Arial"/>
              </a:defRPr>
            </a:pPr>
            <a:r>
              <a:rPr sz="1875" b="0">
                <a:solidFill>
                  <a:srgbClr val="53665C"/>
                </a:solidFill>
                <a:latin typeface="Arial"/>
                <a:ea typeface="Arial"/>
                <a:cs typeface="Arial"/>
              </a:rPr>
              <a:t>Request rate, p95 latency, HTTP errors and requests by endpoint</a:t>
            </a:r>
          </a:p>
        </p:txBody>
      </p:sp>
    </p:spTree>
    <p:extLst>
      <p:ext uri="{BB962C8B-B14F-4D97-AF65-F5344CB8AC3E}">
        <p14:creationId xmlns:p14="http://schemas.microsoft.com/office/powerpoint/2010/main" val="1311737722"/>
      </p:ext>
    </p:extLst>
  </p:cSld>
</p:sld>
</file>

<file path=ppt/slides/slide12.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7" name="AWS infrastructure as code">
            <a:extLst xmlns:a="http://schemas.openxmlformats.org/drawingml/2006/main">
              <a:ext uri="{FF2B5EF4-FFF2-40B4-BE49-F238E27FC236}">
                <a16:creationId xmlns:a16="http://schemas.microsoft.com/office/drawing/2014/main" id="{A05C2482-F729-4006-BD80-4C9EF0025B53}"/>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AWS infrastructure as code</a:t>
            </a:r>
          </a:p>
        </p:txBody>
      </p:sp>
      <p:sp>
        <p:nvSpPr>
          <p:cNvPr id="2" name="Terraform validation and mock tests completed">
            <a:extLst xmlns:a="http://schemas.openxmlformats.org/drawingml/2006/main">
              <a:ext uri="{FF2B5EF4-FFF2-40B4-BE49-F238E27FC236}">
                <a16:creationId xmlns:a16="http://schemas.microsoft.com/office/drawing/2014/main" id="{17800D63-6055-4474-ABA5-F45AF6EB17C2}"/>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Terraform validation and mock tests completed. AWS provisioning remains pending</a:t>
            </a:r>
          </a:p>
        </p:txBody>
      </p:sp>
      <p:sp>
        <p:nvSpPr>
          <p:cNvPr id="3" name="CampusCrate">
            <a:extLst xmlns:a="http://schemas.openxmlformats.org/drawingml/2006/main">
              <a:ext uri="{FF2B5EF4-FFF2-40B4-BE49-F238E27FC236}">
                <a16:creationId xmlns:a16="http://schemas.microsoft.com/office/drawing/2014/main" id="{8916EC9B-2044-4F31-B7AD-CD453802DF9B}"/>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12">
            <a:extLst xmlns:a="http://schemas.openxmlformats.org/drawingml/2006/main">
              <a:ext uri="{FF2B5EF4-FFF2-40B4-BE49-F238E27FC236}">
                <a16:creationId xmlns:a16="http://schemas.microsoft.com/office/drawing/2014/main" id="{C88EF2D2-5DCB-4039-A681-943FEF819F17}"/>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3E847680-DF56-4E25-BCF2-D97B7892B6B7}"/>
              </a:ext>
            </a:extLst>
          </p:cNvPr>
          <p:cNvGraphicFramePr/>
          <p:nvPr/>
        </p:nvGraphicFramePr>
        <p:xfrm>
          <a:off xmlns:a="http://schemas.openxmlformats.org/drawingml/2006/main" x="609600" y="1924050"/>
          <a:ext xmlns:a="http://schemas.openxmlformats.org/drawingml/2006/main" cx="10972800" cy="3286125"/>
        </p:xfrm>
        <a:graphic xmlns:a="http://schemas.openxmlformats.org/drawingml/2006/main">
          <a:graphicData uri="http://schemas.openxmlformats.org/drawingml/2006/table">
            <a:tbl>
              <a:tblPr/>
              <a:tblGrid>
                <a:gridCol w="1905000"/>
                <a:gridCol w="5524500"/>
                <a:gridCol w="3543300"/>
              </a:tblGrid>
              <a:tr h="657225">
                <a:tc>
                  <a:txBody>
                    <a:bodyPr/>
                    <a:lstStyle/>
                    <a:p>
                      <a:r>
                        <a:rPr sz="1725" b="1">
                          <a:solidFill>
                            <a:srgbClr val="FFFFFF"/>
                          </a:solidFill>
                          <a:latin typeface="Arial"/>
                          <a:ea typeface="Arial"/>
                          <a:cs typeface="Arial"/>
                        </a:rPr>
                        <a:t>Area</a:t>
                      </a:r>
                    </a:p>
                  </a:txBody>
                  <a:tcPr marL="91440" marR="91440" marT="45720" marB="45720">
                    <a:lnL w="9525">
                      <a:solidFill>
                        <a:srgbClr val="D6DFD3"/>
                      </a:solidFill>
                      <a:prstDash val="solid"/>
                    </a:lnL>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725" b="1">
                          <a:solidFill>
                            <a:srgbClr val="FFFFFF"/>
                          </a:solidFill>
                          <a:latin typeface="Arial"/>
                          <a:ea typeface="Arial"/>
                          <a:cs typeface="Arial"/>
                        </a:rPr>
                        <a:t>Prepared configuration</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725" b="1">
                          <a:solidFill>
                            <a:srgbClr val="FFFFFF"/>
                          </a:solidFill>
                          <a:latin typeface="Arial"/>
                          <a:ea typeface="Arial"/>
                          <a:cs typeface="Arial"/>
                        </a:rPr>
                        <a:t>Executed verification</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r>
              <a:tr h="657225">
                <a:tc>
                  <a:txBody>
                    <a:bodyPr/>
                    <a:lstStyle/>
                    <a:p>
                      <a:r>
                        <a:rPr sz="1725" b="0">
                          <a:solidFill>
                            <a:srgbClr val="183D33"/>
                          </a:solidFill>
                          <a:latin typeface="Arial"/>
                          <a:ea typeface="Arial"/>
                          <a:cs typeface="Arial"/>
                        </a:rPr>
                        <a:t>Network</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725" b="0">
                          <a:solidFill>
                            <a:srgbClr val="183D33"/>
                          </a:solidFill>
                          <a:latin typeface="Arial"/>
                          <a:ea typeface="Arial"/>
                          <a:cs typeface="Arial"/>
                        </a:rPr>
                        <a:t>VPC, 2 public + 2 private subnets, NAT</a:t>
                      </a:r>
                    </a:p>
                  </a:txBody>
                  <a:tcPr marL="91440" marR="91440" marT="45720" marB="45720">
                    <a:lnR w="9525">
                      <a:solidFill>
                        <a:srgbClr val="D6DFD3"/>
                      </a:solidFill>
                      <a:prstDash val="solid"/>
                    </a:lnR>
                    <a:lnB w="9525">
                      <a:solidFill>
                        <a:srgbClr val="D6DFD3"/>
                      </a:solidFill>
                      <a:prstDash val="solid"/>
                    </a:lnB>
                    <a:solidFill>
                      <a:srgbClr val="FFFFFF"/>
                    </a:solidFill>
                  </a:tcPr>
                </a:tc>
                <a:tc>
                  <a:txBody>
                    <a:bodyPr/>
                    <a:lstStyle/>
                    <a:p>
                      <a:r>
                        <a:rPr sz="1725" b="0">
                          <a:solidFill>
                            <a:srgbClr val="183D33"/>
                          </a:solidFill>
                          <a:latin typeface="Arial"/>
                          <a:ea typeface="Arial"/>
                          <a:cs typeface="Arial"/>
                        </a:rPr>
                        <a:t>Terraform init and validate</a:t>
                      </a:r>
                    </a:p>
                  </a:txBody>
                  <a:tcPr marL="91440" marR="91440" marT="45720" marB="45720">
                    <a:lnR w="9525">
                      <a:solidFill>
                        <a:srgbClr val="D6DFD3"/>
                      </a:solidFill>
                      <a:prstDash val="solid"/>
                    </a:lnR>
                    <a:lnB w="9525">
                      <a:solidFill>
                        <a:srgbClr val="D6DFD3"/>
                      </a:solidFill>
                      <a:prstDash val="solid"/>
                    </a:lnB>
                    <a:solidFill>
                      <a:srgbClr val="FFFFFF"/>
                    </a:solidFill>
                  </a:tcPr>
                </a:tc>
              </a:tr>
              <a:tr h="657225">
                <a:tc>
                  <a:txBody>
                    <a:bodyPr/>
                    <a:lstStyle/>
                    <a:p>
                      <a:r>
                        <a:rPr sz="1725" b="0">
                          <a:solidFill>
                            <a:srgbClr val="183D33"/>
                          </a:solidFill>
                          <a:latin typeface="Arial"/>
                          <a:ea typeface="Arial"/>
                          <a:cs typeface="Arial"/>
                        </a:rPr>
                        <a:t>Compute</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725" b="0">
                          <a:solidFill>
                            <a:srgbClr val="183D33"/>
                          </a:solidFill>
                          <a:latin typeface="Arial"/>
                          <a:ea typeface="Arial"/>
                          <a:cs typeface="Arial"/>
                        </a:rPr>
                        <a:t>EKS and two managed workers</a:t>
                      </a:r>
                    </a:p>
                  </a:txBody>
                  <a:tcPr marL="91440" marR="91440" marT="45720" marB="45720">
                    <a:lnR w="9525">
                      <a:solidFill>
                        <a:srgbClr val="D6DFD3"/>
                      </a:solidFill>
                      <a:prstDash val="solid"/>
                    </a:lnR>
                    <a:lnB w="9525">
                      <a:solidFill>
                        <a:srgbClr val="D6DFD3"/>
                      </a:solidFill>
                      <a:prstDash val="solid"/>
                    </a:lnB>
                    <a:solidFill>
                      <a:srgbClr val="EAF0E2"/>
                    </a:solidFill>
                  </a:tcPr>
                </a:tc>
                <a:tc>
                  <a:txBody>
                    <a:bodyPr/>
                    <a:lstStyle/>
                    <a:p>
                      <a:r>
                        <a:rPr sz="1725" b="0">
                          <a:solidFill>
                            <a:srgbClr val="183D33"/>
                          </a:solidFill>
                          <a:latin typeface="Arial"/>
                          <a:ea typeface="Arial"/>
                          <a:cs typeface="Arial"/>
                        </a:rPr>
                        <a:t>Mock-provider plan assertions</a:t>
                      </a:r>
                    </a:p>
                  </a:txBody>
                  <a:tcPr marL="91440" marR="91440" marT="45720" marB="45720">
                    <a:lnR w="9525">
                      <a:solidFill>
                        <a:srgbClr val="D6DFD3"/>
                      </a:solidFill>
                      <a:prstDash val="solid"/>
                    </a:lnR>
                    <a:lnB w="9525">
                      <a:solidFill>
                        <a:srgbClr val="D6DFD3"/>
                      </a:solidFill>
                      <a:prstDash val="solid"/>
                    </a:lnB>
                    <a:solidFill>
                      <a:srgbClr val="EAF0E2"/>
                    </a:solidFill>
                  </a:tcPr>
                </a:tc>
              </a:tr>
              <a:tr h="657225">
                <a:tc>
                  <a:txBody>
                    <a:bodyPr/>
                    <a:lstStyle/>
                    <a:p>
                      <a:r>
                        <a:rPr sz="1725" b="0">
                          <a:solidFill>
                            <a:srgbClr val="183D33"/>
                          </a:solidFill>
                          <a:latin typeface="Arial"/>
                          <a:ea typeface="Arial"/>
                          <a:cs typeface="Arial"/>
                        </a:rPr>
                        <a:t>Access</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725" b="0">
                          <a:solidFill>
                            <a:srgbClr val="183D33"/>
                          </a:solidFill>
                          <a:latin typeface="Arial"/>
                          <a:ea typeface="Arial"/>
                          <a:cs typeface="Arial"/>
                        </a:rPr>
                        <a:t>Restricted API, IAM and OIDC</a:t>
                      </a:r>
                    </a:p>
                  </a:txBody>
                  <a:tcPr marL="91440" marR="91440" marT="45720" marB="45720">
                    <a:lnR w="9525">
                      <a:solidFill>
                        <a:srgbClr val="D6DFD3"/>
                      </a:solidFill>
                      <a:prstDash val="solid"/>
                    </a:lnR>
                    <a:lnB w="9525">
                      <a:solidFill>
                        <a:srgbClr val="D6DFD3"/>
                      </a:solidFill>
                      <a:prstDash val="solid"/>
                    </a:lnB>
                    <a:solidFill>
                      <a:srgbClr val="FFFFFF"/>
                    </a:solidFill>
                  </a:tcPr>
                </a:tc>
                <a:tc>
                  <a:txBody>
                    <a:bodyPr/>
                    <a:lstStyle/>
                    <a:p>
                      <a:r>
                        <a:rPr sz="1725" b="0">
                          <a:solidFill>
                            <a:srgbClr val="183D33"/>
                          </a:solidFill>
                          <a:latin typeface="Arial"/>
                          <a:ea typeface="Arial"/>
                          <a:cs typeface="Arial"/>
                        </a:rPr>
                        <a:t>Configuration and test review</a:t>
                      </a:r>
                    </a:p>
                  </a:txBody>
                  <a:tcPr marL="91440" marR="91440" marT="45720" marB="45720">
                    <a:lnR w="9525">
                      <a:solidFill>
                        <a:srgbClr val="D6DFD3"/>
                      </a:solidFill>
                      <a:prstDash val="solid"/>
                    </a:lnR>
                    <a:lnB w="9525">
                      <a:solidFill>
                        <a:srgbClr val="D6DFD3"/>
                      </a:solidFill>
                      <a:prstDash val="solid"/>
                    </a:lnB>
                    <a:solidFill>
                      <a:srgbClr val="FFFFFF"/>
                    </a:solidFill>
                  </a:tcPr>
                </a:tc>
              </a:tr>
              <a:tr h="657225">
                <a:tc>
                  <a:txBody>
                    <a:bodyPr/>
                    <a:lstStyle/>
                    <a:p>
                      <a:r>
                        <a:rPr sz="1725" b="0">
                          <a:solidFill>
                            <a:srgbClr val="183D33"/>
                          </a:solidFill>
                          <a:latin typeface="Arial"/>
                          <a:ea typeface="Arial"/>
                          <a:cs typeface="Arial"/>
                        </a:rPr>
                        <a:t>Storage</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725" b="0">
                          <a:solidFill>
                            <a:srgbClr val="183D33"/>
                          </a:solidFill>
                          <a:latin typeface="Arial"/>
                          <a:ea typeface="Arial"/>
                          <a:cs typeface="Arial"/>
                        </a:rPr>
                        <a:t>EBS CSI and encrypted gp3</a:t>
                      </a:r>
                    </a:p>
                  </a:txBody>
                  <a:tcPr marL="91440" marR="91440" marT="45720" marB="45720">
                    <a:lnR w="9525">
                      <a:solidFill>
                        <a:srgbClr val="D6DFD3"/>
                      </a:solidFill>
                      <a:prstDash val="solid"/>
                    </a:lnR>
                    <a:lnB w="9525">
                      <a:solidFill>
                        <a:srgbClr val="D6DFD3"/>
                      </a:solidFill>
                      <a:prstDash val="solid"/>
                    </a:lnB>
                    <a:solidFill>
                      <a:srgbClr val="EAF0E2"/>
                    </a:solidFill>
                  </a:tcPr>
                </a:tc>
                <a:tc>
                  <a:txBody>
                    <a:bodyPr/>
                    <a:lstStyle/>
                    <a:p>
                      <a:r>
                        <a:rPr sz="1725" b="0">
                          <a:solidFill>
                            <a:srgbClr val="183D33"/>
                          </a:solidFill>
                          <a:latin typeface="Arial"/>
                          <a:ea typeface="Arial"/>
                          <a:cs typeface="Arial"/>
                        </a:rPr>
                        <a:t>Configuration and test review</a:t>
                      </a:r>
                    </a:p>
                  </a:txBody>
                  <a:tcPr marL="91440" marR="91440" marT="45720" marB="45720">
                    <a:lnR w="9525">
                      <a:solidFill>
                        <a:srgbClr val="D6DFD3"/>
                      </a:solidFill>
                      <a:prstDash val="solid"/>
                    </a:lnR>
                    <a:lnB w="9525">
                      <a:solidFill>
                        <a:srgbClr val="D6DFD3"/>
                      </a:solidFill>
                      <a:prstDash val="solid"/>
                    </a:lnB>
                    <a:solidFill>
                      <a:srgbClr val="EAF0E2"/>
                    </a:solidFill>
                  </a:tcPr>
                </a:tc>
              </a:tr>
            </a:tbl>
          </a:graphicData>
        </a:graphic>
      </p:graphicFrame>
      <p:sp>
        <p:nvSpPr>
          <p:cNvPr id="6" name="No real AWS plan, apply, Console capture or d">
            <a:extLst xmlns:a="http://schemas.openxmlformats.org/drawingml/2006/main">
              <a:ext uri="{FF2B5EF4-FFF2-40B4-BE49-F238E27FC236}">
                <a16:creationId xmlns:a16="http://schemas.microsoft.com/office/drawing/2014/main" id="{A0B3309B-C03E-4EE3-B081-785C4B8662F5}"/>
              </a:ext>
            </a:extLst>
          </p:cNvPr>
          <p:cNvSpPr>
            <a:spLocks xmlns:a="http://schemas.openxmlformats.org/drawingml/2006/main" noGrp="1"/>
          </p:cNvSpPr>
          <p:nvPr/>
        </p:nvSpPr>
        <p:spPr>
          <a:xfrm xmlns:a="http://schemas.openxmlformats.org/drawingml/2006/main">
            <a:off x="628650" y="56769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28624B"/>
                </a:solidFill>
                <a:latin typeface="Arial"/>
                <a:ea typeface="Arial"/>
                <a:cs typeface="Arial"/>
              </a:defRPr>
            </a:defPPr>
            <a:lvl1pPr>
              <a:defRPr sz="2175" b="1">
                <a:solidFill>
                  <a:srgbClr val="28624B"/>
                </a:solidFill>
                <a:latin typeface="Arial"/>
                <a:ea typeface="Arial"/>
                <a:cs typeface="Arial"/>
              </a:defRPr>
            </a:lvl1pPr>
            <a:lvl2pPr>
              <a:defRPr sz="2175" b="1">
                <a:solidFill>
                  <a:srgbClr val="28624B"/>
                </a:solidFill>
                <a:latin typeface="Arial"/>
                <a:ea typeface="Arial"/>
                <a:cs typeface="Arial"/>
              </a:defRPr>
            </a:lvl2pPr>
            <a:lvl3pPr>
              <a:defRPr sz="2175" b="1">
                <a:solidFill>
                  <a:srgbClr val="28624B"/>
                </a:solidFill>
                <a:latin typeface="Arial"/>
                <a:ea typeface="Arial"/>
                <a:cs typeface="Arial"/>
              </a:defRPr>
            </a:lvl3pPr>
            <a:lvl4pPr>
              <a:defRPr sz="2175" b="1">
                <a:solidFill>
                  <a:srgbClr val="28624B"/>
                </a:solidFill>
                <a:latin typeface="Arial"/>
                <a:ea typeface="Arial"/>
                <a:cs typeface="Arial"/>
              </a:defRPr>
            </a:lvl4pPr>
            <a:lvl5pPr>
              <a:defRPr sz="2175" b="1">
                <a:solidFill>
                  <a:srgbClr val="28624B"/>
                </a:solidFill>
                <a:latin typeface="Arial"/>
                <a:ea typeface="Arial"/>
                <a:cs typeface="Arial"/>
              </a:defRPr>
            </a:lvl5pPr>
            <a:lvl6pPr>
              <a:defRPr sz="2175" b="1">
                <a:solidFill>
                  <a:srgbClr val="28624B"/>
                </a:solidFill>
                <a:latin typeface="Arial"/>
                <a:ea typeface="Arial"/>
                <a:cs typeface="Arial"/>
              </a:defRPr>
            </a:lvl6pPr>
            <a:lvl7pPr>
              <a:defRPr sz="2175" b="1">
                <a:solidFill>
                  <a:srgbClr val="28624B"/>
                </a:solidFill>
                <a:latin typeface="Arial"/>
                <a:ea typeface="Arial"/>
                <a:cs typeface="Arial"/>
              </a:defRPr>
            </a:lvl7pPr>
            <a:lvl8pPr>
              <a:defRPr sz="2175" b="1">
                <a:solidFill>
                  <a:srgbClr val="28624B"/>
                </a:solidFill>
                <a:latin typeface="Arial"/>
                <a:ea typeface="Arial"/>
                <a:cs typeface="Arial"/>
              </a:defRPr>
            </a:lvl8pPr>
            <a:lvl9pPr>
              <a:defRPr sz="2175" b="1">
                <a:solidFill>
                  <a:srgbClr val="28624B"/>
                </a:solidFill>
                <a:latin typeface="Arial"/>
                <a:ea typeface="Arial"/>
                <a:cs typeface="Arial"/>
              </a:defRPr>
            </a:lvl9pPr>
          </a:lstStyle>
          <a:p xmlns:a="http://schemas.openxmlformats.org/drawingml/2006/main">
            <a:pPr>
              <a:defRPr sz="2175" b="1">
                <a:solidFill>
                  <a:srgbClr val="28624B"/>
                </a:solidFill>
                <a:latin typeface="Arial"/>
                <a:ea typeface="Arial"/>
                <a:cs typeface="Arial"/>
              </a:defRPr>
            </a:pPr>
            <a:r>
              <a:rPr sz="2175" b="1">
                <a:solidFill>
                  <a:srgbClr val="28624B"/>
                </a:solidFill>
                <a:latin typeface="Arial"/>
                <a:ea typeface="Arial"/>
                <a:cs typeface="Arial"/>
              </a:rPr>
              <a:t>No real AWS plan, apply, Console capture or destroy run.</a:t>
            </a:r>
          </a:p>
        </p:txBody>
      </p:sp>
    </p:spTree>
    <p:extLst>
      <p:ext uri="{BB962C8B-B14F-4D97-AF65-F5344CB8AC3E}">
        <p14:creationId xmlns:p14="http://schemas.microsoft.com/office/powerpoint/2010/main" val="473766554"/>
      </p:ext>
    </p:extLst>
  </p:cSld>
</p:sld>
</file>

<file path=ppt/slides/slide13.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8" name="Troubleshooting and recovery">
            <a:extLst xmlns:a="http://schemas.openxmlformats.org/drawingml/2006/main">
              <a:ext uri="{FF2B5EF4-FFF2-40B4-BE49-F238E27FC236}">
                <a16:creationId xmlns:a16="http://schemas.microsoft.com/office/drawing/2014/main" id="{D78AFF9F-E341-4A7D-8003-EEDA7BED05E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Troubleshooting and recovery</a:t>
            </a:r>
          </a:p>
        </p:txBody>
      </p:sp>
      <p:sp>
        <p:nvSpPr>
          <p:cNvPr id="2" name="Separate lab objects keep fault exercises awa">
            <a:extLst xmlns:a="http://schemas.openxmlformats.org/drawingml/2006/main">
              <a:ext uri="{FF2B5EF4-FFF2-40B4-BE49-F238E27FC236}">
                <a16:creationId xmlns:a16="http://schemas.microsoft.com/office/drawing/2014/main" id="{786D737F-F17A-4EED-A0EA-07D5F222077D}"/>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Separate lab objects keep fault exercises away from the working application</a:t>
            </a:r>
          </a:p>
        </p:txBody>
      </p:sp>
      <p:sp>
        <p:nvSpPr>
          <p:cNvPr id="3" name="CampusCrate">
            <a:extLst xmlns:a="http://schemas.openxmlformats.org/drawingml/2006/main">
              <a:ext uri="{FF2B5EF4-FFF2-40B4-BE49-F238E27FC236}">
                <a16:creationId xmlns:a16="http://schemas.microsoft.com/office/drawing/2014/main" id="{173E1B52-2631-4B20-953B-80AF6B263832}"/>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13">
            <a:extLst xmlns:a="http://schemas.openxmlformats.org/drawingml/2006/main">
              <a:ext uri="{FF2B5EF4-FFF2-40B4-BE49-F238E27FC236}">
                <a16:creationId xmlns:a16="http://schemas.microsoft.com/office/drawing/2014/main" id="{F4E20F05-D057-4B0D-8D7E-CAA04757C435}"/>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ACB559D2-4F1A-4118-BC8B-4A7C66AAD425}"/>
              </a:ext>
            </a:extLst>
          </p:cNvPr>
          <p:cNvGraphicFramePr/>
          <p:nvPr/>
        </p:nvGraphicFramePr>
        <p:xfrm>
          <a:off xmlns:a="http://schemas.openxmlformats.org/drawingml/2006/main" x="609600" y="1924050"/>
          <a:ext xmlns:a="http://schemas.openxmlformats.org/drawingml/2006/main" cx="10972800" cy="2524125"/>
        </p:xfrm>
        <a:graphic xmlns:a="http://schemas.openxmlformats.org/drawingml/2006/main">
          <a:graphicData uri="http://schemas.openxmlformats.org/drawingml/2006/table">
            <a:tbl>
              <a:tblPr/>
              <a:tblGrid>
                <a:gridCol w="2619375"/>
                <a:gridCol w="4572000"/>
                <a:gridCol w="3781425"/>
              </a:tblGrid>
              <a:tr h="841375">
                <a:tc>
                  <a:txBody>
                    <a:bodyPr/>
                    <a:lstStyle/>
                    <a:p>
                      <a:r>
                        <a:rPr sz="1875" b="1">
                          <a:solidFill>
                            <a:srgbClr val="FFFFFF"/>
                          </a:solidFill>
                          <a:latin typeface="Arial"/>
                          <a:ea typeface="Arial"/>
                          <a:cs typeface="Arial"/>
                        </a:rPr>
                        <a:t>Fault</a:t>
                      </a:r>
                    </a:p>
                  </a:txBody>
                  <a:tcPr marL="91440" marR="91440" marT="45720" marB="45720">
                    <a:lnL w="9525">
                      <a:solidFill>
                        <a:srgbClr val="D6DFD3"/>
                      </a:solidFill>
                      <a:prstDash val="solid"/>
                    </a:lnL>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875" b="1">
                          <a:solidFill>
                            <a:srgbClr val="FFFFFF"/>
                          </a:solidFill>
                          <a:latin typeface="Arial"/>
                          <a:ea typeface="Arial"/>
                          <a:cs typeface="Arial"/>
                        </a:rPr>
                        <a:t>Diagnostic evidence</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875" b="1">
                          <a:solidFill>
                            <a:srgbClr val="FFFFFF"/>
                          </a:solidFill>
                          <a:latin typeface="Arial"/>
                          <a:ea typeface="Arial"/>
                          <a:cs typeface="Arial"/>
                        </a:rPr>
                        <a:t>Recovery</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r>
              <a:tr h="841375">
                <a:tc>
                  <a:txBody>
                    <a:bodyPr/>
                    <a:lstStyle/>
                    <a:p>
                      <a:r>
                        <a:rPr sz="1875" b="0">
                          <a:solidFill>
                            <a:srgbClr val="183D33"/>
                          </a:solidFill>
                          <a:latin typeface="Arial"/>
                          <a:ea typeface="Arial"/>
                          <a:cs typeface="Arial"/>
                        </a:rPr>
                        <a:t>Missing image tag</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75" b="0">
                          <a:solidFill>
                            <a:srgbClr val="183D33"/>
                          </a:solidFill>
                          <a:latin typeface="Arial"/>
                          <a:ea typeface="Arial"/>
                          <a:cs typeface="Arial"/>
                        </a:rPr>
                        <a:t>Image pull failure in pod events</a:t>
                      </a:r>
                    </a:p>
                  </a:txBody>
                  <a:tcPr marL="91440" marR="91440" marT="45720" marB="45720">
                    <a:lnR w="9525">
                      <a:solidFill>
                        <a:srgbClr val="D6DFD3"/>
                      </a:solidFill>
                      <a:prstDash val="solid"/>
                    </a:lnR>
                    <a:lnB w="9525">
                      <a:solidFill>
                        <a:srgbClr val="D6DFD3"/>
                      </a:solidFill>
                      <a:prstDash val="solid"/>
                    </a:lnB>
                    <a:solidFill>
                      <a:srgbClr val="FFFFFF"/>
                    </a:solidFill>
                  </a:tcPr>
                </a:tc>
                <a:tc>
                  <a:txBody>
                    <a:bodyPr/>
                    <a:lstStyle/>
                    <a:p>
                      <a:r>
                        <a:rPr sz="1875" b="0">
                          <a:solidFill>
                            <a:srgbClr val="183D33"/>
                          </a:solidFill>
                          <a:latin typeface="Arial"/>
                          <a:ea typeface="Arial"/>
                          <a:cs typeface="Arial"/>
                        </a:rPr>
                        <a:t>Correct the image reference</a:t>
                      </a:r>
                    </a:p>
                  </a:txBody>
                  <a:tcPr marL="91440" marR="91440" marT="45720" marB="45720">
                    <a:lnR w="9525">
                      <a:solidFill>
                        <a:srgbClr val="D6DFD3"/>
                      </a:solidFill>
                      <a:prstDash val="solid"/>
                    </a:lnR>
                    <a:lnB w="9525">
                      <a:solidFill>
                        <a:srgbClr val="D6DFD3"/>
                      </a:solidFill>
                      <a:prstDash val="solid"/>
                    </a:lnB>
                    <a:solidFill>
                      <a:srgbClr val="FFFFFF"/>
                    </a:solidFill>
                  </a:tcPr>
                </a:tc>
              </a:tr>
              <a:tr h="841375">
                <a:tc>
                  <a:txBody>
                    <a:bodyPr/>
                    <a:lstStyle/>
                    <a:p>
                      <a:r>
                        <a:rPr sz="1875" b="0">
                          <a:solidFill>
                            <a:srgbClr val="183D33"/>
                          </a:solidFill>
                          <a:latin typeface="Arial"/>
                          <a:ea typeface="Arial"/>
                          <a:cs typeface="Arial"/>
                        </a:rPr>
                        <a:t>Wrong Service selector</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875" b="0">
                          <a:solidFill>
                            <a:srgbClr val="183D33"/>
                          </a:solidFill>
                          <a:latin typeface="Arial"/>
                          <a:ea typeface="Arial"/>
                          <a:cs typeface="Arial"/>
                        </a:rPr>
                        <a:t>Empty EndpointSlices despite healthy pods</a:t>
                      </a:r>
                    </a:p>
                  </a:txBody>
                  <a:tcPr marL="91440" marR="91440" marT="45720" marB="45720">
                    <a:lnR w="9525">
                      <a:solidFill>
                        <a:srgbClr val="D6DFD3"/>
                      </a:solidFill>
                      <a:prstDash val="solid"/>
                    </a:lnR>
                    <a:lnB w="9525">
                      <a:solidFill>
                        <a:srgbClr val="D6DFD3"/>
                      </a:solidFill>
                      <a:prstDash val="solid"/>
                    </a:lnB>
                    <a:solidFill>
                      <a:srgbClr val="EAF0E2"/>
                    </a:solidFill>
                  </a:tcPr>
                </a:tc>
                <a:tc>
                  <a:txBody>
                    <a:bodyPr/>
                    <a:lstStyle/>
                    <a:p>
                      <a:r>
                        <a:rPr sz="1875" b="0">
                          <a:solidFill>
                            <a:srgbClr val="183D33"/>
                          </a:solidFill>
                          <a:latin typeface="Arial"/>
                          <a:ea typeface="Arial"/>
                          <a:cs typeface="Arial"/>
                        </a:rPr>
                        <a:t>Match selector to pod labels</a:t>
                      </a:r>
                    </a:p>
                  </a:txBody>
                  <a:tcPr marL="91440" marR="91440" marT="45720" marB="45720">
                    <a:lnR w="9525">
                      <a:solidFill>
                        <a:srgbClr val="D6DFD3"/>
                      </a:solidFill>
                      <a:prstDash val="solid"/>
                    </a:lnR>
                    <a:lnB w="9525">
                      <a:solidFill>
                        <a:srgbClr val="D6DFD3"/>
                      </a:solidFill>
                      <a:prstDash val="solid"/>
                    </a:lnB>
                    <a:solidFill>
                      <a:srgbClr val="EAF0E2"/>
                    </a:solidFill>
                  </a:tcPr>
                </a:tc>
              </a:tr>
            </a:tbl>
          </a:graphicData>
        </a:graphic>
      </p:graphicFrame>
      <p:sp>
        <p:nvSpPr>
          <p:cNvPr id="6" name="Probe distinction">
            <a:extLst xmlns:a="http://schemas.openxmlformats.org/drawingml/2006/main">
              <a:ext uri="{FF2B5EF4-FFF2-40B4-BE49-F238E27FC236}">
                <a16:creationId xmlns:a16="http://schemas.microsoft.com/office/drawing/2014/main" id="{E634D373-B4EA-4F75-B125-37DF0FE16A08}"/>
              </a:ext>
            </a:extLst>
          </p:cNvPr>
          <p:cNvSpPr>
            <a:spLocks xmlns:a="http://schemas.openxmlformats.org/drawingml/2006/main" noGrp="1"/>
          </p:cNvSpPr>
          <p:nvPr/>
        </p:nvSpPr>
        <p:spPr>
          <a:xfrm xmlns:a="http://schemas.openxmlformats.org/drawingml/2006/main">
            <a:off x="628650" y="5048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8624B"/>
                </a:solidFill>
                <a:latin typeface="Arial"/>
                <a:ea typeface="Arial"/>
                <a:cs typeface="Arial"/>
              </a:defRPr>
            </a:defPPr>
            <a:lvl1pPr>
              <a:defRPr sz="2250" b="1">
                <a:solidFill>
                  <a:srgbClr val="28624B"/>
                </a:solidFill>
                <a:latin typeface="Arial"/>
                <a:ea typeface="Arial"/>
                <a:cs typeface="Arial"/>
              </a:defRPr>
            </a:lvl1pPr>
            <a:lvl2pPr>
              <a:defRPr sz="2250" b="1">
                <a:solidFill>
                  <a:srgbClr val="28624B"/>
                </a:solidFill>
                <a:latin typeface="Arial"/>
                <a:ea typeface="Arial"/>
                <a:cs typeface="Arial"/>
              </a:defRPr>
            </a:lvl2pPr>
            <a:lvl3pPr>
              <a:defRPr sz="2250" b="1">
                <a:solidFill>
                  <a:srgbClr val="28624B"/>
                </a:solidFill>
                <a:latin typeface="Arial"/>
                <a:ea typeface="Arial"/>
                <a:cs typeface="Arial"/>
              </a:defRPr>
            </a:lvl3pPr>
            <a:lvl4pPr>
              <a:defRPr sz="2250" b="1">
                <a:solidFill>
                  <a:srgbClr val="28624B"/>
                </a:solidFill>
                <a:latin typeface="Arial"/>
                <a:ea typeface="Arial"/>
                <a:cs typeface="Arial"/>
              </a:defRPr>
            </a:lvl4pPr>
            <a:lvl5pPr>
              <a:defRPr sz="2250" b="1">
                <a:solidFill>
                  <a:srgbClr val="28624B"/>
                </a:solidFill>
                <a:latin typeface="Arial"/>
                <a:ea typeface="Arial"/>
                <a:cs typeface="Arial"/>
              </a:defRPr>
            </a:lvl5pPr>
            <a:lvl6pPr>
              <a:defRPr sz="2250" b="1">
                <a:solidFill>
                  <a:srgbClr val="28624B"/>
                </a:solidFill>
                <a:latin typeface="Arial"/>
                <a:ea typeface="Arial"/>
                <a:cs typeface="Arial"/>
              </a:defRPr>
            </a:lvl6pPr>
            <a:lvl7pPr>
              <a:defRPr sz="2250" b="1">
                <a:solidFill>
                  <a:srgbClr val="28624B"/>
                </a:solidFill>
                <a:latin typeface="Arial"/>
                <a:ea typeface="Arial"/>
                <a:cs typeface="Arial"/>
              </a:defRPr>
            </a:lvl7pPr>
            <a:lvl8pPr>
              <a:defRPr sz="2250" b="1">
                <a:solidFill>
                  <a:srgbClr val="28624B"/>
                </a:solidFill>
                <a:latin typeface="Arial"/>
                <a:ea typeface="Arial"/>
                <a:cs typeface="Arial"/>
              </a:defRPr>
            </a:lvl8pPr>
            <a:lvl9pPr>
              <a:defRPr sz="2250" b="1">
                <a:solidFill>
                  <a:srgbClr val="28624B"/>
                </a:solidFill>
                <a:latin typeface="Arial"/>
                <a:ea typeface="Arial"/>
                <a:cs typeface="Arial"/>
              </a:defRPr>
            </a:lvl9pPr>
          </a:lstStyle>
          <a:p xmlns:a="http://schemas.openxmlformats.org/drawingml/2006/main">
            <a:pPr>
              <a:defRPr sz="2250" b="1">
                <a:solidFill>
                  <a:srgbClr val="28624B"/>
                </a:solidFill>
                <a:latin typeface="Arial"/>
                <a:ea typeface="Arial"/>
                <a:cs typeface="Arial"/>
              </a:defRPr>
            </a:pPr>
            <a:r>
              <a:rPr sz="2250" b="1">
                <a:solidFill>
                  <a:srgbClr val="28624B"/>
                </a:solidFill>
                <a:latin typeface="Arial"/>
                <a:ea typeface="Arial"/>
                <a:cs typeface="Arial"/>
              </a:rPr>
              <a:t>Probe distinction</a:t>
            </a:r>
          </a:p>
        </p:txBody>
      </p:sp>
      <p:sp>
        <p:nvSpPr>
          <p:cNvPr id="7" name="A database outage fails readiness with HTTP 5">
            <a:extLst xmlns:a="http://schemas.openxmlformats.org/drawingml/2006/main">
              <a:ext uri="{FF2B5EF4-FFF2-40B4-BE49-F238E27FC236}">
                <a16:creationId xmlns:a16="http://schemas.microsoft.com/office/drawing/2014/main" id="{C3621A57-A23C-4806-8D0A-46A0129D0686}"/>
              </a:ext>
            </a:extLst>
          </p:cNvPr>
          <p:cNvSpPr>
            <a:spLocks xmlns:a="http://schemas.openxmlformats.org/drawingml/2006/main" noGrp="1"/>
          </p:cNvSpPr>
          <p:nvPr/>
        </p:nvSpPr>
        <p:spPr>
          <a:xfrm xmlns:a="http://schemas.openxmlformats.org/drawingml/2006/main">
            <a:off x="628650" y="55721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53665C"/>
                </a:solidFill>
                <a:latin typeface="Arial"/>
                <a:ea typeface="Arial"/>
                <a:cs typeface="Arial"/>
              </a:defRPr>
            </a:defPPr>
            <a:lvl1pPr>
              <a:defRPr sz="1950" b="0">
                <a:solidFill>
                  <a:srgbClr val="53665C"/>
                </a:solidFill>
                <a:latin typeface="Arial"/>
                <a:ea typeface="Arial"/>
                <a:cs typeface="Arial"/>
              </a:defRPr>
            </a:lvl1pPr>
            <a:lvl2pPr>
              <a:defRPr sz="1950" b="0">
                <a:solidFill>
                  <a:srgbClr val="53665C"/>
                </a:solidFill>
                <a:latin typeface="Arial"/>
                <a:ea typeface="Arial"/>
                <a:cs typeface="Arial"/>
              </a:defRPr>
            </a:lvl2pPr>
            <a:lvl3pPr>
              <a:defRPr sz="1950" b="0">
                <a:solidFill>
                  <a:srgbClr val="53665C"/>
                </a:solidFill>
                <a:latin typeface="Arial"/>
                <a:ea typeface="Arial"/>
                <a:cs typeface="Arial"/>
              </a:defRPr>
            </a:lvl3pPr>
            <a:lvl4pPr>
              <a:defRPr sz="1950" b="0">
                <a:solidFill>
                  <a:srgbClr val="53665C"/>
                </a:solidFill>
                <a:latin typeface="Arial"/>
                <a:ea typeface="Arial"/>
                <a:cs typeface="Arial"/>
              </a:defRPr>
            </a:lvl4pPr>
            <a:lvl5pPr>
              <a:defRPr sz="1950" b="0">
                <a:solidFill>
                  <a:srgbClr val="53665C"/>
                </a:solidFill>
                <a:latin typeface="Arial"/>
                <a:ea typeface="Arial"/>
                <a:cs typeface="Arial"/>
              </a:defRPr>
            </a:lvl5pPr>
            <a:lvl6pPr>
              <a:defRPr sz="1950" b="0">
                <a:solidFill>
                  <a:srgbClr val="53665C"/>
                </a:solidFill>
                <a:latin typeface="Arial"/>
                <a:ea typeface="Arial"/>
                <a:cs typeface="Arial"/>
              </a:defRPr>
            </a:lvl6pPr>
            <a:lvl7pPr>
              <a:defRPr sz="1950" b="0">
                <a:solidFill>
                  <a:srgbClr val="53665C"/>
                </a:solidFill>
                <a:latin typeface="Arial"/>
                <a:ea typeface="Arial"/>
                <a:cs typeface="Arial"/>
              </a:defRPr>
            </a:lvl7pPr>
            <a:lvl8pPr>
              <a:defRPr sz="1950" b="0">
                <a:solidFill>
                  <a:srgbClr val="53665C"/>
                </a:solidFill>
                <a:latin typeface="Arial"/>
                <a:ea typeface="Arial"/>
                <a:cs typeface="Arial"/>
              </a:defRPr>
            </a:lvl8pPr>
            <a:lvl9pPr>
              <a:defRPr sz="1950" b="0">
                <a:solidFill>
                  <a:srgbClr val="53665C"/>
                </a:solidFill>
                <a:latin typeface="Arial"/>
                <a:ea typeface="Arial"/>
                <a:cs typeface="Arial"/>
              </a:defRPr>
            </a:lvl9pPr>
          </a:lstStyle>
          <a:p xmlns:a="http://schemas.openxmlformats.org/drawingml/2006/main">
            <a:pPr>
              <a:defRPr sz="1950" b="0">
                <a:solidFill>
                  <a:srgbClr val="53665C"/>
                </a:solidFill>
                <a:latin typeface="Arial"/>
                <a:ea typeface="Arial"/>
                <a:cs typeface="Arial"/>
              </a:defRPr>
            </a:pPr>
            <a:r>
              <a:rPr sz="1950" b="0">
                <a:solidFill>
                  <a:srgbClr val="53665C"/>
                </a:solidFill>
                <a:latin typeface="Arial"/>
                <a:ea typeface="Arial"/>
                <a:cs typeface="Arial"/>
              </a:rPr>
              <a:t>A database outage fails readiness with HTTP 503.</a:t>
            </a:r>
          </a:p>
          <a:p xmlns:a="http://schemas.openxmlformats.org/drawingml/2006/main">
            <a:pPr>
              <a:defRPr sz="1950" b="0">
                <a:solidFill>
                  <a:srgbClr val="53665C"/>
                </a:solidFill>
                <a:latin typeface="Arial"/>
                <a:ea typeface="Arial"/>
                <a:cs typeface="Arial"/>
              </a:defRPr>
            </a:pPr>
            <a:r>
              <a:rPr sz="1950" b="0">
                <a:solidFill>
                  <a:srgbClr val="53665C"/>
                </a:solidFill>
                <a:latin typeface="Arial"/>
                <a:ea typeface="Arial"/>
                <a:cs typeface="Arial"/>
              </a:rPr>
              <a:t>Liveness checks the process without depending on the database.</a:t>
            </a:r>
          </a:p>
        </p:txBody>
      </p:sp>
    </p:spTree>
    <p:extLst>
      <p:ext uri="{BB962C8B-B14F-4D97-AF65-F5344CB8AC3E}">
        <p14:creationId xmlns:p14="http://schemas.microsoft.com/office/powerpoint/2010/main" val="1677823339"/>
      </p:ext>
    </p:extLst>
  </p:cSld>
</p:sld>
</file>

<file path=ppt/slides/slide14.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4" name="Demonstration sequence">
            <a:extLst xmlns:a="http://schemas.openxmlformats.org/drawingml/2006/main">
              <a:ext uri="{FF2B5EF4-FFF2-40B4-BE49-F238E27FC236}">
                <a16:creationId xmlns:a16="http://schemas.microsoft.com/office/drawing/2014/main" id="{FED22483-6729-4E43-954B-CE4F0FAE78C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Demonstration sequence</a:t>
            </a:r>
          </a:p>
        </p:txBody>
      </p:sp>
      <p:sp>
        <p:nvSpPr>
          <p:cNvPr id="2" name="The video will follow the application and its">
            <a:extLst xmlns:a="http://schemas.openxmlformats.org/drawingml/2006/main">
              <a:ext uri="{FF2B5EF4-FFF2-40B4-BE49-F238E27FC236}">
                <a16:creationId xmlns:a16="http://schemas.microsoft.com/office/drawing/2014/main" id="{A703ACCF-67AD-4C21-9982-974859D77019}"/>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The video will follow the application and its delivery evidence</a:t>
            </a:r>
          </a:p>
        </p:txBody>
      </p:sp>
      <p:sp>
        <p:nvSpPr>
          <p:cNvPr id="3" name="CampusCrate">
            <a:extLst xmlns:a="http://schemas.openxmlformats.org/drawingml/2006/main">
              <a:ext uri="{FF2B5EF4-FFF2-40B4-BE49-F238E27FC236}">
                <a16:creationId xmlns:a16="http://schemas.microsoft.com/office/drawing/2014/main" id="{BE0D4644-BFBE-4DFA-8F88-DDE2C3775997}"/>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14">
            <a:extLst xmlns:a="http://schemas.openxmlformats.org/drawingml/2006/main">
              <a:ext uri="{FF2B5EF4-FFF2-40B4-BE49-F238E27FC236}">
                <a16:creationId xmlns:a16="http://schemas.microsoft.com/office/drawing/2014/main" id="{32048DA4-7BFF-45F2-B326-5AD2747BDD82}"/>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14</a:t>
            </a:r>
          </a:p>
        </p:txBody>
      </p:sp>
      <p:sp>
        <p:nvSpPr>
          <p:cNvPr id="5" name="01">
            <a:extLst xmlns:a="http://schemas.openxmlformats.org/drawingml/2006/main">
              <a:ext uri="{FF2B5EF4-FFF2-40B4-BE49-F238E27FC236}">
                <a16:creationId xmlns:a16="http://schemas.microsoft.com/office/drawing/2014/main" id="{02EF9DB8-A6BD-4413-8E5D-391CA0059A48}"/>
              </a:ext>
            </a:extLst>
          </p:cNvPr>
          <p:cNvSpPr>
            <a:spLocks xmlns:a="http://schemas.openxmlformats.org/drawingml/2006/main" noGrp="1"/>
          </p:cNvSpPr>
          <p:nvPr/>
        </p:nvSpPr>
        <p:spPr>
          <a:xfrm xmlns:a="http://schemas.openxmlformats.org/drawingml/2006/main">
            <a:off x="628650" y="20002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01</a:t>
            </a:r>
          </a:p>
        </p:txBody>
      </p:sp>
      <p:sp>
        <p:nvSpPr>
          <p:cNvPr id="6" name="Equipment workflow">
            <a:extLst xmlns:a="http://schemas.openxmlformats.org/drawingml/2006/main">
              <a:ext uri="{FF2B5EF4-FFF2-40B4-BE49-F238E27FC236}">
                <a16:creationId xmlns:a16="http://schemas.microsoft.com/office/drawing/2014/main" id="{7A5BFD21-C58B-44EF-A510-5150A3803DF0}"/>
              </a:ext>
            </a:extLst>
          </p:cNvPr>
          <p:cNvSpPr>
            <a:spLocks xmlns:a="http://schemas.openxmlformats.org/drawingml/2006/main" noGrp="1"/>
          </p:cNvSpPr>
          <p:nvPr/>
        </p:nvSpPr>
        <p:spPr>
          <a:xfrm xmlns:a="http://schemas.openxmlformats.org/drawingml/2006/main">
            <a:off x="1485900" y="20002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Equipment workflow</a:t>
            </a:r>
          </a:p>
        </p:txBody>
      </p:sp>
      <p:sp>
        <p:nvSpPr>
          <p:cNvPr id="7" name="Create equipment, borrow a unit, return it an">
            <a:extLst xmlns:a="http://schemas.openxmlformats.org/drawingml/2006/main">
              <a:ext uri="{FF2B5EF4-FFF2-40B4-BE49-F238E27FC236}">
                <a16:creationId xmlns:a16="http://schemas.microsoft.com/office/drawing/2014/main" id="{2F2A5010-C7B1-4AF9-9545-8CFFA995925D}"/>
              </a:ext>
            </a:extLst>
          </p:cNvPr>
          <p:cNvSpPr>
            <a:spLocks xmlns:a="http://schemas.openxmlformats.org/drawingml/2006/main" noGrp="1"/>
          </p:cNvSpPr>
          <p:nvPr/>
        </p:nvSpPr>
        <p:spPr>
          <a:xfrm xmlns:a="http://schemas.openxmlformats.org/drawingml/2006/main">
            <a:off x="1485900" y="242887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Create equipment, borrow a unit, return it and inspect the ledger.</a:t>
            </a:r>
          </a:p>
        </p:txBody>
      </p:sp>
      <p:sp>
        <p:nvSpPr>
          <p:cNvPr id="8" name="02">
            <a:extLst xmlns:a="http://schemas.openxmlformats.org/drawingml/2006/main">
              <a:ext uri="{FF2B5EF4-FFF2-40B4-BE49-F238E27FC236}">
                <a16:creationId xmlns:a16="http://schemas.microsoft.com/office/drawing/2014/main" id="{C0401B4A-B586-4DB6-928E-56822152398A}"/>
              </a:ext>
            </a:extLst>
          </p:cNvPr>
          <p:cNvSpPr>
            <a:spLocks xmlns:a="http://schemas.openxmlformats.org/drawingml/2006/main" noGrp="1"/>
          </p:cNvSpPr>
          <p:nvPr/>
        </p:nvSpPr>
        <p:spPr>
          <a:xfrm xmlns:a="http://schemas.openxmlformats.org/drawingml/2006/main">
            <a:off x="628650" y="338137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02</a:t>
            </a:r>
          </a:p>
        </p:txBody>
      </p:sp>
      <p:sp>
        <p:nvSpPr>
          <p:cNvPr id="9" name="Delivery and runtime">
            <a:extLst xmlns:a="http://schemas.openxmlformats.org/drawingml/2006/main">
              <a:ext uri="{FF2B5EF4-FFF2-40B4-BE49-F238E27FC236}">
                <a16:creationId xmlns:a16="http://schemas.microsoft.com/office/drawing/2014/main" id="{996CF673-1A48-4474-B8A7-EEE7413D3DE5}"/>
              </a:ext>
            </a:extLst>
          </p:cNvPr>
          <p:cNvSpPr>
            <a:spLocks xmlns:a="http://schemas.openxmlformats.org/drawingml/2006/main" noGrp="1"/>
          </p:cNvSpPr>
          <p:nvPr/>
        </p:nvSpPr>
        <p:spPr>
          <a:xfrm xmlns:a="http://schemas.openxmlformats.org/drawingml/2006/main">
            <a:off x="1485900" y="338137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Delivery and runtime</a:t>
            </a:r>
          </a:p>
        </p:txBody>
      </p:sp>
      <p:sp>
        <p:nvSpPr>
          <p:cNvPr id="10" name="Show Actions, published images, Helm release ">
            <a:extLst xmlns:a="http://schemas.openxmlformats.org/drawingml/2006/main">
              <a:ext uri="{FF2B5EF4-FFF2-40B4-BE49-F238E27FC236}">
                <a16:creationId xmlns:a16="http://schemas.microsoft.com/office/drawing/2014/main" id="{1C4FE049-21EA-4840-84D4-EFDAF965D897}"/>
              </a:ext>
            </a:extLst>
          </p:cNvPr>
          <p:cNvSpPr>
            <a:spLocks xmlns:a="http://schemas.openxmlformats.org/drawingml/2006/main" noGrp="1"/>
          </p:cNvSpPr>
          <p:nvPr/>
        </p:nvSpPr>
        <p:spPr>
          <a:xfrm xmlns:a="http://schemas.openxmlformats.org/drawingml/2006/main">
            <a:off x="1485900" y="3810000"/>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Show Actions, published images, Helm release and running workloads.</a:t>
            </a:r>
          </a:p>
        </p:txBody>
      </p:sp>
      <p:sp>
        <p:nvSpPr>
          <p:cNvPr id="11" name="03">
            <a:extLst xmlns:a="http://schemas.openxmlformats.org/drawingml/2006/main">
              <a:ext uri="{FF2B5EF4-FFF2-40B4-BE49-F238E27FC236}">
                <a16:creationId xmlns:a16="http://schemas.microsoft.com/office/drawing/2014/main" id="{53DA2D36-A0ED-46A9-ADF1-A79FA542127C}"/>
              </a:ext>
            </a:extLst>
          </p:cNvPr>
          <p:cNvSpPr>
            <a:spLocks xmlns:a="http://schemas.openxmlformats.org/drawingml/2006/main" noGrp="1"/>
          </p:cNvSpPr>
          <p:nvPr/>
        </p:nvSpPr>
        <p:spPr>
          <a:xfrm xmlns:a="http://schemas.openxmlformats.org/drawingml/2006/main">
            <a:off x="628650" y="47625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8624B"/>
                </a:solidFill>
                <a:latin typeface="Arial"/>
                <a:ea typeface="Arial"/>
                <a:cs typeface="Arial"/>
              </a:defRPr>
            </a:defPPr>
            <a:lvl1pPr>
              <a:defRPr sz="2700" b="1">
                <a:solidFill>
                  <a:srgbClr val="28624B"/>
                </a:solidFill>
                <a:latin typeface="Arial"/>
                <a:ea typeface="Arial"/>
                <a:cs typeface="Arial"/>
              </a:defRPr>
            </a:lvl1pPr>
            <a:lvl2pPr>
              <a:defRPr sz="2700" b="1">
                <a:solidFill>
                  <a:srgbClr val="28624B"/>
                </a:solidFill>
                <a:latin typeface="Arial"/>
                <a:ea typeface="Arial"/>
                <a:cs typeface="Arial"/>
              </a:defRPr>
            </a:lvl2pPr>
            <a:lvl3pPr>
              <a:defRPr sz="2700" b="1">
                <a:solidFill>
                  <a:srgbClr val="28624B"/>
                </a:solidFill>
                <a:latin typeface="Arial"/>
                <a:ea typeface="Arial"/>
                <a:cs typeface="Arial"/>
              </a:defRPr>
            </a:lvl3pPr>
            <a:lvl4pPr>
              <a:defRPr sz="2700" b="1">
                <a:solidFill>
                  <a:srgbClr val="28624B"/>
                </a:solidFill>
                <a:latin typeface="Arial"/>
                <a:ea typeface="Arial"/>
                <a:cs typeface="Arial"/>
              </a:defRPr>
            </a:lvl4pPr>
            <a:lvl5pPr>
              <a:defRPr sz="2700" b="1">
                <a:solidFill>
                  <a:srgbClr val="28624B"/>
                </a:solidFill>
                <a:latin typeface="Arial"/>
                <a:ea typeface="Arial"/>
                <a:cs typeface="Arial"/>
              </a:defRPr>
            </a:lvl5pPr>
            <a:lvl6pPr>
              <a:defRPr sz="2700" b="1">
                <a:solidFill>
                  <a:srgbClr val="28624B"/>
                </a:solidFill>
                <a:latin typeface="Arial"/>
                <a:ea typeface="Arial"/>
                <a:cs typeface="Arial"/>
              </a:defRPr>
            </a:lvl6pPr>
            <a:lvl7pPr>
              <a:defRPr sz="2700" b="1">
                <a:solidFill>
                  <a:srgbClr val="28624B"/>
                </a:solidFill>
                <a:latin typeface="Arial"/>
                <a:ea typeface="Arial"/>
                <a:cs typeface="Arial"/>
              </a:defRPr>
            </a:lvl7pPr>
            <a:lvl8pPr>
              <a:defRPr sz="2700" b="1">
                <a:solidFill>
                  <a:srgbClr val="28624B"/>
                </a:solidFill>
                <a:latin typeface="Arial"/>
                <a:ea typeface="Arial"/>
                <a:cs typeface="Arial"/>
              </a:defRPr>
            </a:lvl8pPr>
            <a:lvl9pPr>
              <a:defRPr sz="2700" b="1">
                <a:solidFill>
                  <a:srgbClr val="28624B"/>
                </a:solidFill>
                <a:latin typeface="Arial"/>
                <a:ea typeface="Arial"/>
                <a:cs typeface="Arial"/>
              </a:defRPr>
            </a:lvl9pPr>
          </a:lstStyle>
          <a:p xmlns:a="http://schemas.openxmlformats.org/drawingml/2006/main">
            <a:pPr>
              <a:defRPr sz="2700" b="1">
                <a:solidFill>
                  <a:srgbClr val="28624B"/>
                </a:solidFill>
                <a:latin typeface="Arial"/>
                <a:ea typeface="Arial"/>
                <a:cs typeface="Arial"/>
              </a:defRPr>
            </a:pPr>
            <a:r>
              <a:rPr sz="2700" b="1">
                <a:solidFill>
                  <a:srgbClr val="28624B"/>
                </a:solidFill>
                <a:latin typeface="Arial"/>
                <a:ea typeface="Arial"/>
                <a:cs typeface="Arial"/>
              </a:rPr>
              <a:t>03</a:t>
            </a:r>
          </a:p>
        </p:txBody>
      </p:sp>
      <p:sp>
        <p:nvSpPr>
          <p:cNvPr id="12" name="Operations">
            <a:extLst xmlns:a="http://schemas.openxmlformats.org/drawingml/2006/main">
              <a:ext uri="{FF2B5EF4-FFF2-40B4-BE49-F238E27FC236}">
                <a16:creationId xmlns:a16="http://schemas.microsoft.com/office/drawing/2014/main" id="{E1183F1D-539C-4582-AE51-43695A9699A6}"/>
              </a:ext>
            </a:extLst>
          </p:cNvPr>
          <p:cNvSpPr>
            <a:spLocks xmlns:a="http://schemas.openxmlformats.org/drawingml/2006/main" noGrp="1"/>
          </p:cNvSpPr>
          <p:nvPr/>
        </p:nvSpPr>
        <p:spPr>
          <a:xfrm xmlns:a="http://schemas.openxmlformats.org/drawingml/2006/main">
            <a:off x="1485900" y="476250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83D33"/>
                </a:solidFill>
                <a:latin typeface="Arial"/>
                <a:ea typeface="Arial"/>
                <a:cs typeface="Arial"/>
              </a:defRPr>
            </a:defPPr>
            <a:lvl1pPr>
              <a:defRPr sz="2100" b="1">
                <a:solidFill>
                  <a:srgbClr val="183D33"/>
                </a:solidFill>
                <a:latin typeface="Arial"/>
                <a:ea typeface="Arial"/>
                <a:cs typeface="Arial"/>
              </a:defRPr>
            </a:lvl1pPr>
            <a:lvl2pPr>
              <a:defRPr sz="2100" b="1">
                <a:solidFill>
                  <a:srgbClr val="183D33"/>
                </a:solidFill>
                <a:latin typeface="Arial"/>
                <a:ea typeface="Arial"/>
                <a:cs typeface="Arial"/>
              </a:defRPr>
            </a:lvl2pPr>
            <a:lvl3pPr>
              <a:defRPr sz="2100" b="1">
                <a:solidFill>
                  <a:srgbClr val="183D33"/>
                </a:solidFill>
                <a:latin typeface="Arial"/>
                <a:ea typeface="Arial"/>
                <a:cs typeface="Arial"/>
              </a:defRPr>
            </a:lvl3pPr>
            <a:lvl4pPr>
              <a:defRPr sz="2100" b="1">
                <a:solidFill>
                  <a:srgbClr val="183D33"/>
                </a:solidFill>
                <a:latin typeface="Arial"/>
                <a:ea typeface="Arial"/>
                <a:cs typeface="Arial"/>
              </a:defRPr>
            </a:lvl4pPr>
            <a:lvl5pPr>
              <a:defRPr sz="2100" b="1">
                <a:solidFill>
                  <a:srgbClr val="183D33"/>
                </a:solidFill>
                <a:latin typeface="Arial"/>
                <a:ea typeface="Arial"/>
                <a:cs typeface="Arial"/>
              </a:defRPr>
            </a:lvl5pPr>
            <a:lvl6pPr>
              <a:defRPr sz="2100" b="1">
                <a:solidFill>
                  <a:srgbClr val="183D33"/>
                </a:solidFill>
                <a:latin typeface="Arial"/>
                <a:ea typeface="Arial"/>
                <a:cs typeface="Arial"/>
              </a:defRPr>
            </a:lvl6pPr>
            <a:lvl7pPr>
              <a:defRPr sz="2100" b="1">
                <a:solidFill>
                  <a:srgbClr val="183D33"/>
                </a:solidFill>
                <a:latin typeface="Arial"/>
                <a:ea typeface="Arial"/>
                <a:cs typeface="Arial"/>
              </a:defRPr>
            </a:lvl7pPr>
            <a:lvl8pPr>
              <a:defRPr sz="2100" b="1">
                <a:solidFill>
                  <a:srgbClr val="183D33"/>
                </a:solidFill>
                <a:latin typeface="Arial"/>
                <a:ea typeface="Arial"/>
                <a:cs typeface="Arial"/>
              </a:defRPr>
            </a:lvl8pPr>
            <a:lvl9pPr>
              <a:defRPr sz="2100" b="1">
                <a:solidFill>
                  <a:srgbClr val="183D33"/>
                </a:solidFill>
                <a:latin typeface="Arial"/>
                <a:ea typeface="Arial"/>
                <a:cs typeface="Arial"/>
              </a:defRPr>
            </a:lvl9pPr>
          </a:lstStyle>
          <a:p xmlns:a="http://schemas.openxmlformats.org/drawingml/2006/main">
            <a:pPr>
              <a:defRPr sz="2100" b="1">
                <a:solidFill>
                  <a:srgbClr val="183D33"/>
                </a:solidFill>
                <a:latin typeface="Arial"/>
                <a:ea typeface="Arial"/>
                <a:cs typeface="Arial"/>
              </a:defRPr>
            </a:pPr>
            <a:r>
              <a:rPr sz="2100" b="1">
                <a:solidFill>
                  <a:srgbClr val="183D33"/>
                </a:solidFill>
                <a:latin typeface="Arial"/>
                <a:ea typeface="Arial"/>
                <a:cs typeface="Arial"/>
              </a:rPr>
              <a:t>Operations</a:t>
            </a:r>
          </a:p>
        </p:txBody>
      </p:sp>
      <p:sp>
        <p:nvSpPr>
          <p:cNvPr id="13" name="Explain the HPA event, dashboard, fault diagn">
            <a:extLst xmlns:a="http://schemas.openxmlformats.org/drawingml/2006/main">
              <a:ext uri="{FF2B5EF4-FFF2-40B4-BE49-F238E27FC236}">
                <a16:creationId xmlns:a16="http://schemas.microsoft.com/office/drawing/2014/main" id="{9696A359-3D87-4F53-88AF-A05D6F5096C6}"/>
              </a:ext>
            </a:extLst>
          </p:cNvPr>
          <p:cNvSpPr>
            <a:spLocks xmlns:a="http://schemas.openxmlformats.org/drawingml/2006/main" noGrp="1"/>
          </p:cNvSpPr>
          <p:nvPr/>
        </p:nvSpPr>
        <p:spPr>
          <a:xfrm xmlns:a="http://schemas.openxmlformats.org/drawingml/2006/main">
            <a:off x="1485900" y="5191125"/>
            <a:ext cx="962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Explain the HPA event, dashboard, fault diagnosis and AWS scope.</a:t>
            </a:r>
          </a:p>
        </p:txBody>
      </p:sp>
    </p:spTree>
    <p:extLst>
      <p:ext uri="{BB962C8B-B14F-4D97-AF65-F5344CB8AC3E}">
        <p14:creationId xmlns:p14="http://schemas.microsoft.com/office/powerpoint/2010/main" val="950277504"/>
      </p:ext>
    </p:extLst>
  </p:cSld>
</p:sld>
</file>

<file path=ppt/slides/slide15.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7" name="Delivery scope and next steps">
            <a:extLst xmlns:a="http://schemas.openxmlformats.org/drawingml/2006/main">
              <a:ext uri="{FF2B5EF4-FFF2-40B4-BE49-F238E27FC236}">
                <a16:creationId xmlns:a16="http://schemas.microsoft.com/office/drawing/2014/main" id="{B40D3E00-F5FE-4614-94F0-DD18E02BC27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83D33"/>
                </a:solidFill>
                <a:latin typeface="Arial"/>
                <a:ea typeface="Arial"/>
                <a:cs typeface="Arial"/>
              </a:defRPr>
            </a:defPPr>
            <a:lvl1pPr>
              <a:defRPr sz="3300" b="1">
                <a:solidFill>
                  <a:srgbClr val="183D33"/>
                </a:solidFill>
                <a:latin typeface="Arial"/>
                <a:ea typeface="Arial"/>
                <a:cs typeface="Arial"/>
              </a:defRPr>
            </a:lvl1pPr>
            <a:lvl2pPr>
              <a:defRPr sz="3300" b="1">
                <a:solidFill>
                  <a:srgbClr val="183D33"/>
                </a:solidFill>
                <a:latin typeface="Arial"/>
                <a:ea typeface="Arial"/>
                <a:cs typeface="Arial"/>
              </a:defRPr>
            </a:lvl2pPr>
            <a:lvl3pPr>
              <a:defRPr sz="3300" b="1">
                <a:solidFill>
                  <a:srgbClr val="183D33"/>
                </a:solidFill>
                <a:latin typeface="Arial"/>
                <a:ea typeface="Arial"/>
                <a:cs typeface="Arial"/>
              </a:defRPr>
            </a:lvl3pPr>
            <a:lvl4pPr>
              <a:defRPr sz="3300" b="1">
                <a:solidFill>
                  <a:srgbClr val="183D33"/>
                </a:solidFill>
                <a:latin typeface="Arial"/>
                <a:ea typeface="Arial"/>
                <a:cs typeface="Arial"/>
              </a:defRPr>
            </a:lvl4pPr>
            <a:lvl5pPr>
              <a:defRPr sz="3300" b="1">
                <a:solidFill>
                  <a:srgbClr val="183D33"/>
                </a:solidFill>
                <a:latin typeface="Arial"/>
                <a:ea typeface="Arial"/>
                <a:cs typeface="Arial"/>
              </a:defRPr>
            </a:lvl5pPr>
            <a:lvl6pPr>
              <a:defRPr sz="3300" b="1">
                <a:solidFill>
                  <a:srgbClr val="183D33"/>
                </a:solidFill>
                <a:latin typeface="Arial"/>
                <a:ea typeface="Arial"/>
                <a:cs typeface="Arial"/>
              </a:defRPr>
            </a:lvl6pPr>
            <a:lvl7pPr>
              <a:defRPr sz="3300" b="1">
                <a:solidFill>
                  <a:srgbClr val="183D33"/>
                </a:solidFill>
                <a:latin typeface="Arial"/>
                <a:ea typeface="Arial"/>
                <a:cs typeface="Arial"/>
              </a:defRPr>
            </a:lvl7pPr>
            <a:lvl8pPr>
              <a:defRPr sz="3300" b="1">
                <a:solidFill>
                  <a:srgbClr val="183D33"/>
                </a:solidFill>
                <a:latin typeface="Arial"/>
                <a:ea typeface="Arial"/>
                <a:cs typeface="Arial"/>
              </a:defRPr>
            </a:lvl8pPr>
            <a:lvl9pPr>
              <a:defRPr sz="3300" b="1">
                <a:solidFill>
                  <a:srgbClr val="183D33"/>
                </a:solidFill>
                <a:latin typeface="Arial"/>
                <a:ea typeface="Arial"/>
                <a:cs typeface="Arial"/>
              </a:defRPr>
            </a:lvl9pPr>
          </a:lstStyle>
          <a:p xmlns:a="http://schemas.openxmlformats.org/drawingml/2006/main">
            <a:pPr>
              <a:defRPr sz="3300" b="1">
                <a:solidFill>
                  <a:srgbClr val="183D33"/>
                </a:solidFill>
                <a:latin typeface="Arial"/>
                <a:ea typeface="Arial"/>
                <a:cs typeface="Arial"/>
              </a:defRPr>
            </a:pPr>
            <a:r>
              <a:rPr sz="3300" b="1">
                <a:solidFill>
                  <a:srgbClr val="183D33"/>
                </a:solidFill>
                <a:latin typeface="Arial"/>
                <a:ea typeface="Arial"/>
                <a:cs typeface="Arial"/>
              </a:rPr>
              <a:t>Delivery scope and next steps</a:t>
            </a:r>
          </a:p>
        </p:txBody>
      </p:sp>
      <p:sp>
        <p:nvSpPr>
          <p:cNvPr id="2" name="The local classroom demonstration has documen">
            <a:extLst xmlns:a="http://schemas.openxmlformats.org/drawingml/2006/main">
              <a:ext uri="{FF2B5EF4-FFF2-40B4-BE49-F238E27FC236}">
                <a16:creationId xmlns:a16="http://schemas.microsoft.com/office/drawing/2014/main" id="{6EB03052-99E7-4F57-9F34-F8A8B5D690C7}"/>
              </a:ext>
            </a:extLst>
          </p:cNvPr>
          <p:cNvSpPr>
            <a:spLocks xmlns:a="http://schemas.openxmlformats.org/drawingml/2006/main" noGrp="1"/>
          </p:cNvSpPr>
          <p:nvPr/>
        </p:nvSpPr>
        <p:spPr>
          <a:xfrm xmlns:a="http://schemas.openxmlformats.org/drawingml/2006/main">
            <a:off x="62865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3665C"/>
                </a:solidFill>
                <a:latin typeface="Arial"/>
                <a:ea typeface="Arial"/>
                <a:cs typeface="Arial"/>
              </a:defRPr>
            </a:defPPr>
            <a:lvl1pPr>
              <a:defRPr sz="1800" b="0">
                <a:solidFill>
                  <a:srgbClr val="53665C"/>
                </a:solidFill>
                <a:latin typeface="Arial"/>
                <a:ea typeface="Arial"/>
                <a:cs typeface="Arial"/>
              </a:defRPr>
            </a:lvl1pPr>
            <a:lvl2pPr>
              <a:defRPr sz="1800" b="0">
                <a:solidFill>
                  <a:srgbClr val="53665C"/>
                </a:solidFill>
                <a:latin typeface="Arial"/>
                <a:ea typeface="Arial"/>
                <a:cs typeface="Arial"/>
              </a:defRPr>
            </a:lvl2pPr>
            <a:lvl3pPr>
              <a:defRPr sz="1800" b="0">
                <a:solidFill>
                  <a:srgbClr val="53665C"/>
                </a:solidFill>
                <a:latin typeface="Arial"/>
                <a:ea typeface="Arial"/>
                <a:cs typeface="Arial"/>
              </a:defRPr>
            </a:lvl3pPr>
            <a:lvl4pPr>
              <a:defRPr sz="1800" b="0">
                <a:solidFill>
                  <a:srgbClr val="53665C"/>
                </a:solidFill>
                <a:latin typeface="Arial"/>
                <a:ea typeface="Arial"/>
                <a:cs typeface="Arial"/>
              </a:defRPr>
            </a:lvl4pPr>
            <a:lvl5pPr>
              <a:defRPr sz="1800" b="0">
                <a:solidFill>
                  <a:srgbClr val="53665C"/>
                </a:solidFill>
                <a:latin typeface="Arial"/>
                <a:ea typeface="Arial"/>
                <a:cs typeface="Arial"/>
              </a:defRPr>
            </a:lvl5pPr>
            <a:lvl6pPr>
              <a:defRPr sz="1800" b="0">
                <a:solidFill>
                  <a:srgbClr val="53665C"/>
                </a:solidFill>
                <a:latin typeface="Arial"/>
                <a:ea typeface="Arial"/>
                <a:cs typeface="Arial"/>
              </a:defRPr>
            </a:lvl6pPr>
            <a:lvl7pPr>
              <a:defRPr sz="1800" b="0">
                <a:solidFill>
                  <a:srgbClr val="53665C"/>
                </a:solidFill>
                <a:latin typeface="Arial"/>
                <a:ea typeface="Arial"/>
                <a:cs typeface="Arial"/>
              </a:defRPr>
            </a:lvl7pPr>
            <a:lvl8pPr>
              <a:defRPr sz="1800" b="0">
                <a:solidFill>
                  <a:srgbClr val="53665C"/>
                </a:solidFill>
                <a:latin typeface="Arial"/>
                <a:ea typeface="Arial"/>
                <a:cs typeface="Arial"/>
              </a:defRPr>
            </a:lvl8pPr>
            <a:lvl9pPr>
              <a:defRPr sz="1800" b="0">
                <a:solidFill>
                  <a:srgbClr val="53665C"/>
                </a:solidFill>
                <a:latin typeface="Arial"/>
                <a:ea typeface="Arial"/>
                <a:cs typeface="Arial"/>
              </a:defRPr>
            </a:lvl9pPr>
          </a:lstStyle>
          <a:p xmlns:a="http://schemas.openxmlformats.org/drawingml/2006/main">
            <a:pPr>
              <a:defRPr sz="1800" b="0">
                <a:solidFill>
                  <a:srgbClr val="53665C"/>
                </a:solidFill>
                <a:latin typeface="Arial"/>
                <a:ea typeface="Arial"/>
                <a:cs typeface="Arial"/>
              </a:defRPr>
            </a:pPr>
            <a:r>
              <a:rPr sz="1800" b="0">
                <a:solidFill>
                  <a:srgbClr val="53665C"/>
                </a:solidFill>
                <a:latin typeface="Arial"/>
                <a:ea typeface="Arial"/>
                <a:cs typeface="Arial"/>
              </a:rPr>
              <a:t>The local classroom demonstration has documented production limits</a:t>
            </a:r>
          </a:p>
        </p:txBody>
      </p:sp>
      <p:sp>
        <p:nvSpPr>
          <p:cNvPr id="3" name="CampusCrate">
            <a:extLst xmlns:a="http://schemas.openxmlformats.org/drawingml/2006/main">
              <a:ext uri="{FF2B5EF4-FFF2-40B4-BE49-F238E27FC236}">
                <a16:creationId xmlns:a16="http://schemas.microsoft.com/office/drawing/2014/main" id="{601999D6-2FE5-407A-89BB-A0250A8EC6F4}"/>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CampusCrate</a:t>
            </a:r>
          </a:p>
        </p:txBody>
      </p:sp>
      <p:sp>
        <p:nvSpPr>
          <p:cNvPr id="4" name="15">
            <a:extLst xmlns:a="http://schemas.openxmlformats.org/drawingml/2006/main">
              <a:ext uri="{FF2B5EF4-FFF2-40B4-BE49-F238E27FC236}">
                <a16:creationId xmlns:a16="http://schemas.microsoft.com/office/drawing/2014/main" id="{6E00C14D-3EA5-4AA5-B382-922C5393B77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3665C"/>
                </a:solidFill>
                <a:latin typeface="Arial"/>
                <a:ea typeface="Arial"/>
                <a:cs typeface="Arial"/>
              </a:defRPr>
            </a:defPPr>
            <a:lvl1pPr>
              <a:defRPr sz="1200" b="0">
                <a:solidFill>
                  <a:srgbClr val="53665C"/>
                </a:solidFill>
                <a:latin typeface="Arial"/>
                <a:ea typeface="Arial"/>
                <a:cs typeface="Arial"/>
              </a:defRPr>
            </a:lvl1pPr>
            <a:lvl2pPr>
              <a:defRPr sz="1200" b="0">
                <a:solidFill>
                  <a:srgbClr val="53665C"/>
                </a:solidFill>
                <a:latin typeface="Arial"/>
                <a:ea typeface="Arial"/>
                <a:cs typeface="Arial"/>
              </a:defRPr>
            </a:lvl2pPr>
            <a:lvl3pPr>
              <a:defRPr sz="1200" b="0">
                <a:solidFill>
                  <a:srgbClr val="53665C"/>
                </a:solidFill>
                <a:latin typeface="Arial"/>
                <a:ea typeface="Arial"/>
                <a:cs typeface="Arial"/>
              </a:defRPr>
            </a:lvl3pPr>
            <a:lvl4pPr>
              <a:defRPr sz="1200" b="0">
                <a:solidFill>
                  <a:srgbClr val="53665C"/>
                </a:solidFill>
                <a:latin typeface="Arial"/>
                <a:ea typeface="Arial"/>
                <a:cs typeface="Arial"/>
              </a:defRPr>
            </a:lvl4pPr>
            <a:lvl5pPr>
              <a:defRPr sz="1200" b="0">
                <a:solidFill>
                  <a:srgbClr val="53665C"/>
                </a:solidFill>
                <a:latin typeface="Arial"/>
                <a:ea typeface="Arial"/>
                <a:cs typeface="Arial"/>
              </a:defRPr>
            </a:lvl5pPr>
            <a:lvl6pPr>
              <a:defRPr sz="1200" b="0">
                <a:solidFill>
                  <a:srgbClr val="53665C"/>
                </a:solidFill>
                <a:latin typeface="Arial"/>
                <a:ea typeface="Arial"/>
                <a:cs typeface="Arial"/>
              </a:defRPr>
            </a:lvl6pPr>
            <a:lvl7pPr>
              <a:defRPr sz="1200" b="0">
                <a:solidFill>
                  <a:srgbClr val="53665C"/>
                </a:solidFill>
                <a:latin typeface="Arial"/>
                <a:ea typeface="Arial"/>
                <a:cs typeface="Arial"/>
              </a:defRPr>
            </a:lvl7pPr>
            <a:lvl8pPr>
              <a:defRPr sz="1200" b="0">
                <a:solidFill>
                  <a:srgbClr val="53665C"/>
                </a:solidFill>
                <a:latin typeface="Arial"/>
                <a:ea typeface="Arial"/>
                <a:cs typeface="Arial"/>
              </a:defRPr>
            </a:lvl8pPr>
            <a:lvl9pPr>
              <a:defRPr sz="1200" b="0">
                <a:solidFill>
                  <a:srgbClr val="53665C"/>
                </a:solidFill>
                <a:latin typeface="Arial"/>
                <a:ea typeface="Arial"/>
                <a:cs typeface="Arial"/>
              </a:defRPr>
            </a:lvl9pPr>
          </a:lstStyle>
          <a:p xmlns:a="http://schemas.openxmlformats.org/drawingml/2006/main">
            <a:pPr>
              <a:defRPr sz="1200" b="0">
                <a:solidFill>
                  <a:srgbClr val="53665C"/>
                </a:solidFill>
                <a:latin typeface="Arial"/>
                <a:ea typeface="Arial"/>
                <a:cs typeface="Arial"/>
              </a:defRPr>
            </a:pPr>
            <a:r>
              <a:rPr sz="1200" b="0">
                <a:solidFill>
                  <a:srgbClr val="53665C"/>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E5660603-2676-40E3-8830-58820BBA5CB4}"/>
              </a:ext>
            </a:extLst>
          </p:cNvPr>
          <p:cNvGraphicFramePr/>
          <p:nvPr/>
        </p:nvGraphicFramePr>
        <p:xfrm>
          <a:off xmlns:a="http://schemas.openxmlformats.org/drawingml/2006/main" x="609600" y="1924050"/>
          <a:ext xmlns:a="http://schemas.openxmlformats.org/drawingml/2006/main" cx="10972800" cy="3238500"/>
        </p:xfrm>
        <a:graphic xmlns:a="http://schemas.openxmlformats.org/drawingml/2006/main">
          <a:graphicData uri="http://schemas.openxmlformats.org/drawingml/2006/table">
            <a:tbl>
              <a:tblPr/>
              <a:tblGrid>
                <a:gridCol w="5476875"/>
                <a:gridCol w="5495925"/>
              </a:tblGrid>
              <a:tr h="647700">
                <a:tc>
                  <a:txBody>
                    <a:bodyPr/>
                    <a:lstStyle/>
                    <a:p>
                      <a:r>
                        <a:rPr sz="1800" b="1">
                          <a:solidFill>
                            <a:srgbClr val="FFFFFF"/>
                          </a:solidFill>
                          <a:latin typeface="Arial"/>
                          <a:ea typeface="Arial"/>
                          <a:cs typeface="Arial"/>
                        </a:rPr>
                        <a:t>Demonstrated</a:t>
                      </a:r>
                    </a:p>
                  </a:txBody>
                  <a:tcPr marL="91440" marR="91440" marT="45720" marB="45720">
                    <a:lnL w="9525">
                      <a:solidFill>
                        <a:srgbClr val="D6DFD3"/>
                      </a:solidFill>
                      <a:prstDash val="solid"/>
                    </a:lnL>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c>
                  <a:txBody>
                    <a:bodyPr/>
                    <a:lstStyle/>
                    <a:p>
                      <a:r>
                        <a:rPr sz="1800" b="1">
                          <a:solidFill>
                            <a:srgbClr val="FFFFFF"/>
                          </a:solidFill>
                          <a:latin typeface="Arial"/>
                          <a:ea typeface="Arial"/>
                          <a:cs typeface="Arial"/>
                        </a:rPr>
                        <a:t>Further work</a:t>
                      </a:r>
                    </a:p>
                  </a:txBody>
                  <a:tcPr marL="91440" marR="91440" marT="45720" marB="45720">
                    <a:lnR w="9525">
                      <a:solidFill>
                        <a:srgbClr val="D6DFD3"/>
                      </a:solidFill>
                      <a:prstDash val="solid"/>
                    </a:lnR>
                    <a:lnT w="9525">
                      <a:solidFill>
                        <a:srgbClr val="D6DFD3"/>
                      </a:solidFill>
                      <a:prstDash val="solid"/>
                    </a:lnT>
                    <a:lnB w="9525">
                      <a:solidFill>
                        <a:srgbClr val="D6DFD3"/>
                      </a:solidFill>
                      <a:prstDash val="solid"/>
                    </a:lnB>
                    <a:solidFill>
                      <a:srgbClr val="183D33"/>
                    </a:solidFill>
                  </a:tcPr>
                </a:tc>
              </a:tr>
              <a:tr h="647700">
                <a:tc>
                  <a:txBody>
                    <a:bodyPr/>
                    <a:lstStyle/>
                    <a:p>
                      <a:r>
                        <a:rPr sz="1800" b="0">
                          <a:solidFill>
                            <a:srgbClr val="183D33"/>
                          </a:solidFill>
                          <a:latin typeface="Arial"/>
                          <a:ea typeface="Arial"/>
                          <a:cs typeface="Arial"/>
                        </a:rPr>
                        <a:t>Application, tests and local deployment</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Add login, authorization and public TLS</a:t>
                      </a:r>
                    </a:p>
                  </a:txBody>
                  <a:tcPr marL="91440" marR="91440" marT="45720" marB="45720">
                    <a:lnR w="9525">
                      <a:solidFill>
                        <a:srgbClr val="D6DFD3"/>
                      </a:solidFill>
                      <a:prstDash val="solid"/>
                    </a:lnR>
                    <a:lnB w="9525">
                      <a:solidFill>
                        <a:srgbClr val="D6DFD3"/>
                      </a:solidFill>
                      <a:prstDash val="solid"/>
                    </a:lnB>
                    <a:solidFill>
                      <a:srgbClr val="FFFFFF"/>
                    </a:solidFill>
                  </a:tcPr>
                </a:tc>
              </a:tr>
              <a:tr h="647700">
                <a:tc>
                  <a:txBody>
                    <a:bodyPr/>
                    <a:lstStyle/>
                    <a:p>
                      <a:r>
                        <a:rPr sz="1800" b="0">
                          <a:solidFill>
                            <a:srgbClr val="183D33"/>
                          </a:solidFill>
                          <a:latin typeface="Arial"/>
                          <a:ea typeface="Arial"/>
                          <a:cs typeface="Arial"/>
                        </a:rPr>
                        <a:t>CI scans and SHA-tagged images</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800" b="0">
                          <a:solidFill>
                            <a:srgbClr val="183D33"/>
                          </a:solidFill>
                          <a:latin typeface="Arial"/>
                          <a:ea typeface="Arial"/>
                          <a:cs typeface="Arial"/>
                        </a:rPr>
                        <a:t>Add production secrets and backups</a:t>
                      </a:r>
                    </a:p>
                  </a:txBody>
                  <a:tcPr marL="91440" marR="91440" marT="45720" marB="45720">
                    <a:lnR w="9525">
                      <a:solidFill>
                        <a:srgbClr val="D6DFD3"/>
                      </a:solidFill>
                      <a:prstDash val="solid"/>
                    </a:lnR>
                    <a:lnB w="9525">
                      <a:solidFill>
                        <a:srgbClr val="D6DFD3"/>
                      </a:solidFill>
                      <a:prstDash val="solid"/>
                    </a:lnB>
                    <a:solidFill>
                      <a:srgbClr val="EAF0E2"/>
                    </a:solidFill>
                  </a:tcPr>
                </a:tc>
              </a:tr>
              <a:tr h="647700">
                <a:tc>
                  <a:txBody>
                    <a:bodyPr/>
                    <a:lstStyle/>
                    <a:p>
                      <a:r>
                        <a:rPr sz="1800" b="0">
                          <a:solidFill>
                            <a:srgbClr val="183D33"/>
                          </a:solidFill>
                          <a:latin typeface="Arial"/>
                          <a:ea typeface="Arial"/>
                          <a:cs typeface="Arial"/>
                        </a:rPr>
                        <a:t>Metrics, dashboard and HPA event</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FFFFFF"/>
                    </a:solidFill>
                  </a:tcPr>
                </a:tc>
                <a:tc>
                  <a:txBody>
                    <a:bodyPr/>
                    <a:lstStyle/>
                    <a:p>
                      <a:r>
                        <a:rPr sz="1800" b="0">
                          <a:solidFill>
                            <a:srgbClr val="183D33"/>
                          </a:solidFill>
                          <a:latin typeface="Arial"/>
                          <a:ea typeface="Arial"/>
                          <a:cs typeface="Arial"/>
                        </a:rPr>
                        <a:t>Persist monitoring data and tune capacity</a:t>
                      </a:r>
                    </a:p>
                  </a:txBody>
                  <a:tcPr marL="91440" marR="91440" marT="45720" marB="45720">
                    <a:lnR w="9525">
                      <a:solidFill>
                        <a:srgbClr val="D6DFD3"/>
                      </a:solidFill>
                      <a:prstDash val="solid"/>
                    </a:lnR>
                    <a:lnB w="9525">
                      <a:solidFill>
                        <a:srgbClr val="D6DFD3"/>
                      </a:solidFill>
                      <a:prstDash val="solid"/>
                    </a:lnB>
                    <a:solidFill>
                      <a:srgbClr val="FFFFFF"/>
                    </a:solidFill>
                  </a:tcPr>
                </a:tc>
              </a:tr>
              <a:tr h="647700">
                <a:tc>
                  <a:txBody>
                    <a:bodyPr/>
                    <a:lstStyle/>
                    <a:p>
                      <a:r>
                        <a:rPr sz="1800" b="0">
                          <a:solidFill>
                            <a:srgbClr val="183D33"/>
                          </a:solidFill>
                          <a:latin typeface="Arial"/>
                          <a:ea typeface="Arial"/>
                          <a:cs typeface="Arial"/>
                        </a:rPr>
                        <a:t>Terraform validation and mock tests</a:t>
                      </a:r>
                    </a:p>
                  </a:txBody>
                  <a:tcPr marL="91440" marR="91440" marT="45720" marB="45720">
                    <a:lnL w="9525">
                      <a:solidFill>
                        <a:srgbClr val="D6DFD3"/>
                      </a:solidFill>
                      <a:prstDash val="solid"/>
                    </a:lnL>
                    <a:lnR w="9525">
                      <a:solidFill>
                        <a:srgbClr val="D6DFD3"/>
                      </a:solidFill>
                      <a:prstDash val="solid"/>
                    </a:lnR>
                    <a:lnB w="9525">
                      <a:solidFill>
                        <a:srgbClr val="D6DFD3"/>
                      </a:solidFill>
                      <a:prstDash val="solid"/>
                    </a:lnB>
                    <a:solidFill>
                      <a:srgbClr val="EAF0E2"/>
                    </a:solidFill>
                  </a:tcPr>
                </a:tc>
                <a:tc>
                  <a:txBody>
                    <a:bodyPr/>
                    <a:lstStyle/>
                    <a:p>
                      <a:r>
                        <a:rPr sz="1800" b="0">
                          <a:solidFill>
                            <a:srgbClr val="183D33"/>
                          </a:solidFill>
                          <a:latin typeface="Arial"/>
                          <a:ea typeface="Arial"/>
                          <a:cs typeface="Arial"/>
                        </a:rPr>
                        <a:t>Provision, verify and destroy real AWS resources</a:t>
                      </a:r>
                    </a:p>
                  </a:txBody>
                  <a:tcPr marL="91440" marR="91440" marT="45720" marB="45720">
                    <a:lnR w="9525">
                      <a:solidFill>
                        <a:srgbClr val="D6DFD3"/>
                      </a:solidFill>
                      <a:prstDash val="solid"/>
                    </a:lnR>
                    <a:lnB w="9525">
                      <a:solidFill>
                        <a:srgbClr val="D6DFD3"/>
                      </a:solidFill>
                      <a:prstDash val="solid"/>
                    </a:lnB>
                    <a:solidFill>
                      <a:srgbClr val="EAF0E2"/>
                    </a:solidFill>
                  </a:tcPr>
                </a:tc>
              </a:tr>
            </a:tbl>
          </a:graphicData>
        </a:graphic>
      </p:graphicFrame>
      <p:sp>
        <p:nvSpPr>
          <p:cNvPr id="6" name="Video recording remains pending.">
            <a:extLst xmlns:a="http://schemas.openxmlformats.org/drawingml/2006/main">
              <a:ext uri="{FF2B5EF4-FFF2-40B4-BE49-F238E27FC236}">
                <a16:creationId xmlns:a16="http://schemas.microsoft.com/office/drawing/2014/main" id="{37E1EC1A-1AB3-4B8C-92FB-0F47A30702D8}"/>
              </a:ext>
            </a:extLst>
          </p:cNvPr>
          <p:cNvSpPr>
            <a:spLocks xmlns:a="http://schemas.openxmlformats.org/drawingml/2006/main" noGrp="1"/>
          </p:cNvSpPr>
          <p:nvPr/>
        </p:nvSpPr>
        <p:spPr>
          <a:xfrm xmlns:a="http://schemas.openxmlformats.org/drawingml/2006/main">
            <a:off x="628650" y="57531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28624B"/>
                </a:solidFill>
                <a:latin typeface="Arial"/>
                <a:ea typeface="Arial"/>
                <a:cs typeface="Arial"/>
              </a:defRPr>
            </a:defPPr>
            <a:lvl1pPr>
              <a:defRPr sz="2100" b="1">
                <a:solidFill>
                  <a:srgbClr val="28624B"/>
                </a:solidFill>
                <a:latin typeface="Arial"/>
                <a:ea typeface="Arial"/>
                <a:cs typeface="Arial"/>
              </a:defRPr>
            </a:lvl1pPr>
            <a:lvl2pPr>
              <a:defRPr sz="2100" b="1">
                <a:solidFill>
                  <a:srgbClr val="28624B"/>
                </a:solidFill>
                <a:latin typeface="Arial"/>
                <a:ea typeface="Arial"/>
                <a:cs typeface="Arial"/>
              </a:defRPr>
            </a:lvl2pPr>
            <a:lvl3pPr>
              <a:defRPr sz="2100" b="1">
                <a:solidFill>
                  <a:srgbClr val="28624B"/>
                </a:solidFill>
                <a:latin typeface="Arial"/>
                <a:ea typeface="Arial"/>
                <a:cs typeface="Arial"/>
              </a:defRPr>
            </a:lvl3pPr>
            <a:lvl4pPr>
              <a:defRPr sz="2100" b="1">
                <a:solidFill>
                  <a:srgbClr val="28624B"/>
                </a:solidFill>
                <a:latin typeface="Arial"/>
                <a:ea typeface="Arial"/>
                <a:cs typeface="Arial"/>
              </a:defRPr>
            </a:lvl4pPr>
            <a:lvl5pPr>
              <a:defRPr sz="2100" b="1">
                <a:solidFill>
                  <a:srgbClr val="28624B"/>
                </a:solidFill>
                <a:latin typeface="Arial"/>
                <a:ea typeface="Arial"/>
                <a:cs typeface="Arial"/>
              </a:defRPr>
            </a:lvl5pPr>
            <a:lvl6pPr>
              <a:defRPr sz="2100" b="1">
                <a:solidFill>
                  <a:srgbClr val="28624B"/>
                </a:solidFill>
                <a:latin typeface="Arial"/>
                <a:ea typeface="Arial"/>
                <a:cs typeface="Arial"/>
              </a:defRPr>
            </a:lvl6pPr>
            <a:lvl7pPr>
              <a:defRPr sz="2100" b="1">
                <a:solidFill>
                  <a:srgbClr val="28624B"/>
                </a:solidFill>
                <a:latin typeface="Arial"/>
                <a:ea typeface="Arial"/>
                <a:cs typeface="Arial"/>
              </a:defRPr>
            </a:lvl7pPr>
            <a:lvl8pPr>
              <a:defRPr sz="2100" b="1">
                <a:solidFill>
                  <a:srgbClr val="28624B"/>
                </a:solidFill>
                <a:latin typeface="Arial"/>
                <a:ea typeface="Arial"/>
                <a:cs typeface="Arial"/>
              </a:defRPr>
            </a:lvl8pPr>
            <a:lvl9pPr>
              <a:defRPr sz="2100" b="1">
                <a:solidFill>
                  <a:srgbClr val="28624B"/>
                </a:solidFill>
                <a:latin typeface="Arial"/>
                <a:ea typeface="Arial"/>
                <a:cs typeface="Arial"/>
              </a:defRPr>
            </a:lvl9pPr>
          </a:lstStyle>
          <a:p xmlns:a="http://schemas.openxmlformats.org/drawingml/2006/main">
            <a:pPr>
              <a:defRPr sz="2100" b="1">
                <a:solidFill>
                  <a:srgbClr val="28624B"/>
                </a:solidFill>
                <a:latin typeface="Arial"/>
                <a:ea typeface="Arial"/>
                <a:cs typeface="Arial"/>
              </a:defRPr>
            </a:pPr>
            <a:r>
              <a:rPr sz="2100" b="1">
                <a:solidFill>
                  <a:srgbClr val="28624B"/>
                </a:solidFill>
                <a:latin typeface="Arial"/>
                <a:ea typeface="Arial"/>
                <a:cs typeface="Arial"/>
              </a:rPr>
              <a:t>Video recording remains pending.</a:t>
            </a:r>
          </a:p>
        </p:txBody>
      </p:sp>
    </p:spTree>
    <p:extLst>
      <p:ext uri="{BB962C8B-B14F-4D97-AF65-F5344CB8AC3E}">
        <p14:creationId xmlns:p14="http://schemas.microsoft.com/office/powerpoint/2010/main" val="429334410"/>
      </p:ext>
    </p:extLst>
  </p:cSld>
</p:sld>
</file>

<file path=ppt/slides/slide16.xml><?xml version="1.0" encoding="utf-8"?>
<p:sld xmlns:p="http://schemas.openxmlformats.org/presentationml/2006/main">
  <p:cSld>
    <p:bg>
      <p:bgPr>
        <a:solidFill xmlns:a="http://schemas.openxmlformats.org/drawingml/2006/main">
          <a:srgbClr val="17382F"/>
        </a:solidFill>
      </p:bgPr>
    </p:bg>
    <p:spTree>
      <p:nvGrpSpPr>
        <p:cNvPr id="1" name=""/>
        <p:cNvGrpSpPr/>
        <p:nvPr/>
      </p:nvGrpSpPr>
      <p:grpSpPr>
        <a:xfrm xmlns:a="http://schemas.openxmlformats.org/drawingml/2006/main"/>
      </p:grpSpPr>
      <p:sp>
        <p:nvSpPr>
          <p:cNvPr id="6" name="CampusCrate">
            <a:extLst xmlns:a="http://schemas.openxmlformats.org/drawingml/2006/main">
              <a:ext uri="{FF2B5EF4-FFF2-40B4-BE49-F238E27FC236}">
                <a16:creationId xmlns:a16="http://schemas.microsoft.com/office/drawing/2014/main" id="{BE7A7EFB-1333-42EC-8E8A-A09808E47263}"/>
              </a:ext>
            </a:extLst>
          </p:cNvPr>
          <p:cNvSpPr>
            <a:spLocks xmlns:a="http://schemas.openxmlformats.org/drawingml/2006/main" noGrp="1"/>
          </p:cNvSpPr>
          <p:nvPr/>
        </p:nvSpPr>
        <p:spPr>
          <a:xfrm xmlns:a="http://schemas.openxmlformats.org/drawingml/2006/main">
            <a:off x="609600" y="1333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6000" b="1">
                <a:solidFill>
                  <a:srgbClr val="FFFFFF"/>
                </a:solidFill>
                <a:latin typeface="Arial"/>
                <a:ea typeface="Arial"/>
                <a:cs typeface="Arial"/>
              </a:defRPr>
            </a:defPPr>
            <a:lvl1pPr>
              <a:defRPr sz="6000" b="1">
                <a:solidFill>
                  <a:srgbClr val="FFFFFF"/>
                </a:solidFill>
                <a:latin typeface="Arial"/>
                <a:ea typeface="Arial"/>
                <a:cs typeface="Arial"/>
              </a:defRPr>
            </a:lvl1pPr>
            <a:lvl2pPr>
              <a:defRPr sz="6000" b="1">
                <a:solidFill>
                  <a:srgbClr val="FFFFFF"/>
                </a:solidFill>
                <a:latin typeface="Arial"/>
                <a:ea typeface="Arial"/>
                <a:cs typeface="Arial"/>
              </a:defRPr>
            </a:lvl2pPr>
            <a:lvl3pPr>
              <a:defRPr sz="6000" b="1">
                <a:solidFill>
                  <a:srgbClr val="FFFFFF"/>
                </a:solidFill>
                <a:latin typeface="Arial"/>
                <a:ea typeface="Arial"/>
                <a:cs typeface="Arial"/>
              </a:defRPr>
            </a:lvl3pPr>
            <a:lvl4pPr>
              <a:defRPr sz="6000" b="1">
                <a:solidFill>
                  <a:srgbClr val="FFFFFF"/>
                </a:solidFill>
                <a:latin typeface="Arial"/>
                <a:ea typeface="Arial"/>
                <a:cs typeface="Arial"/>
              </a:defRPr>
            </a:lvl4pPr>
            <a:lvl5pPr>
              <a:defRPr sz="6000" b="1">
                <a:solidFill>
                  <a:srgbClr val="FFFFFF"/>
                </a:solidFill>
                <a:latin typeface="Arial"/>
                <a:ea typeface="Arial"/>
                <a:cs typeface="Arial"/>
              </a:defRPr>
            </a:lvl5pPr>
            <a:lvl6pPr>
              <a:defRPr sz="6000" b="1">
                <a:solidFill>
                  <a:srgbClr val="FFFFFF"/>
                </a:solidFill>
                <a:latin typeface="Arial"/>
                <a:ea typeface="Arial"/>
                <a:cs typeface="Arial"/>
              </a:defRPr>
            </a:lvl6pPr>
            <a:lvl7pPr>
              <a:defRPr sz="6000" b="1">
                <a:solidFill>
                  <a:srgbClr val="FFFFFF"/>
                </a:solidFill>
                <a:latin typeface="Arial"/>
                <a:ea typeface="Arial"/>
                <a:cs typeface="Arial"/>
              </a:defRPr>
            </a:lvl7pPr>
            <a:lvl8pPr>
              <a:defRPr sz="6000" b="1">
                <a:solidFill>
                  <a:srgbClr val="FFFFFF"/>
                </a:solidFill>
                <a:latin typeface="Arial"/>
                <a:ea typeface="Arial"/>
                <a:cs typeface="Arial"/>
              </a:defRPr>
            </a:lvl8pPr>
            <a:lvl9pPr>
              <a:defRPr sz="6000" b="1">
                <a:solidFill>
                  <a:srgbClr val="FFFFFF"/>
                </a:solidFill>
                <a:latin typeface="Arial"/>
                <a:ea typeface="Arial"/>
                <a:cs typeface="Arial"/>
              </a:defRPr>
            </a:lvl9pPr>
          </a:lstStyle>
          <a:p xmlns:a="http://schemas.openxmlformats.org/drawingml/2006/main">
            <a:pPr>
              <a:defRPr sz="6000" b="1">
                <a:solidFill>
                  <a:srgbClr val="FFFFFF"/>
                </a:solidFill>
                <a:latin typeface="Arial"/>
                <a:ea typeface="Arial"/>
                <a:cs typeface="Arial"/>
              </a:defRPr>
            </a:pPr>
            <a:r>
              <a:rPr sz="6000" b="1">
                <a:solidFill>
                  <a:srgbClr val="FFFFFF"/>
                </a:solidFill>
                <a:latin typeface="Arial"/>
                <a:ea typeface="Arial"/>
                <a:cs typeface="Arial"/>
              </a:rPr>
              <a:t>CampusCrate</a:t>
            </a:r>
          </a:p>
        </p:txBody>
      </p:sp>
      <p:sp>
        <p:nvSpPr>
          <p:cNvPr id="2" name="Source code and demonstration evidence">
            <a:extLst xmlns:a="http://schemas.openxmlformats.org/drawingml/2006/main">
              <a:ext uri="{FF2B5EF4-FFF2-40B4-BE49-F238E27FC236}">
                <a16:creationId xmlns:a16="http://schemas.microsoft.com/office/drawing/2014/main" id="{04E7408B-5399-4BA2-B190-F2BB983FE238}"/>
              </a:ext>
            </a:extLst>
          </p:cNvPr>
          <p:cNvSpPr>
            <a:spLocks xmlns:a="http://schemas.openxmlformats.org/drawingml/2006/main" noGrp="1"/>
          </p:cNvSpPr>
          <p:nvPr/>
        </p:nvSpPr>
        <p:spPr>
          <a:xfrm xmlns:a="http://schemas.openxmlformats.org/drawingml/2006/main">
            <a:off x="647700" y="2686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0">
                <a:solidFill>
                  <a:srgbClr val="DCEAA9"/>
                </a:solidFill>
                <a:latin typeface="Arial"/>
                <a:ea typeface="Arial"/>
                <a:cs typeface="Arial"/>
              </a:defRPr>
            </a:defPPr>
            <a:lvl1pPr>
              <a:defRPr sz="2625" b="0">
                <a:solidFill>
                  <a:srgbClr val="DCEAA9"/>
                </a:solidFill>
                <a:latin typeface="Arial"/>
                <a:ea typeface="Arial"/>
                <a:cs typeface="Arial"/>
              </a:defRPr>
            </a:lvl1pPr>
            <a:lvl2pPr>
              <a:defRPr sz="2625" b="0">
                <a:solidFill>
                  <a:srgbClr val="DCEAA9"/>
                </a:solidFill>
                <a:latin typeface="Arial"/>
                <a:ea typeface="Arial"/>
                <a:cs typeface="Arial"/>
              </a:defRPr>
            </a:lvl2pPr>
            <a:lvl3pPr>
              <a:defRPr sz="2625" b="0">
                <a:solidFill>
                  <a:srgbClr val="DCEAA9"/>
                </a:solidFill>
                <a:latin typeface="Arial"/>
                <a:ea typeface="Arial"/>
                <a:cs typeface="Arial"/>
              </a:defRPr>
            </a:lvl3pPr>
            <a:lvl4pPr>
              <a:defRPr sz="2625" b="0">
                <a:solidFill>
                  <a:srgbClr val="DCEAA9"/>
                </a:solidFill>
                <a:latin typeface="Arial"/>
                <a:ea typeface="Arial"/>
                <a:cs typeface="Arial"/>
              </a:defRPr>
            </a:lvl4pPr>
            <a:lvl5pPr>
              <a:defRPr sz="2625" b="0">
                <a:solidFill>
                  <a:srgbClr val="DCEAA9"/>
                </a:solidFill>
                <a:latin typeface="Arial"/>
                <a:ea typeface="Arial"/>
                <a:cs typeface="Arial"/>
              </a:defRPr>
            </a:lvl5pPr>
            <a:lvl6pPr>
              <a:defRPr sz="2625" b="0">
                <a:solidFill>
                  <a:srgbClr val="DCEAA9"/>
                </a:solidFill>
                <a:latin typeface="Arial"/>
                <a:ea typeface="Arial"/>
                <a:cs typeface="Arial"/>
              </a:defRPr>
            </a:lvl6pPr>
            <a:lvl7pPr>
              <a:defRPr sz="2625" b="0">
                <a:solidFill>
                  <a:srgbClr val="DCEAA9"/>
                </a:solidFill>
                <a:latin typeface="Arial"/>
                <a:ea typeface="Arial"/>
                <a:cs typeface="Arial"/>
              </a:defRPr>
            </a:lvl7pPr>
            <a:lvl8pPr>
              <a:defRPr sz="2625" b="0">
                <a:solidFill>
                  <a:srgbClr val="DCEAA9"/>
                </a:solidFill>
                <a:latin typeface="Arial"/>
                <a:ea typeface="Arial"/>
                <a:cs typeface="Arial"/>
              </a:defRPr>
            </a:lvl8pPr>
            <a:lvl9pPr>
              <a:defRPr sz="2625" b="0">
                <a:solidFill>
                  <a:srgbClr val="DCEAA9"/>
                </a:solidFill>
                <a:latin typeface="Arial"/>
                <a:ea typeface="Arial"/>
                <a:cs typeface="Arial"/>
              </a:defRPr>
            </a:lvl9pPr>
          </a:lstStyle>
          <a:p xmlns:a="http://schemas.openxmlformats.org/drawingml/2006/main">
            <a:pPr>
              <a:defRPr sz="2625" b="0">
                <a:solidFill>
                  <a:srgbClr val="DCEAA9"/>
                </a:solidFill>
                <a:latin typeface="Arial"/>
                <a:ea typeface="Arial"/>
                <a:cs typeface="Arial"/>
              </a:defRPr>
            </a:pPr>
            <a:r>
              <a:rPr sz="2625" b="0">
                <a:solidFill>
                  <a:srgbClr val="DCEAA9"/>
                </a:solidFill>
                <a:latin typeface="Arial"/>
                <a:ea typeface="Arial"/>
                <a:cs typeface="Arial"/>
              </a:rPr>
              <a:t>Source code and demonstration evidence</a:t>
            </a:r>
          </a:p>
        </p:txBody>
      </p:sp>
      <p:sp>
        <p:nvSpPr>
          <p:cNvPr id="3" name="github.com/praneethb7/CampusCrate">
            <a:extLst xmlns:a="http://schemas.openxmlformats.org/drawingml/2006/main">
              <a:ext uri="{FF2B5EF4-FFF2-40B4-BE49-F238E27FC236}">
                <a16:creationId xmlns:a16="http://schemas.microsoft.com/office/drawing/2014/main" id="{E430D439-EA45-4581-BBA9-A39DEC67ED6E}"/>
              </a:ext>
            </a:extLst>
          </p:cNvPr>
          <p:cNvSpPr>
            <a:spLocks xmlns:a="http://schemas.openxmlformats.org/drawingml/2006/main" noGrp="1"/>
          </p:cNvSpPr>
          <p:nvPr/>
        </p:nvSpPr>
        <p:spPr>
          <a:xfrm xmlns:a="http://schemas.openxmlformats.org/drawingml/2006/main">
            <a:off x="647700" y="36957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1">
                <a:solidFill>
                  <a:srgbClr val="FFFFFF"/>
                </a:solidFill>
                <a:latin typeface="Arial"/>
                <a:ea typeface="Arial"/>
                <a:cs typeface="Arial"/>
              </a:defRPr>
            </a:defPPr>
            <a:lvl1pPr>
              <a:defRPr sz="2625" b="1">
                <a:solidFill>
                  <a:srgbClr val="FFFFFF"/>
                </a:solidFill>
                <a:latin typeface="Arial"/>
                <a:ea typeface="Arial"/>
                <a:cs typeface="Arial"/>
              </a:defRPr>
            </a:lvl1pPr>
            <a:lvl2pPr>
              <a:defRPr sz="2625" b="1">
                <a:solidFill>
                  <a:srgbClr val="FFFFFF"/>
                </a:solidFill>
                <a:latin typeface="Arial"/>
                <a:ea typeface="Arial"/>
                <a:cs typeface="Arial"/>
              </a:defRPr>
            </a:lvl2pPr>
            <a:lvl3pPr>
              <a:defRPr sz="2625" b="1">
                <a:solidFill>
                  <a:srgbClr val="FFFFFF"/>
                </a:solidFill>
                <a:latin typeface="Arial"/>
                <a:ea typeface="Arial"/>
                <a:cs typeface="Arial"/>
              </a:defRPr>
            </a:lvl3pPr>
            <a:lvl4pPr>
              <a:defRPr sz="2625" b="1">
                <a:solidFill>
                  <a:srgbClr val="FFFFFF"/>
                </a:solidFill>
                <a:latin typeface="Arial"/>
                <a:ea typeface="Arial"/>
                <a:cs typeface="Arial"/>
              </a:defRPr>
            </a:lvl4pPr>
            <a:lvl5pPr>
              <a:defRPr sz="2625" b="1">
                <a:solidFill>
                  <a:srgbClr val="FFFFFF"/>
                </a:solidFill>
                <a:latin typeface="Arial"/>
                <a:ea typeface="Arial"/>
                <a:cs typeface="Arial"/>
              </a:defRPr>
            </a:lvl5pPr>
            <a:lvl6pPr>
              <a:defRPr sz="2625" b="1">
                <a:solidFill>
                  <a:srgbClr val="FFFFFF"/>
                </a:solidFill>
                <a:latin typeface="Arial"/>
                <a:ea typeface="Arial"/>
                <a:cs typeface="Arial"/>
              </a:defRPr>
            </a:lvl6pPr>
            <a:lvl7pPr>
              <a:defRPr sz="2625" b="1">
                <a:solidFill>
                  <a:srgbClr val="FFFFFF"/>
                </a:solidFill>
                <a:latin typeface="Arial"/>
                <a:ea typeface="Arial"/>
                <a:cs typeface="Arial"/>
              </a:defRPr>
            </a:lvl7pPr>
            <a:lvl8pPr>
              <a:defRPr sz="2625" b="1">
                <a:solidFill>
                  <a:srgbClr val="FFFFFF"/>
                </a:solidFill>
                <a:latin typeface="Arial"/>
                <a:ea typeface="Arial"/>
                <a:cs typeface="Arial"/>
              </a:defRPr>
            </a:lvl8pPr>
            <a:lvl9pPr>
              <a:defRPr sz="2625" b="1">
                <a:solidFill>
                  <a:srgbClr val="FFFFFF"/>
                </a:solidFill>
                <a:latin typeface="Arial"/>
                <a:ea typeface="Arial"/>
                <a:cs typeface="Arial"/>
              </a:defRPr>
            </a:lvl9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github.com/praneethb7/CampusCrate</a:t>
            </a:r>
          </a:p>
        </p:txBody>
      </p:sp>
      <p:sp>
        <p:nvSpPr>
          <p:cNvPr id="4" name="Praneeth Budati">
            <a:extLst xmlns:a="http://schemas.openxmlformats.org/drawingml/2006/main">
              <a:ext uri="{FF2B5EF4-FFF2-40B4-BE49-F238E27FC236}">
                <a16:creationId xmlns:a16="http://schemas.microsoft.com/office/drawing/2014/main" id="{41A78C6D-17C5-49DD-8670-034BAA44A2F2}"/>
              </a:ext>
            </a:extLst>
          </p:cNvPr>
          <p:cNvSpPr>
            <a:spLocks xmlns:a="http://schemas.openxmlformats.org/drawingml/2006/main" noGrp="1"/>
          </p:cNvSpPr>
          <p:nvPr/>
        </p:nvSpPr>
        <p:spPr>
          <a:xfrm xmlns:a="http://schemas.openxmlformats.org/drawingml/2006/main">
            <a:off x="647700" y="5238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Praneeth Budati</a:t>
            </a:r>
          </a:p>
        </p:txBody>
      </p:sp>
      <p:sp>
        <p:nvSpPr>
          <p:cNvPr id="5" name="Questions">
            <a:extLst xmlns:a="http://schemas.openxmlformats.org/drawingml/2006/main">
              <a:ext uri="{FF2B5EF4-FFF2-40B4-BE49-F238E27FC236}">
                <a16:creationId xmlns:a16="http://schemas.microsoft.com/office/drawing/2014/main" id="{57AABA79-ECB6-433D-A978-D340DA0F550F}"/>
              </a:ext>
            </a:extLst>
          </p:cNvPr>
          <p:cNvSpPr>
            <a:spLocks xmlns:a="http://schemas.openxmlformats.org/drawingml/2006/main" noGrp="1"/>
          </p:cNvSpPr>
          <p:nvPr/>
        </p:nvSpPr>
        <p:spPr>
          <a:xfrm xmlns:a="http://schemas.openxmlformats.org/drawingml/2006/main">
            <a:off x="647700" y="58293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DCEAA9"/>
                </a:solidFill>
                <a:latin typeface="Arial"/>
                <a:ea typeface="Arial"/>
                <a:cs typeface="Arial"/>
              </a:defRPr>
            </a:defPPr>
            <a:lvl1pPr>
              <a:defRPr sz="1875" b="0">
                <a:solidFill>
                  <a:srgbClr val="DCEAA9"/>
                </a:solidFill>
                <a:latin typeface="Arial"/>
                <a:ea typeface="Arial"/>
                <a:cs typeface="Arial"/>
              </a:defRPr>
            </a:lvl1pPr>
            <a:lvl2pPr>
              <a:defRPr sz="1875" b="0">
                <a:solidFill>
                  <a:srgbClr val="DCEAA9"/>
                </a:solidFill>
                <a:latin typeface="Arial"/>
                <a:ea typeface="Arial"/>
                <a:cs typeface="Arial"/>
              </a:defRPr>
            </a:lvl2pPr>
            <a:lvl3pPr>
              <a:defRPr sz="1875" b="0">
                <a:solidFill>
                  <a:srgbClr val="DCEAA9"/>
                </a:solidFill>
                <a:latin typeface="Arial"/>
                <a:ea typeface="Arial"/>
                <a:cs typeface="Arial"/>
              </a:defRPr>
            </a:lvl3pPr>
            <a:lvl4pPr>
              <a:defRPr sz="1875" b="0">
                <a:solidFill>
                  <a:srgbClr val="DCEAA9"/>
                </a:solidFill>
                <a:latin typeface="Arial"/>
                <a:ea typeface="Arial"/>
                <a:cs typeface="Arial"/>
              </a:defRPr>
            </a:lvl4pPr>
            <a:lvl5pPr>
              <a:defRPr sz="1875" b="0">
                <a:solidFill>
                  <a:srgbClr val="DCEAA9"/>
                </a:solidFill>
                <a:latin typeface="Arial"/>
                <a:ea typeface="Arial"/>
                <a:cs typeface="Arial"/>
              </a:defRPr>
            </a:lvl5pPr>
            <a:lvl6pPr>
              <a:defRPr sz="1875" b="0">
                <a:solidFill>
                  <a:srgbClr val="DCEAA9"/>
                </a:solidFill>
                <a:latin typeface="Arial"/>
                <a:ea typeface="Arial"/>
                <a:cs typeface="Arial"/>
              </a:defRPr>
            </a:lvl6pPr>
            <a:lvl7pPr>
              <a:defRPr sz="1875" b="0">
                <a:solidFill>
                  <a:srgbClr val="DCEAA9"/>
                </a:solidFill>
                <a:latin typeface="Arial"/>
                <a:ea typeface="Arial"/>
                <a:cs typeface="Arial"/>
              </a:defRPr>
            </a:lvl7pPr>
            <a:lvl8pPr>
              <a:defRPr sz="1875" b="0">
                <a:solidFill>
                  <a:srgbClr val="DCEAA9"/>
                </a:solidFill>
                <a:latin typeface="Arial"/>
                <a:ea typeface="Arial"/>
                <a:cs typeface="Arial"/>
              </a:defRPr>
            </a:lvl8pPr>
            <a:lvl9pPr>
              <a:defRPr sz="1875" b="0">
                <a:solidFill>
                  <a:srgbClr val="DCEAA9"/>
                </a:solidFill>
                <a:latin typeface="Arial"/>
                <a:ea typeface="Arial"/>
                <a:cs typeface="Arial"/>
              </a:defRPr>
            </a:lvl9pPr>
          </a:lstStyle>
          <a:p xmlns:a="http://schemas.openxmlformats.org/drawingml/2006/main">
            <a:pPr>
              <a:defRPr sz="1875" b="0">
                <a:solidFill>
                  <a:srgbClr val="DCEAA9"/>
                </a:solidFill>
                <a:latin typeface="Arial"/>
                <a:ea typeface="Arial"/>
                <a:cs typeface="Arial"/>
              </a:defRPr>
            </a:pPr>
            <a:r>
              <a:rPr sz="1875" b="0">
                <a:solidFill>
                  <a:srgbClr val="DCEAA9"/>
                </a:solidFill>
                <a:latin typeface="Arial"/>
                <a:ea typeface="Arial"/>
                <a:cs typeface="Arial"/>
              </a:rPr>
              <a:t>Questions</a:t>
            </a:r>
          </a:p>
        </p:txBody>
      </p:sp>
    </p:spTree>
    <p:extLst>
      <p:ext uri="{BB962C8B-B14F-4D97-AF65-F5344CB8AC3E}">
        <p14:creationId xmlns:p14="http://schemas.microsoft.com/office/powerpoint/2010/main" val="376586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Widescreen</ap:PresentationFormat>
  <ap:Slides>16</ap:Slides>
  <ap:Notes>16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praneethb7</dc:creator>
  <lastModifiedBy>praneethb7</lastModifiedBy>
  <dc:title>CampusCrate - DevOps Final Capstone</dc:title>
  <dcterms:created xsi:type="dcterms:W3CDTF">2026-10-26T11:13:14.2530000Z</dcterms:created>
  <dcterms:modified xsi:type="dcterms:W3CDTF">2026-10-26T11:13:14.2530000Z</dcterms:modified>
</coreProperties>
</file>